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84" r:id="rId3"/>
    <p:sldId id="493" r:id="rId4"/>
    <p:sldId id="504" r:id="rId5"/>
    <p:sldId id="507" r:id="rId6"/>
    <p:sldId id="510" r:id="rId7"/>
    <p:sldId id="432" r:id="rId8"/>
    <p:sldId id="511" r:id="rId9"/>
    <p:sldId id="512" r:id="rId10"/>
    <p:sldId id="513" r:id="rId11"/>
    <p:sldId id="51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E0491-9F51-4A24-B5FB-D8A1117D3F98}" v="15" dt="2026-09-29T18:09:33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88486" autoAdjust="0"/>
  </p:normalViewPr>
  <p:slideViewPr>
    <p:cSldViewPr snapToGrid="0">
      <p:cViewPr varScale="1">
        <p:scale>
          <a:sx n="148" d="100"/>
          <a:sy n="148" d="100"/>
        </p:scale>
        <p:origin x="78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Blincow" userId="ac6229071bdafc06" providerId="LiveId" clId="{9CE18A4C-68C3-4E97-A0CD-BEA78CB9776D}"/>
    <pc:docChg chg="undo custSel addSld delSld modSld">
      <pc:chgData name="Kayla Blincow" userId="ac6229071bdafc06" providerId="LiveId" clId="{9CE18A4C-68C3-4E97-A0CD-BEA78CB9776D}" dt="2026-09-29T19:17:57.319" v="172" actId="20577"/>
      <pc:docMkLst>
        <pc:docMk/>
      </pc:docMkLst>
      <pc:sldChg chg="modSp mod">
        <pc:chgData name="Kayla Blincow" userId="ac6229071bdafc06" providerId="LiveId" clId="{9CE18A4C-68C3-4E97-A0CD-BEA78CB9776D}" dt="2026-09-29T16:36:45.978" v="1" actId="20577"/>
        <pc:sldMkLst>
          <pc:docMk/>
          <pc:sldMk cId="2948685846" sldId="256"/>
        </pc:sldMkLst>
        <pc:spChg chg="mod">
          <ac:chgData name="Kayla Blincow" userId="ac6229071bdafc06" providerId="LiveId" clId="{9CE18A4C-68C3-4E97-A0CD-BEA78CB9776D}" dt="2026-09-29T16:36:45.978" v="1" actId="20577"/>
          <ac:spMkLst>
            <pc:docMk/>
            <pc:sldMk cId="2948685846" sldId="256"/>
            <ac:spMk id="2" creationId="{D24B8A19-FA22-C682-4310-EEAA4459904E}"/>
          </ac:spMkLst>
        </pc:spChg>
      </pc:sldChg>
      <pc:sldChg chg="modSp mod">
        <pc:chgData name="Kayla Blincow" userId="ac6229071bdafc06" providerId="LiveId" clId="{9CE18A4C-68C3-4E97-A0CD-BEA78CB9776D}" dt="2026-09-29T19:17:57.319" v="172" actId="20577"/>
        <pc:sldMkLst>
          <pc:docMk/>
          <pc:sldMk cId="949666939" sldId="284"/>
        </pc:sldMkLst>
        <pc:spChg chg="mod">
          <ac:chgData name="Kayla Blincow" userId="ac6229071bdafc06" providerId="LiveId" clId="{9CE18A4C-68C3-4E97-A0CD-BEA78CB9776D}" dt="2026-09-29T19:17:57.319" v="172" actId="20577"/>
          <ac:spMkLst>
            <pc:docMk/>
            <pc:sldMk cId="949666939" sldId="284"/>
            <ac:spMk id="3" creationId="{5EC916F8-2617-0B7F-D699-7AE508E9AD38}"/>
          </ac:spMkLst>
        </pc:spChg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519074755" sldId="321"/>
        </pc:sldMkLst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3702585584" sldId="471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3349387565" sldId="483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1190348558" sldId="484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159792034" sldId="485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183029782" sldId="486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1911913029" sldId="487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4168901517" sldId="488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2422133378" sldId="489"/>
        </pc:sldMkLst>
      </pc:sldChg>
      <pc:sldChg chg="del">
        <pc:chgData name="Kayla Blincow" userId="ac6229071bdafc06" providerId="LiveId" clId="{9CE18A4C-68C3-4E97-A0CD-BEA78CB9776D}" dt="2026-09-29T16:37:12.262" v="3" actId="47"/>
        <pc:sldMkLst>
          <pc:docMk/>
          <pc:sldMk cId="770405375" sldId="490"/>
        </pc:sldMkLst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1297031723" sldId="491"/>
        </pc:sldMkLst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1934146720" sldId="492"/>
        </pc:sldMkLst>
      </pc:sldChg>
      <pc:sldChg chg="modSp add mod">
        <pc:chgData name="Kayla Blincow" userId="ac6229071bdafc06" providerId="LiveId" clId="{9CE18A4C-68C3-4E97-A0CD-BEA78CB9776D}" dt="2026-09-29T16:38:06.520" v="6" actId="27636"/>
        <pc:sldMkLst>
          <pc:docMk/>
          <pc:sldMk cId="778961214" sldId="493"/>
        </pc:sldMkLst>
        <pc:spChg chg="mod">
          <ac:chgData name="Kayla Blincow" userId="ac6229071bdafc06" providerId="LiveId" clId="{9CE18A4C-68C3-4E97-A0CD-BEA78CB9776D}" dt="2026-09-29T16:38:06.520" v="6" actId="27636"/>
          <ac:spMkLst>
            <pc:docMk/>
            <pc:sldMk cId="778961214" sldId="493"/>
            <ac:spMk id="3" creationId="{68A3D442-CE32-C3D7-7D05-D6E71BAD39B6}"/>
          </ac:spMkLst>
        </pc:spChg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1890347092" sldId="494"/>
        </pc:sldMkLst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3239444602" sldId="497"/>
        </pc:sldMkLst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470379678" sldId="500"/>
        </pc:sldMkLst>
      </pc:sldChg>
      <pc:sldChg chg="add modAnim">
        <pc:chgData name="Kayla Blincow" userId="ac6229071bdafc06" providerId="LiveId" clId="{9CE18A4C-68C3-4E97-A0CD-BEA78CB9776D}" dt="2026-09-29T16:41:01.994" v="9"/>
        <pc:sldMkLst>
          <pc:docMk/>
          <pc:sldMk cId="527634590" sldId="504"/>
        </pc:sldMkLst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1190782618" sldId="507"/>
        </pc:sldMkLst>
      </pc:sldChg>
      <pc:sldChg chg="add modAnim">
        <pc:chgData name="Kayla Blincow" userId="ac6229071bdafc06" providerId="LiveId" clId="{9CE18A4C-68C3-4E97-A0CD-BEA78CB9776D}" dt="2026-09-29T16:41:11.391" v="10"/>
        <pc:sldMkLst>
          <pc:docMk/>
          <pc:sldMk cId="2631572507" sldId="507"/>
        </pc:sldMkLst>
      </pc:sldChg>
      <pc:sldChg chg="del">
        <pc:chgData name="Kayla Blincow" userId="ac6229071bdafc06" providerId="LiveId" clId="{9CE18A4C-68C3-4E97-A0CD-BEA78CB9776D}" dt="2026-09-29T16:37:33.460" v="4" actId="2696"/>
        <pc:sldMkLst>
          <pc:docMk/>
          <pc:sldMk cId="2779059537" sldId="509"/>
        </pc:sldMkLst>
      </pc:sldChg>
      <pc:sldChg chg="add">
        <pc:chgData name="Kayla Blincow" userId="ac6229071bdafc06" providerId="LiveId" clId="{9CE18A4C-68C3-4E97-A0CD-BEA78CB9776D}" dt="2026-09-29T16:41:34.694" v="11"/>
        <pc:sldMkLst>
          <pc:docMk/>
          <pc:sldMk cId="2217292611" sldId="510"/>
        </pc:sldMkLst>
      </pc:sldChg>
      <pc:sldChg chg="addSp delSp modSp new mod setBg">
        <pc:chgData name="Kayla Blincow" userId="ac6229071bdafc06" providerId="LiveId" clId="{9CE18A4C-68C3-4E97-A0CD-BEA78CB9776D}" dt="2026-09-29T18:04:55.426" v="76" actId="1582"/>
        <pc:sldMkLst>
          <pc:docMk/>
          <pc:sldMk cId="964817506" sldId="511"/>
        </pc:sldMkLst>
        <pc:spChg chg="mod">
          <ac:chgData name="Kayla Blincow" userId="ac6229071bdafc06" providerId="LiveId" clId="{9CE18A4C-68C3-4E97-A0CD-BEA78CB9776D}" dt="2026-09-29T18:02:53.807" v="43" actId="1076"/>
          <ac:spMkLst>
            <pc:docMk/>
            <pc:sldMk cId="964817506" sldId="511"/>
            <ac:spMk id="2" creationId="{CFFB2D07-6104-6223-6D73-A5EA400900D0}"/>
          </ac:spMkLst>
        </pc:spChg>
        <pc:spChg chg="del mod">
          <ac:chgData name="Kayla Blincow" userId="ac6229071bdafc06" providerId="LiveId" clId="{9CE18A4C-68C3-4E97-A0CD-BEA78CB9776D}" dt="2026-09-29T18:02:51.248" v="42" actId="478"/>
          <ac:spMkLst>
            <pc:docMk/>
            <pc:sldMk cId="964817506" sldId="511"/>
            <ac:spMk id="3" creationId="{E93F345B-9158-2AC8-4A8D-983F56F7C3A1}"/>
          </ac:spMkLst>
        </pc:spChg>
        <pc:spChg chg="add del">
          <ac:chgData name="Kayla Blincow" userId="ac6229071bdafc06" providerId="LiveId" clId="{9CE18A4C-68C3-4E97-A0CD-BEA78CB9776D}" dt="2026-09-29T18:02:41.809" v="38" actId="26606"/>
          <ac:spMkLst>
            <pc:docMk/>
            <pc:sldMk cId="964817506" sldId="511"/>
            <ac:spMk id="10" creationId="{2B97F24A-32CE-4C1C-A50D-3016B394DCFB}"/>
          </ac:spMkLst>
        </pc:spChg>
        <pc:spChg chg="add del">
          <ac:chgData name="Kayla Blincow" userId="ac6229071bdafc06" providerId="LiveId" clId="{9CE18A4C-68C3-4E97-A0CD-BEA78CB9776D}" dt="2026-09-29T18:02:41.809" v="38" actId="26606"/>
          <ac:spMkLst>
            <pc:docMk/>
            <pc:sldMk cId="964817506" sldId="511"/>
            <ac:spMk id="12" creationId="{CD8B4F24-440B-49E9-B85D-733523DC064B}"/>
          </ac:spMkLst>
        </pc:spChg>
        <pc:picChg chg="add mod">
          <ac:chgData name="Kayla Blincow" userId="ac6229071bdafc06" providerId="LiveId" clId="{9CE18A4C-68C3-4E97-A0CD-BEA78CB9776D}" dt="2026-09-29T18:02:55.952" v="44" actId="1076"/>
          <ac:picMkLst>
            <pc:docMk/>
            <pc:sldMk cId="964817506" sldId="511"/>
            <ac:picMk id="5" creationId="{3A9216ED-5561-C71F-9D00-2FE1D0B52A32}"/>
          </ac:picMkLst>
        </pc:pic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7" creationId="{21E56180-9D25-DC5D-9D3F-47D63C6AE8C3}"/>
          </ac:cxnSpMkLst>
        </pc:cxn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8" creationId="{C2A2AA1B-35B7-DA34-9520-CB7A1B852B75}"/>
          </ac:cxnSpMkLst>
        </pc:cxn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11" creationId="{62999AFD-8107-73FF-7ECA-1BB9807DBE6E}"/>
          </ac:cxnSpMkLst>
        </pc:cxn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15" creationId="{5BB389B2-C77E-A4D8-9A9F-8117AFB7686E}"/>
          </ac:cxnSpMkLst>
        </pc:cxn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19" creationId="{CC3EBF20-79A2-C96B-E906-BD3469C36A2F}"/>
          </ac:cxnSpMkLst>
        </pc:cxn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23" creationId="{EA4A83F4-E4B2-4F44-02C7-7C6C1FCF3DFF}"/>
          </ac:cxnSpMkLst>
        </pc:cxn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25" creationId="{208219BE-1480-AEA0-B74D-4D4CDA74CFB0}"/>
          </ac:cxnSpMkLst>
        </pc:cxnChg>
        <pc:cxnChg chg="add mod">
          <ac:chgData name="Kayla Blincow" userId="ac6229071bdafc06" providerId="LiveId" clId="{9CE18A4C-68C3-4E97-A0CD-BEA78CB9776D}" dt="2026-09-29T18:04:55.426" v="76" actId="1582"/>
          <ac:cxnSpMkLst>
            <pc:docMk/>
            <pc:sldMk cId="964817506" sldId="511"/>
            <ac:cxnSpMk id="27" creationId="{B5119D66-CD4F-FCBD-EEB4-F77E7FC3A56E}"/>
          </ac:cxnSpMkLst>
        </pc:cxnChg>
      </pc:sldChg>
      <pc:sldChg chg="addSp new mod">
        <pc:chgData name="Kayla Blincow" userId="ac6229071bdafc06" providerId="LiveId" clId="{9CE18A4C-68C3-4E97-A0CD-BEA78CB9776D}" dt="2026-09-29T18:05:55.111" v="78" actId="22"/>
        <pc:sldMkLst>
          <pc:docMk/>
          <pc:sldMk cId="794520293" sldId="512"/>
        </pc:sldMkLst>
        <pc:picChg chg="add">
          <ac:chgData name="Kayla Blincow" userId="ac6229071bdafc06" providerId="LiveId" clId="{9CE18A4C-68C3-4E97-A0CD-BEA78CB9776D}" dt="2026-09-29T18:05:55.111" v="78" actId="22"/>
          <ac:picMkLst>
            <pc:docMk/>
            <pc:sldMk cId="794520293" sldId="512"/>
            <ac:picMk id="5" creationId="{17D2BE4D-31D0-E4F7-16DF-A1583EF83072}"/>
          </ac:picMkLst>
        </pc:picChg>
      </pc:sldChg>
      <pc:sldChg chg="addSp delSp add mod">
        <pc:chgData name="Kayla Blincow" userId="ac6229071bdafc06" providerId="LiveId" clId="{9CE18A4C-68C3-4E97-A0CD-BEA78CB9776D}" dt="2026-09-29T18:07:01.974" v="81" actId="22"/>
        <pc:sldMkLst>
          <pc:docMk/>
          <pc:sldMk cId="3927114866" sldId="513"/>
        </pc:sldMkLst>
        <pc:picChg chg="del">
          <ac:chgData name="Kayla Blincow" userId="ac6229071bdafc06" providerId="LiveId" clId="{9CE18A4C-68C3-4E97-A0CD-BEA78CB9776D}" dt="2026-09-29T18:06:07.281" v="80" actId="478"/>
          <ac:picMkLst>
            <pc:docMk/>
            <pc:sldMk cId="3927114866" sldId="513"/>
            <ac:picMk id="5" creationId="{2ECB0DBB-8141-381B-DF0B-58DB0E221FAA}"/>
          </ac:picMkLst>
        </pc:picChg>
        <pc:picChg chg="add">
          <ac:chgData name="Kayla Blincow" userId="ac6229071bdafc06" providerId="LiveId" clId="{9CE18A4C-68C3-4E97-A0CD-BEA78CB9776D}" dt="2026-09-29T18:07:01.974" v="81" actId="22"/>
          <ac:picMkLst>
            <pc:docMk/>
            <pc:sldMk cId="3927114866" sldId="513"/>
            <ac:picMk id="6" creationId="{0C24D177-5928-F893-9AB9-FD426D357C58}"/>
          </ac:picMkLst>
        </pc:picChg>
      </pc:sldChg>
      <pc:sldChg chg="modSp new mod modNotesTx">
        <pc:chgData name="Kayla Blincow" userId="ac6229071bdafc06" providerId="LiveId" clId="{9CE18A4C-68C3-4E97-A0CD-BEA78CB9776D}" dt="2026-09-29T18:09:33.400" v="131"/>
        <pc:sldMkLst>
          <pc:docMk/>
          <pc:sldMk cId="817473852" sldId="514"/>
        </pc:sldMkLst>
        <pc:spChg chg="mod">
          <ac:chgData name="Kayla Blincow" userId="ac6229071bdafc06" providerId="LiveId" clId="{9CE18A4C-68C3-4E97-A0CD-BEA78CB9776D}" dt="2026-09-29T18:07:12.927" v="91" actId="20577"/>
          <ac:spMkLst>
            <pc:docMk/>
            <pc:sldMk cId="817473852" sldId="514"/>
            <ac:spMk id="2" creationId="{4B7B6B96-8F52-C7EE-2AEB-1AC6A0A0978A}"/>
          </ac:spMkLst>
        </pc:spChg>
        <pc:spChg chg="mod">
          <ac:chgData name="Kayla Blincow" userId="ac6229071bdafc06" providerId="LiveId" clId="{9CE18A4C-68C3-4E97-A0CD-BEA78CB9776D}" dt="2026-09-29T18:09:33.400" v="131"/>
          <ac:spMkLst>
            <pc:docMk/>
            <pc:sldMk cId="817473852" sldId="514"/>
            <ac:spMk id="3" creationId="{2F9A261A-0062-4AF4-796C-C072516872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AC65F-9207-41AE-8C53-46E5EA7B4DD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2F4B8-4792-4BBE-9010-0D4D9882B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2F4B8-4792-4BBE-9010-0D4D9882B9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47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Specifically look at </a:t>
            </a:r>
            <a:r>
              <a:rPr lang="en-US" dirty="0" err="1"/>
              <a:t>dplyr</a:t>
            </a:r>
            <a:r>
              <a:rPr lang="en-US" dirty="0"/>
              <a:t> and joins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2F4B8-4792-4BBE-9010-0D4D9882B9B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5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8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9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8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0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7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A2DA7E-11E7-48AB-82F5-7068197A42C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44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github.io/cheatsheet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A19-FA22-C682-4310-EEAA44599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630" y="1600200"/>
            <a:ext cx="5855368" cy="1801311"/>
          </a:xfrm>
        </p:spPr>
        <p:txBody>
          <a:bodyPr/>
          <a:lstStyle/>
          <a:p>
            <a:r>
              <a:rPr lang="en-US" dirty="0"/>
              <a:t>MES 503 Lab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B767E-3D5A-B7E7-2441-4EBD66E2A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0" y="3602038"/>
            <a:ext cx="5855369" cy="1655762"/>
          </a:xfrm>
        </p:spPr>
        <p:txBody>
          <a:bodyPr/>
          <a:lstStyle/>
          <a:p>
            <a:r>
              <a:rPr lang="en-US" dirty="0"/>
              <a:t>Kayla Blincow, PhD</a:t>
            </a:r>
          </a:p>
        </p:txBody>
      </p:sp>
      <p:pic>
        <p:nvPicPr>
          <p:cNvPr id="4" name="Picture 2" descr="R Memes for Statistical Fiends on Twitter: &quot;More R memes created directly  in R with @thosjleeper package &quot;memes&quot; https://t.co/R6MNt7sSzV #rstats… &quot;">
            <a:extLst>
              <a:ext uri="{FF2B5EF4-FFF2-40B4-BE49-F238E27FC236}">
                <a16:creationId xmlns:a16="http://schemas.microsoft.com/office/drawing/2014/main" id="{4E2F905E-C631-73E1-AB39-F358E6C87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43" y="1250651"/>
            <a:ext cx="3449053" cy="435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685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9A48-B850-58D5-1576-8EEEB414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16F8-2617-0B7F-D699-7AE508E9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r>
              <a:rPr lang="en-US" dirty="0"/>
              <a:t>Working on grading latest lab assignments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5DA08-0A89-1243-C600-2D30A830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632" y="253837"/>
            <a:ext cx="6407479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40D9-CED0-0A14-FDF4-E60BC19E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Theory: Land Crabs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D442-CE32-C3D7-7D05-D6E71BAD3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79" y="2136808"/>
            <a:ext cx="6179420" cy="40401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have been told by local harvesters that land crabs grow bigger depending on where they are found on the island. We want to see if this is true.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go out to three of the most used areas for capturing land crabs (West End, </a:t>
            </a:r>
            <a:r>
              <a:rPr lang="en-US" dirty="0" err="1"/>
              <a:t>Magens</a:t>
            </a:r>
            <a:r>
              <a:rPr lang="en-US" dirty="0"/>
              <a:t> Bay, Compass Point), capture 10 crabs each, and measure them.</a:t>
            </a:r>
          </a:p>
        </p:txBody>
      </p:sp>
      <p:pic>
        <p:nvPicPr>
          <p:cNvPr id="3074" name="Picture 2" descr="Look Out for Land Crabs | St. Thomas Source">
            <a:extLst>
              <a:ext uri="{FF2B5EF4-FFF2-40B4-BE49-F238E27FC236}">
                <a16:creationId xmlns:a16="http://schemas.microsoft.com/office/drawing/2014/main" id="{EC0CA3DD-9BAF-7F48-102D-82535E629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9" y="1917414"/>
            <a:ext cx="4764385" cy="425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96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40D9-CED0-0A14-FDF4-E60BC19E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Theory: Land Crabs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D442-CE32-C3D7-7D05-D6E71BAD3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79" y="2136808"/>
            <a:ext cx="6179420" cy="4040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Null Hypothesis: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Alternative Hypothesis:</a:t>
            </a:r>
          </a:p>
        </p:txBody>
      </p:sp>
      <p:pic>
        <p:nvPicPr>
          <p:cNvPr id="3074" name="Picture 2" descr="Look Out for Land Crabs | St. Thomas Source">
            <a:extLst>
              <a:ext uri="{FF2B5EF4-FFF2-40B4-BE49-F238E27FC236}">
                <a16:creationId xmlns:a16="http://schemas.microsoft.com/office/drawing/2014/main" id="{EC0CA3DD-9BAF-7F48-102D-82535E629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9" y="1917414"/>
            <a:ext cx="4764385" cy="425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878AE3-FF4B-16C0-2FE1-E2CEFF398362}"/>
              </a:ext>
            </a:extLst>
          </p:cNvPr>
          <p:cNvSpPr txBox="1"/>
          <p:nvPr/>
        </p:nvSpPr>
        <p:spPr>
          <a:xfrm>
            <a:off x="5907024" y="2798064"/>
            <a:ext cx="5065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no difference in mean size of crabs from the different capture locations.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5C628-17FC-95CF-1BD8-730F6E9C83E8}"/>
              </a:ext>
            </a:extLst>
          </p:cNvPr>
          <p:cNvSpPr txBox="1"/>
          <p:nvPr/>
        </p:nvSpPr>
        <p:spPr>
          <a:xfrm>
            <a:off x="5907024" y="4258051"/>
            <a:ext cx="5065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 difference in mean size of crabs from the different capture locations.</a:t>
            </a:r>
          </a:p>
        </p:txBody>
      </p:sp>
      <p:pic>
        <p:nvPicPr>
          <p:cNvPr id="6" name="Picture 5" descr="Oh, you like to use big words? you must be so smart - Condescending Wonka -  quickmeme">
            <a:extLst>
              <a:ext uri="{FF2B5EF4-FFF2-40B4-BE49-F238E27FC236}">
                <a16:creationId xmlns:a16="http://schemas.microsoft.com/office/drawing/2014/main" id="{842BCAF3-9F75-DE37-9365-08D961CBE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478" y="4904382"/>
            <a:ext cx="1830407" cy="183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63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40D9-CED0-0A14-FDF4-E60BC19E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Theory: Land Crabs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D442-CE32-C3D7-7D05-D6E71BAD3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79" y="2136808"/>
            <a:ext cx="6179420" cy="4040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Assumptions</a:t>
            </a:r>
          </a:p>
          <a:p>
            <a:r>
              <a:rPr lang="en-US" dirty="0"/>
              <a:t>Independent samples</a:t>
            </a:r>
          </a:p>
          <a:p>
            <a:r>
              <a:rPr lang="en-US" dirty="0"/>
              <a:t>Homoscedasticity (aka equal variance) among groups</a:t>
            </a:r>
          </a:p>
          <a:p>
            <a:r>
              <a:rPr lang="en-US" dirty="0"/>
              <a:t>Normally distributed residuals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Look Out for Land Crabs | St. Thomas Source">
            <a:extLst>
              <a:ext uri="{FF2B5EF4-FFF2-40B4-BE49-F238E27FC236}">
                <a16:creationId xmlns:a16="http://schemas.microsoft.com/office/drawing/2014/main" id="{EC0CA3DD-9BAF-7F48-102D-82535E629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9" y="1917414"/>
            <a:ext cx="4764385" cy="425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Oh, you like to use big words? you must be so smart - Condescending Wonka -  quickmeme">
            <a:extLst>
              <a:ext uri="{FF2B5EF4-FFF2-40B4-BE49-F238E27FC236}">
                <a16:creationId xmlns:a16="http://schemas.microsoft.com/office/drawing/2014/main" id="{2EC0EC15-C7D2-5492-1C9B-BD9BC07ED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486" y="4865541"/>
            <a:ext cx="1830407" cy="183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B1B908-99A3-3F13-0416-BBDC6BCDEE62}"/>
              </a:ext>
            </a:extLst>
          </p:cNvPr>
          <p:cNvSpPr txBox="1"/>
          <p:nvPr/>
        </p:nvSpPr>
        <p:spPr>
          <a:xfrm>
            <a:off x="1892808" y="6403689"/>
            <a:ext cx="7104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*Note that ANOVAs are generally robust to violations of assumptions</a:t>
            </a:r>
          </a:p>
        </p:txBody>
      </p:sp>
    </p:spTree>
    <p:extLst>
      <p:ext uri="{BB962C8B-B14F-4D97-AF65-F5344CB8AC3E}">
        <p14:creationId xmlns:p14="http://schemas.microsoft.com/office/powerpoint/2010/main" val="263157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E338D-6DC5-875A-4B3D-FE637867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Tukey’s HSD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DF51B-0A07-CA39-960D-956AB26C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55087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REMINDER: we cannot run multiple t-tests because it will inflate our Type I error rates</a:t>
            </a:r>
          </a:p>
          <a:p>
            <a:r>
              <a:rPr lang="en-US" dirty="0"/>
              <a:t>Compares all groups against each other </a:t>
            </a:r>
          </a:p>
          <a:p>
            <a:pPr lvl="1"/>
            <a:r>
              <a:rPr lang="en-US" dirty="0"/>
              <a:t>Similar to what multiple t-tests would do</a:t>
            </a:r>
          </a:p>
          <a:p>
            <a:r>
              <a:rPr lang="en-US" dirty="0"/>
              <a:t>Controls for fact that we are doing multiple comparisons by adjusting p value to maintain experiment-wise error rate (alpha; usually 0.05)</a:t>
            </a:r>
          </a:p>
          <a:p>
            <a:endParaRPr lang="en-US" dirty="0"/>
          </a:p>
        </p:txBody>
      </p:sp>
      <p:pic>
        <p:nvPicPr>
          <p:cNvPr id="4" name="Picture 3" descr="Oh, you like to use big words? you must be so smart - Condescending Wonka -  quickmeme">
            <a:extLst>
              <a:ext uri="{FF2B5EF4-FFF2-40B4-BE49-F238E27FC236}">
                <a16:creationId xmlns:a16="http://schemas.microsoft.com/office/drawing/2014/main" id="{EE2C0185-F6D4-28B1-B4E6-3679FD8DA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486" y="4865541"/>
            <a:ext cx="1830407" cy="183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29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DFCD-7702-5991-4442-3FD9F8CE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ze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84F97-1053-EF61-7EFF-6DB517AD4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44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2D07-6104-6223-6D73-A5EA4009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16" y="2698978"/>
            <a:ext cx="10515600" cy="1325563"/>
          </a:xfrm>
        </p:spPr>
        <p:txBody>
          <a:bodyPr/>
          <a:lstStyle/>
          <a:p>
            <a:r>
              <a:rPr lang="en-US" dirty="0"/>
              <a:t>R </a:t>
            </a:r>
            <a:r>
              <a:rPr lang="en-US" dirty="0" err="1"/>
              <a:t>Cheatsheets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216ED-5561-C71F-9D00-2FE1D0B52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157" y="354751"/>
            <a:ext cx="7722138" cy="601401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E56180-9D25-DC5D-9D3F-47D63C6AE8C3}"/>
              </a:ext>
            </a:extLst>
          </p:cNvPr>
          <p:cNvCxnSpPr/>
          <p:nvPr/>
        </p:nvCxnSpPr>
        <p:spPr>
          <a:xfrm>
            <a:off x="7117724" y="553792"/>
            <a:ext cx="0" cy="4456090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A2AA1B-35B7-DA34-9520-CB7A1B852B75}"/>
              </a:ext>
            </a:extLst>
          </p:cNvPr>
          <p:cNvCxnSpPr>
            <a:cxnSpLocks/>
          </p:cNvCxnSpPr>
          <p:nvPr/>
        </p:nvCxnSpPr>
        <p:spPr>
          <a:xfrm>
            <a:off x="9498169" y="553792"/>
            <a:ext cx="0" cy="2875208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999AFD-8107-73FF-7ECA-1BB9807DBE6E}"/>
              </a:ext>
            </a:extLst>
          </p:cNvPr>
          <p:cNvCxnSpPr>
            <a:cxnSpLocks/>
          </p:cNvCxnSpPr>
          <p:nvPr/>
        </p:nvCxnSpPr>
        <p:spPr>
          <a:xfrm>
            <a:off x="11324823" y="3429000"/>
            <a:ext cx="0" cy="2422301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B389B2-C77E-A4D8-9A9F-8117AFB7686E}"/>
              </a:ext>
            </a:extLst>
          </p:cNvPr>
          <p:cNvCxnSpPr>
            <a:cxnSpLocks/>
          </p:cNvCxnSpPr>
          <p:nvPr/>
        </p:nvCxnSpPr>
        <p:spPr>
          <a:xfrm>
            <a:off x="7117724" y="5012028"/>
            <a:ext cx="2331076" cy="0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3EBF20-79A2-C96B-E906-BD3469C36A2F}"/>
              </a:ext>
            </a:extLst>
          </p:cNvPr>
          <p:cNvCxnSpPr>
            <a:cxnSpLocks/>
          </p:cNvCxnSpPr>
          <p:nvPr/>
        </p:nvCxnSpPr>
        <p:spPr>
          <a:xfrm>
            <a:off x="9498169" y="3429000"/>
            <a:ext cx="1826654" cy="0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4A83F4-E4B2-4F44-02C7-7C6C1FCF3DFF}"/>
              </a:ext>
            </a:extLst>
          </p:cNvPr>
          <p:cNvCxnSpPr>
            <a:cxnSpLocks/>
          </p:cNvCxnSpPr>
          <p:nvPr/>
        </p:nvCxnSpPr>
        <p:spPr>
          <a:xfrm>
            <a:off x="9448800" y="5856667"/>
            <a:ext cx="1876023" cy="0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8219BE-1480-AEA0-B74D-4D4CDA74CFB0}"/>
              </a:ext>
            </a:extLst>
          </p:cNvPr>
          <p:cNvCxnSpPr>
            <a:cxnSpLocks/>
          </p:cNvCxnSpPr>
          <p:nvPr/>
        </p:nvCxnSpPr>
        <p:spPr>
          <a:xfrm flipV="1">
            <a:off x="9448800" y="5009882"/>
            <a:ext cx="0" cy="841419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119D66-CD4F-FCBD-EEB4-F77E7FC3A56E}"/>
              </a:ext>
            </a:extLst>
          </p:cNvPr>
          <p:cNvCxnSpPr>
            <a:cxnSpLocks/>
          </p:cNvCxnSpPr>
          <p:nvPr/>
        </p:nvCxnSpPr>
        <p:spPr>
          <a:xfrm>
            <a:off x="7117724" y="553792"/>
            <a:ext cx="2380445" cy="0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81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30CB-4E48-5A49-2D7A-5896FC022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0C484-4005-D4C9-797C-AC0A15E87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2BE4D-31D0-E4F7-16DF-A1583EF83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69" y="0"/>
            <a:ext cx="8870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20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F15B-0E8E-1DC0-7A06-13E4AA6A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B024-9004-BB4F-3092-798B2679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FC9B2-D17D-3439-829A-061473BCE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4D177-5928-F893-9AB9-FD426D357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77" y="0"/>
            <a:ext cx="8895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14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6B96-8F52-C7EE-2AEB-1AC6A0A0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more!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261A-0062-4AF4-796C-C07251687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Posit </a:t>
            </a:r>
            <a:r>
              <a:rPr lang="en-US" dirty="0" err="1">
                <a:hlinkClick r:id="rId3"/>
              </a:rPr>
              <a:t>Cheatsheets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7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1625</TotalTime>
  <Words>230</Words>
  <Application>Microsoft Office PowerPoint</Application>
  <PresentationFormat>Widescreen</PresentationFormat>
  <Paragraphs>33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MES 503 Lab 7</vt:lpstr>
      <vt:lpstr>Announcements</vt:lpstr>
      <vt:lpstr>ANOVA Theory: Land Crabs</vt:lpstr>
      <vt:lpstr>ANOVA Theory: Land Crabs</vt:lpstr>
      <vt:lpstr>ANOVA Theory: Land Crabs</vt:lpstr>
      <vt:lpstr>Tukey’s HSD</vt:lpstr>
      <vt:lpstr>Switch to ze code!</vt:lpstr>
      <vt:lpstr>R Cheatsheets</vt:lpstr>
      <vt:lpstr>PowerPoint Presentation</vt:lpstr>
      <vt:lpstr>PowerPoint Presentation</vt:lpstr>
      <vt:lpstr>And more!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Blincow</dc:creator>
  <cp:lastModifiedBy>Kayla Blincow</cp:lastModifiedBy>
  <cp:revision>4</cp:revision>
  <dcterms:created xsi:type="dcterms:W3CDTF">2026-01-08T19:59:11Z</dcterms:created>
  <dcterms:modified xsi:type="dcterms:W3CDTF">2026-09-29T19:18:00Z</dcterms:modified>
</cp:coreProperties>
</file>