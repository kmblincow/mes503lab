
<file path=[Content_Types].xml><?xml version="1.0" encoding="utf-8"?>
<Types xmlns="http://schemas.openxmlformats.org/package/2006/content-types">
  <Default Extension="jpeg" ContentType="image/jpeg"/>
  <Default Extension="m4v"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84" r:id="rId3"/>
    <p:sldId id="321" r:id="rId4"/>
    <p:sldId id="483" r:id="rId5"/>
    <p:sldId id="485" r:id="rId6"/>
    <p:sldId id="486" r:id="rId7"/>
    <p:sldId id="487" r:id="rId8"/>
    <p:sldId id="488" r:id="rId9"/>
    <p:sldId id="489" r:id="rId10"/>
    <p:sldId id="484" r:id="rId11"/>
    <p:sldId id="490" r:id="rId12"/>
    <p:sldId id="432" r:id="rId13"/>
    <p:sldId id="492" r:id="rId14"/>
    <p:sldId id="471" r:id="rId15"/>
    <p:sldId id="500" r:id="rId16"/>
    <p:sldId id="494" r:id="rId17"/>
    <p:sldId id="507" r:id="rId18"/>
    <p:sldId id="497" r:id="rId19"/>
    <p:sldId id="509" r:id="rId20"/>
    <p:sldId id="49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84E9A-D96A-437E-967A-4E9DB1BC339E}" v="19" dt="2026-09-22T19:24:51.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8486" autoAdjust="0"/>
  </p:normalViewPr>
  <p:slideViewPr>
    <p:cSldViewPr snapToGrid="0">
      <p:cViewPr varScale="1">
        <p:scale>
          <a:sx n="82" d="100"/>
          <a:sy n="82" d="100"/>
        </p:scale>
        <p:origin x="52" y="150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a Blincow" userId="ac6229071bdafc06" providerId="LiveId" clId="{9CE18A4C-68C3-4E97-A0CD-BEA78CB9776D}"/>
    <pc:docChg chg="undo custSel addSld delSld modSld sldOrd">
      <pc:chgData name="Kayla Blincow" userId="ac6229071bdafc06" providerId="LiveId" clId="{9CE18A4C-68C3-4E97-A0CD-BEA78CB9776D}" dt="2026-09-22T19:25:03.295" v="2252" actId="47"/>
      <pc:docMkLst>
        <pc:docMk/>
      </pc:docMkLst>
      <pc:sldChg chg="modSp mod">
        <pc:chgData name="Kayla Blincow" userId="ac6229071bdafc06" providerId="LiveId" clId="{9CE18A4C-68C3-4E97-A0CD-BEA78CB9776D}" dt="2026-09-22T12:53:06.145" v="1535" actId="20577"/>
        <pc:sldMkLst>
          <pc:docMk/>
          <pc:sldMk cId="2948685846" sldId="256"/>
        </pc:sldMkLst>
        <pc:spChg chg="mod">
          <ac:chgData name="Kayla Blincow" userId="ac6229071bdafc06" providerId="LiveId" clId="{9CE18A4C-68C3-4E97-A0CD-BEA78CB9776D}" dt="2026-09-22T12:53:06.145" v="1535" actId="20577"/>
          <ac:spMkLst>
            <pc:docMk/>
            <pc:sldMk cId="2948685846" sldId="256"/>
            <ac:spMk id="2" creationId="{D24B8A19-FA22-C682-4310-EEAA4459904E}"/>
          </ac:spMkLst>
        </pc:spChg>
      </pc:sldChg>
      <pc:sldChg chg="addSp delSp modSp mod">
        <pc:chgData name="Kayla Blincow" userId="ac6229071bdafc06" providerId="LiveId" clId="{9CE18A4C-68C3-4E97-A0CD-BEA78CB9776D}" dt="2026-09-22T12:53:24.918" v="1545" actId="20577"/>
        <pc:sldMkLst>
          <pc:docMk/>
          <pc:sldMk cId="949666939" sldId="284"/>
        </pc:sldMkLst>
        <pc:spChg chg="mod">
          <ac:chgData name="Kayla Blincow" userId="ac6229071bdafc06" providerId="LiveId" clId="{9CE18A4C-68C3-4E97-A0CD-BEA78CB9776D}" dt="2026-09-22T12:53:24.918" v="1545" actId="20577"/>
          <ac:spMkLst>
            <pc:docMk/>
            <pc:sldMk cId="949666939" sldId="284"/>
            <ac:spMk id="3" creationId="{5EC916F8-2617-0B7F-D699-7AE508E9AD38}"/>
          </ac:spMkLst>
        </pc:spChg>
        <pc:picChg chg="add mod">
          <ac:chgData name="Kayla Blincow" userId="ac6229071bdafc06" providerId="LiveId" clId="{9CE18A4C-68C3-4E97-A0CD-BEA78CB9776D}" dt="2026-09-01T16:41:16.755" v="824" actId="1076"/>
          <ac:picMkLst>
            <pc:docMk/>
            <pc:sldMk cId="949666939" sldId="284"/>
            <ac:picMk id="5" creationId="{6665DA08-0A89-1243-C600-2D30A830B216}"/>
          </ac:picMkLst>
        </pc:picChg>
      </pc:sldChg>
      <pc:sldChg chg="addSp modSp new del mod">
        <pc:chgData name="Kayla Blincow" userId="ac6229071bdafc06" providerId="LiveId" clId="{9CE18A4C-68C3-4E97-A0CD-BEA78CB9776D}" dt="2026-09-22T12:53:32.736" v="1549" actId="47"/>
        <pc:sldMkLst>
          <pc:docMk/>
          <pc:sldMk cId="835981373" sldId="285"/>
        </pc:sldMkLst>
      </pc:sldChg>
      <pc:sldChg chg="add ord">
        <pc:chgData name="Kayla Blincow" userId="ac6229071bdafc06" providerId="LiveId" clId="{9CE18A4C-68C3-4E97-A0CD-BEA78CB9776D}" dt="2026-09-22T12:54:03.084" v="1553"/>
        <pc:sldMkLst>
          <pc:docMk/>
          <pc:sldMk cId="519074755" sldId="321"/>
        </pc:sldMkLst>
      </pc:sldChg>
      <pc:sldChg chg="add del">
        <pc:chgData name="Kayla Blincow" userId="ac6229071bdafc06" providerId="LiveId" clId="{9CE18A4C-68C3-4E97-A0CD-BEA78CB9776D}" dt="2026-09-22T12:53:29.845" v="1547" actId="47"/>
        <pc:sldMkLst>
          <pc:docMk/>
          <pc:sldMk cId="1239777188" sldId="417"/>
        </pc:sldMkLst>
      </pc:sldChg>
      <pc:sldChg chg="add del">
        <pc:chgData name="Kayla Blincow" userId="ac6229071bdafc06" providerId="LiveId" clId="{9CE18A4C-68C3-4E97-A0CD-BEA78CB9776D}" dt="2026-09-22T12:53:30.736" v="1548" actId="47"/>
        <pc:sldMkLst>
          <pc:docMk/>
          <pc:sldMk cId="3932291470" sldId="429"/>
        </pc:sldMkLst>
      </pc:sldChg>
      <pc:sldChg chg="modSp new del mod">
        <pc:chgData name="Kayla Blincow" userId="ac6229071bdafc06" providerId="LiveId" clId="{9CE18A4C-68C3-4E97-A0CD-BEA78CB9776D}" dt="2026-09-22T12:53:28.349" v="1546" actId="47"/>
        <pc:sldMkLst>
          <pc:docMk/>
          <pc:sldMk cId="2861154553" sldId="430"/>
        </pc:sldMkLst>
      </pc:sldChg>
      <pc:sldChg chg="addSp delSp modSp new del mod">
        <pc:chgData name="Kayla Blincow" userId="ac6229071bdafc06" providerId="LiveId" clId="{9CE18A4C-68C3-4E97-A0CD-BEA78CB9776D}" dt="2026-09-22T12:53:33.716" v="1550" actId="47"/>
        <pc:sldMkLst>
          <pc:docMk/>
          <pc:sldMk cId="4127247920" sldId="431"/>
        </pc:sldMkLst>
      </pc:sldChg>
      <pc:sldChg chg="modSp new mod ord">
        <pc:chgData name="Kayla Blincow" userId="ac6229071bdafc06" providerId="LiveId" clId="{9CE18A4C-68C3-4E97-A0CD-BEA78CB9776D}" dt="2026-09-22T12:54:07.275" v="1557"/>
        <pc:sldMkLst>
          <pc:docMk/>
          <pc:sldMk cId="1034844089" sldId="432"/>
        </pc:sldMkLst>
        <pc:spChg chg="mod">
          <ac:chgData name="Kayla Blincow" userId="ac6229071bdafc06" providerId="LiveId" clId="{9CE18A4C-68C3-4E97-A0CD-BEA78CB9776D}" dt="2026-09-15T22:04:35.647" v="1533" actId="20577"/>
          <ac:spMkLst>
            <pc:docMk/>
            <pc:sldMk cId="1034844089" sldId="432"/>
            <ac:spMk id="2" creationId="{83DFDFCD-7702-5991-4442-3FD9F8CEEB60}"/>
          </ac:spMkLst>
        </pc:spChg>
      </pc:sldChg>
      <pc:sldChg chg="add">
        <pc:chgData name="Kayla Blincow" userId="ac6229071bdafc06" providerId="LiveId" clId="{9CE18A4C-68C3-4E97-A0CD-BEA78CB9776D}" dt="2026-09-22T18:05:16.118" v="2231"/>
        <pc:sldMkLst>
          <pc:docMk/>
          <pc:sldMk cId="3702585584" sldId="471"/>
        </pc:sldMkLst>
      </pc:sldChg>
      <pc:sldChg chg="add ord">
        <pc:chgData name="Kayla Blincow" userId="ac6229071bdafc06" providerId="LiveId" clId="{9CE18A4C-68C3-4E97-A0CD-BEA78CB9776D}" dt="2026-09-22T12:54:03.084" v="1553"/>
        <pc:sldMkLst>
          <pc:docMk/>
          <pc:sldMk cId="3349387565" sldId="483"/>
        </pc:sldMkLst>
      </pc:sldChg>
      <pc:sldChg chg="modSp add mod ord">
        <pc:chgData name="Kayla Blincow" userId="ac6229071bdafc06" providerId="LiveId" clId="{9CE18A4C-68C3-4E97-A0CD-BEA78CB9776D}" dt="2026-09-22T13:18:40.680" v="2153" actId="21"/>
        <pc:sldMkLst>
          <pc:docMk/>
          <pc:sldMk cId="1190348558" sldId="484"/>
        </pc:sldMkLst>
        <pc:spChg chg="mod">
          <ac:chgData name="Kayla Blincow" userId="ac6229071bdafc06" providerId="LiveId" clId="{9CE18A4C-68C3-4E97-A0CD-BEA78CB9776D}" dt="2026-09-22T13:18:40.680" v="2153" actId="21"/>
          <ac:spMkLst>
            <pc:docMk/>
            <pc:sldMk cId="1190348558" sldId="484"/>
            <ac:spMk id="3" creationId="{4BAC3EFA-7DA0-B20A-29F4-8CC11E36201D}"/>
          </ac:spMkLst>
        </pc:spChg>
      </pc:sldChg>
      <pc:sldChg chg="addSp delSp modSp new mod modNotesTx">
        <pc:chgData name="Kayla Blincow" userId="ac6229071bdafc06" providerId="LiveId" clId="{9CE18A4C-68C3-4E97-A0CD-BEA78CB9776D}" dt="2026-09-22T13:11:33.688" v="1577" actId="20577"/>
        <pc:sldMkLst>
          <pc:docMk/>
          <pc:sldMk cId="159792034" sldId="485"/>
        </pc:sldMkLst>
        <pc:spChg chg="del">
          <ac:chgData name="Kayla Blincow" userId="ac6229071bdafc06" providerId="LiveId" clId="{9CE18A4C-68C3-4E97-A0CD-BEA78CB9776D}" dt="2026-09-22T13:07:54.214" v="1567" actId="478"/>
          <ac:spMkLst>
            <pc:docMk/>
            <pc:sldMk cId="159792034" sldId="485"/>
            <ac:spMk id="2" creationId="{357EF702-06EB-9A25-DDF5-39802CD647DD}"/>
          </ac:spMkLst>
        </pc:spChg>
        <pc:spChg chg="del">
          <ac:chgData name="Kayla Blincow" userId="ac6229071bdafc06" providerId="LiveId" clId="{9CE18A4C-68C3-4E97-A0CD-BEA78CB9776D}" dt="2026-09-22T13:07:43.464" v="1560"/>
          <ac:spMkLst>
            <pc:docMk/>
            <pc:sldMk cId="159792034" sldId="485"/>
            <ac:spMk id="3" creationId="{E6A536BC-F794-81FD-C417-4A22AA0CD9C7}"/>
          </ac:spMkLst>
        </pc:spChg>
        <pc:spChg chg="add mod">
          <ac:chgData name="Kayla Blincow" userId="ac6229071bdafc06" providerId="LiveId" clId="{9CE18A4C-68C3-4E97-A0CD-BEA78CB9776D}" dt="2026-09-22T13:11:22.160" v="1575" actId="1582"/>
          <ac:spMkLst>
            <pc:docMk/>
            <pc:sldMk cId="159792034" sldId="485"/>
            <ac:spMk id="8" creationId="{9AF1205D-9B6C-31F0-9253-AAF25E3F6506}"/>
          </ac:spMkLst>
        </pc:spChg>
        <pc:picChg chg="add mod ord">
          <ac:chgData name="Kayla Blincow" userId="ac6229071bdafc06" providerId="LiveId" clId="{9CE18A4C-68C3-4E97-A0CD-BEA78CB9776D}" dt="2026-09-22T13:07:52.505" v="1566" actId="1076"/>
          <ac:picMkLst>
            <pc:docMk/>
            <pc:sldMk cId="159792034" sldId="485"/>
            <ac:picMk id="5" creationId="{691A9963-8A28-9B1F-E85D-D936B6281EDA}"/>
          </ac:picMkLst>
        </pc:picChg>
        <pc:picChg chg="add mod">
          <ac:chgData name="Kayla Blincow" userId="ac6229071bdafc06" providerId="LiveId" clId="{9CE18A4C-68C3-4E97-A0CD-BEA78CB9776D}" dt="2026-09-22T13:08:38.517" v="1571" actId="1076"/>
          <ac:picMkLst>
            <pc:docMk/>
            <pc:sldMk cId="159792034" sldId="485"/>
            <ac:picMk id="7" creationId="{1C616EFB-2DE5-C619-3683-5421ACE6B6BD}"/>
          </ac:picMkLst>
        </pc:picChg>
      </pc:sldChg>
      <pc:sldChg chg="modSp add mod modNotesTx">
        <pc:chgData name="Kayla Blincow" userId="ac6229071bdafc06" providerId="LiveId" clId="{9CE18A4C-68C3-4E97-A0CD-BEA78CB9776D}" dt="2026-09-22T13:12:15.841" v="1798" actId="20577"/>
        <pc:sldMkLst>
          <pc:docMk/>
          <pc:sldMk cId="183029782" sldId="486"/>
        </pc:sldMkLst>
        <pc:spChg chg="mod">
          <ac:chgData name="Kayla Blincow" userId="ac6229071bdafc06" providerId="LiveId" clId="{9CE18A4C-68C3-4E97-A0CD-BEA78CB9776D}" dt="2026-09-22T13:11:40.269" v="1578" actId="1076"/>
          <ac:spMkLst>
            <pc:docMk/>
            <pc:sldMk cId="183029782" sldId="486"/>
            <ac:spMk id="8" creationId="{8BBCAE1B-C965-0941-670A-EBFD1FDC9171}"/>
          </ac:spMkLst>
        </pc:spChg>
      </pc:sldChg>
      <pc:sldChg chg="addSp modSp add mod modAnim modNotesTx">
        <pc:chgData name="Kayla Blincow" userId="ac6229071bdafc06" providerId="LiveId" clId="{9CE18A4C-68C3-4E97-A0CD-BEA78CB9776D}" dt="2026-09-22T13:24:31.924" v="2195" actId="20577"/>
        <pc:sldMkLst>
          <pc:docMk/>
          <pc:sldMk cId="1911913029" sldId="487"/>
        </pc:sldMkLst>
        <pc:spChg chg="add mod">
          <ac:chgData name="Kayla Blincow" userId="ac6229071bdafc06" providerId="LiveId" clId="{9CE18A4C-68C3-4E97-A0CD-BEA78CB9776D}" dt="2026-09-22T13:13:25.537" v="1816" actId="208"/>
          <ac:spMkLst>
            <pc:docMk/>
            <pc:sldMk cId="1911913029" sldId="487"/>
            <ac:spMk id="3" creationId="{B731EF47-6EE3-BFDD-BAF5-0B83B964208B}"/>
          </ac:spMkLst>
        </pc:spChg>
        <pc:spChg chg="mod">
          <ac:chgData name="Kayla Blincow" userId="ac6229071bdafc06" providerId="LiveId" clId="{9CE18A4C-68C3-4E97-A0CD-BEA78CB9776D}" dt="2026-09-22T13:14:29.484" v="1831" actId="14100"/>
          <ac:spMkLst>
            <pc:docMk/>
            <pc:sldMk cId="1911913029" sldId="487"/>
            <ac:spMk id="8" creationId="{6E4FE196-059B-B88A-FE23-9801C074C72E}"/>
          </ac:spMkLst>
        </pc:spChg>
      </pc:sldChg>
      <pc:sldChg chg="addSp delSp modSp add mod modAnim">
        <pc:chgData name="Kayla Blincow" userId="ac6229071bdafc06" providerId="LiveId" clId="{9CE18A4C-68C3-4E97-A0CD-BEA78CB9776D}" dt="2026-09-22T13:14:37.918" v="1833" actId="22"/>
        <pc:sldMkLst>
          <pc:docMk/>
          <pc:sldMk cId="4168901517" sldId="488"/>
        </pc:sldMkLst>
        <pc:spChg chg="mod">
          <ac:chgData name="Kayla Blincow" userId="ac6229071bdafc06" providerId="LiveId" clId="{9CE18A4C-68C3-4E97-A0CD-BEA78CB9776D}" dt="2026-09-22T13:14:10.284" v="1828" actId="14100"/>
          <ac:spMkLst>
            <pc:docMk/>
            <pc:sldMk cId="4168901517" sldId="488"/>
            <ac:spMk id="3" creationId="{65CAA532-14BE-546E-5748-3BC545EDBCC7}"/>
          </ac:spMkLst>
        </pc:spChg>
        <pc:spChg chg="add">
          <ac:chgData name="Kayla Blincow" userId="ac6229071bdafc06" providerId="LiveId" clId="{9CE18A4C-68C3-4E97-A0CD-BEA78CB9776D}" dt="2026-09-22T13:14:37.918" v="1833" actId="22"/>
          <ac:spMkLst>
            <pc:docMk/>
            <pc:sldMk cId="4168901517" sldId="488"/>
            <ac:spMk id="4" creationId="{85B3FD74-C871-8983-B0CB-2620550BC8AB}"/>
          </ac:spMkLst>
        </pc:spChg>
        <pc:spChg chg="del">
          <ac:chgData name="Kayla Blincow" userId="ac6229071bdafc06" providerId="LiveId" clId="{9CE18A4C-68C3-4E97-A0CD-BEA78CB9776D}" dt="2026-09-22T13:14:37.725" v="1832" actId="478"/>
          <ac:spMkLst>
            <pc:docMk/>
            <pc:sldMk cId="4168901517" sldId="488"/>
            <ac:spMk id="8" creationId="{2AC89F98-9DC7-9E2B-248B-3C2F51F768FE}"/>
          </ac:spMkLst>
        </pc:spChg>
      </pc:sldChg>
      <pc:sldChg chg="delSp modSp add mod">
        <pc:chgData name="Kayla Blincow" userId="ac6229071bdafc06" providerId="LiveId" clId="{9CE18A4C-68C3-4E97-A0CD-BEA78CB9776D}" dt="2026-09-22T13:15:07.808" v="1884" actId="14100"/>
        <pc:sldMkLst>
          <pc:docMk/>
          <pc:sldMk cId="2422133378" sldId="489"/>
        </pc:sldMkLst>
        <pc:spChg chg="del">
          <ac:chgData name="Kayla Blincow" userId="ac6229071bdafc06" providerId="LiveId" clId="{9CE18A4C-68C3-4E97-A0CD-BEA78CB9776D}" dt="2026-09-22T13:14:48.280" v="1835" actId="478"/>
          <ac:spMkLst>
            <pc:docMk/>
            <pc:sldMk cId="2422133378" sldId="489"/>
            <ac:spMk id="3" creationId="{171A0355-24D7-E4DD-C051-EAAA0639E735}"/>
          </ac:spMkLst>
        </pc:spChg>
        <pc:spChg chg="mod">
          <ac:chgData name="Kayla Blincow" userId="ac6229071bdafc06" providerId="LiveId" clId="{9CE18A4C-68C3-4E97-A0CD-BEA78CB9776D}" dt="2026-09-22T13:15:07.808" v="1884" actId="14100"/>
          <ac:spMkLst>
            <pc:docMk/>
            <pc:sldMk cId="2422133378" sldId="489"/>
            <ac:spMk id="4" creationId="{0B3641A4-4870-2B77-6A7C-7915F7B0F13D}"/>
          </ac:spMkLst>
        </pc:spChg>
        <pc:picChg chg="mod">
          <ac:chgData name="Kayla Blincow" userId="ac6229071bdafc06" providerId="LiveId" clId="{9CE18A4C-68C3-4E97-A0CD-BEA78CB9776D}" dt="2026-09-22T13:14:57.531" v="1839" actId="1076"/>
          <ac:picMkLst>
            <pc:docMk/>
            <pc:sldMk cId="2422133378" sldId="489"/>
            <ac:picMk id="7" creationId="{6D164874-7CCE-C012-ED93-9344F5E79FB1}"/>
          </ac:picMkLst>
        </pc:picChg>
      </pc:sldChg>
      <pc:sldChg chg="addSp delSp modSp new mod">
        <pc:chgData name="Kayla Blincow" userId="ac6229071bdafc06" providerId="LiveId" clId="{9CE18A4C-68C3-4E97-A0CD-BEA78CB9776D}" dt="2026-09-22T13:19:25.954" v="2168" actId="1076"/>
        <pc:sldMkLst>
          <pc:docMk/>
          <pc:sldMk cId="770405375" sldId="490"/>
        </pc:sldMkLst>
        <pc:spChg chg="del">
          <ac:chgData name="Kayla Blincow" userId="ac6229071bdafc06" providerId="LiveId" clId="{9CE18A4C-68C3-4E97-A0CD-BEA78CB9776D}" dt="2026-09-22T13:18:55.455" v="2159" actId="478"/>
          <ac:spMkLst>
            <pc:docMk/>
            <pc:sldMk cId="770405375" sldId="490"/>
            <ac:spMk id="2" creationId="{4673F91C-0C36-D30E-0108-EC76E5D3C738}"/>
          </ac:spMkLst>
        </pc:spChg>
        <pc:spChg chg="mod">
          <ac:chgData name="Kayla Blincow" userId="ac6229071bdafc06" providerId="LiveId" clId="{9CE18A4C-68C3-4E97-A0CD-BEA78CB9776D}" dt="2026-09-22T13:19:25.954" v="2168" actId="1076"/>
          <ac:spMkLst>
            <pc:docMk/>
            <pc:sldMk cId="770405375" sldId="490"/>
            <ac:spMk id="3" creationId="{0689D690-255B-2624-3F38-3BF559DB8409}"/>
          </ac:spMkLst>
        </pc:spChg>
        <pc:picChg chg="add mod">
          <ac:chgData name="Kayla Blincow" userId="ac6229071bdafc06" providerId="LiveId" clId="{9CE18A4C-68C3-4E97-A0CD-BEA78CB9776D}" dt="2026-09-22T13:19:03.267" v="2162" actId="1076"/>
          <ac:picMkLst>
            <pc:docMk/>
            <pc:sldMk cId="770405375" sldId="490"/>
            <ac:picMk id="4" creationId="{6D6B2D13-DD43-4608-3678-BF71CB1F69EA}"/>
          </ac:picMkLst>
        </pc:picChg>
      </pc:sldChg>
      <pc:sldChg chg="addSp delSp modSp new del">
        <pc:chgData name="Kayla Blincow" userId="ac6229071bdafc06" providerId="LiveId" clId="{9CE18A4C-68C3-4E97-A0CD-BEA78CB9776D}" dt="2026-09-22T13:18:37.994" v="2151" actId="680"/>
        <pc:sldMkLst>
          <pc:docMk/>
          <pc:sldMk cId="2541857071" sldId="490"/>
        </pc:sldMkLst>
        <pc:spChg chg="add del">
          <ac:chgData name="Kayla Blincow" userId="ac6229071bdafc06" providerId="LiveId" clId="{9CE18A4C-68C3-4E97-A0CD-BEA78CB9776D}" dt="2026-09-22T13:18:36.069" v="2149"/>
          <ac:spMkLst>
            <pc:docMk/>
            <pc:sldMk cId="2541857071" sldId="490"/>
            <ac:spMk id="3" creationId="{0939DF5A-1903-3E69-0826-AC34CA149CB9}"/>
          </ac:spMkLst>
        </pc:spChg>
        <pc:picChg chg="add mod">
          <ac:chgData name="Kayla Blincow" userId="ac6229071bdafc06" providerId="LiveId" clId="{9CE18A4C-68C3-4E97-A0CD-BEA78CB9776D}" dt="2026-09-22T13:18:36.576" v="2150"/>
          <ac:picMkLst>
            <pc:docMk/>
            <pc:sldMk cId="2541857071" sldId="490"/>
            <ac:picMk id="4" creationId="{DE5094B5-220B-195E-0142-18E7BA0F9E0B}"/>
          </ac:picMkLst>
        </pc:picChg>
        <pc:picChg chg="add mod">
          <ac:chgData name="Kayla Blincow" userId="ac6229071bdafc06" providerId="LiveId" clId="{9CE18A4C-68C3-4E97-A0CD-BEA78CB9776D}" dt="2026-09-22T13:18:36.069" v="2149"/>
          <ac:picMkLst>
            <pc:docMk/>
            <pc:sldMk cId="2541857071" sldId="490"/>
            <ac:picMk id="5" creationId="{DBF46A34-2279-ACD3-E8A3-8A8351F61158}"/>
          </ac:picMkLst>
        </pc:picChg>
      </pc:sldChg>
      <pc:sldChg chg="modSp new mod">
        <pc:chgData name="Kayla Blincow" userId="ac6229071bdafc06" providerId="LiveId" clId="{9CE18A4C-68C3-4E97-A0CD-BEA78CB9776D}" dt="2026-09-22T13:25:43.008" v="2197"/>
        <pc:sldMkLst>
          <pc:docMk/>
          <pc:sldMk cId="1297031723" sldId="491"/>
        </pc:sldMkLst>
        <pc:spChg chg="mod">
          <ac:chgData name="Kayla Blincow" userId="ac6229071bdafc06" providerId="LiveId" clId="{9CE18A4C-68C3-4E97-A0CD-BEA78CB9776D}" dt="2026-09-22T13:20:17.243" v="2184" actId="20577"/>
          <ac:spMkLst>
            <pc:docMk/>
            <pc:sldMk cId="1297031723" sldId="491"/>
            <ac:spMk id="2" creationId="{E2126998-F17A-19D3-CA2A-DF213983F78F}"/>
          </ac:spMkLst>
        </pc:spChg>
        <pc:spChg chg="mod">
          <ac:chgData name="Kayla Blincow" userId="ac6229071bdafc06" providerId="LiveId" clId="{9CE18A4C-68C3-4E97-A0CD-BEA78CB9776D}" dt="2026-09-22T13:25:43.008" v="2197"/>
          <ac:spMkLst>
            <pc:docMk/>
            <pc:sldMk cId="1297031723" sldId="491"/>
            <ac:spMk id="3" creationId="{7838A903-E1C0-13CD-00FC-2FB9BCB38AC4}"/>
          </ac:spMkLst>
        </pc:spChg>
      </pc:sldChg>
      <pc:sldChg chg="delSp modSp new mod">
        <pc:chgData name="Kayla Blincow" userId="ac6229071bdafc06" providerId="LiveId" clId="{9CE18A4C-68C3-4E97-A0CD-BEA78CB9776D}" dt="2026-09-22T18:10:10.860" v="2247" actId="1076"/>
        <pc:sldMkLst>
          <pc:docMk/>
          <pc:sldMk cId="1934146720" sldId="492"/>
        </pc:sldMkLst>
        <pc:spChg chg="mod">
          <ac:chgData name="Kayla Blincow" userId="ac6229071bdafc06" providerId="LiveId" clId="{9CE18A4C-68C3-4E97-A0CD-BEA78CB9776D}" dt="2026-09-22T18:10:10.860" v="2247" actId="1076"/>
          <ac:spMkLst>
            <pc:docMk/>
            <pc:sldMk cId="1934146720" sldId="492"/>
            <ac:spMk id="2" creationId="{02528711-5B1D-3C28-EC45-06B96A1AE460}"/>
          </ac:spMkLst>
        </pc:spChg>
        <pc:spChg chg="del">
          <ac:chgData name="Kayla Blincow" userId="ac6229071bdafc06" providerId="LiveId" clId="{9CE18A4C-68C3-4E97-A0CD-BEA78CB9776D}" dt="2026-09-22T18:10:04.311" v="2245" actId="478"/>
          <ac:spMkLst>
            <pc:docMk/>
            <pc:sldMk cId="1934146720" sldId="492"/>
            <ac:spMk id="3" creationId="{49F0EF55-6EF9-2DDB-D828-3A556F0903F5}"/>
          </ac:spMkLst>
        </pc:spChg>
      </pc:sldChg>
      <pc:sldChg chg="modSp add mod">
        <pc:chgData name="Kayla Blincow" userId="ac6229071bdafc06" providerId="LiveId" clId="{9CE18A4C-68C3-4E97-A0CD-BEA78CB9776D}" dt="2026-09-22T18:05:17.545" v="2233" actId="27636"/>
        <pc:sldMkLst>
          <pc:docMk/>
          <pc:sldMk cId="1890347092" sldId="494"/>
        </pc:sldMkLst>
        <pc:spChg chg="mod">
          <ac:chgData name="Kayla Blincow" userId="ac6229071bdafc06" providerId="LiveId" clId="{9CE18A4C-68C3-4E97-A0CD-BEA78CB9776D}" dt="2026-09-22T18:05:17.545" v="2233" actId="27636"/>
          <ac:spMkLst>
            <pc:docMk/>
            <pc:sldMk cId="1890347092" sldId="494"/>
            <ac:spMk id="7" creationId="{00000000-0000-0000-0000-000000000000}"/>
          </ac:spMkLst>
        </pc:spChg>
      </pc:sldChg>
      <pc:sldChg chg="modSp add mod">
        <pc:chgData name="Kayla Blincow" userId="ac6229071bdafc06" providerId="LiveId" clId="{9CE18A4C-68C3-4E97-A0CD-BEA78CB9776D}" dt="2026-09-22T18:05:17.554" v="2235" actId="27636"/>
        <pc:sldMkLst>
          <pc:docMk/>
          <pc:sldMk cId="3239444602" sldId="497"/>
        </pc:sldMkLst>
        <pc:spChg chg="mod">
          <ac:chgData name="Kayla Blincow" userId="ac6229071bdafc06" providerId="LiveId" clId="{9CE18A4C-68C3-4E97-A0CD-BEA78CB9776D}" dt="2026-09-22T18:05:17.554" v="2235" actId="27636"/>
          <ac:spMkLst>
            <pc:docMk/>
            <pc:sldMk cId="3239444602" sldId="497"/>
            <ac:spMk id="7" creationId="{00000000-0000-0000-0000-000000000000}"/>
          </ac:spMkLst>
        </pc:spChg>
      </pc:sldChg>
      <pc:sldChg chg="modSp add mod">
        <pc:chgData name="Kayla Blincow" userId="ac6229071bdafc06" providerId="LiveId" clId="{9CE18A4C-68C3-4E97-A0CD-BEA78CB9776D}" dt="2026-09-22T18:05:17.538" v="2232" actId="27636"/>
        <pc:sldMkLst>
          <pc:docMk/>
          <pc:sldMk cId="470379678" sldId="500"/>
        </pc:sldMkLst>
        <pc:spChg chg="mod">
          <ac:chgData name="Kayla Blincow" userId="ac6229071bdafc06" providerId="LiveId" clId="{9CE18A4C-68C3-4E97-A0CD-BEA78CB9776D}" dt="2026-09-22T18:05:17.538" v="2232" actId="27636"/>
          <ac:spMkLst>
            <pc:docMk/>
            <pc:sldMk cId="470379678" sldId="500"/>
            <ac:spMk id="7" creationId="{00000000-0000-0000-0000-000000000000}"/>
          </ac:spMkLst>
        </pc:spChg>
      </pc:sldChg>
      <pc:sldChg chg="modSp add mod">
        <pc:chgData name="Kayla Blincow" userId="ac6229071bdafc06" providerId="LiveId" clId="{9CE18A4C-68C3-4E97-A0CD-BEA78CB9776D}" dt="2026-09-22T18:05:17.549" v="2234" actId="27636"/>
        <pc:sldMkLst>
          <pc:docMk/>
          <pc:sldMk cId="1190782618" sldId="507"/>
        </pc:sldMkLst>
        <pc:spChg chg="mod">
          <ac:chgData name="Kayla Blincow" userId="ac6229071bdafc06" providerId="LiveId" clId="{9CE18A4C-68C3-4E97-A0CD-BEA78CB9776D}" dt="2026-09-22T18:05:17.549" v="2234" actId="27636"/>
          <ac:spMkLst>
            <pc:docMk/>
            <pc:sldMk cId="1190782618" sldId="507"/>
            <ac:spMk id="7" creationId="{00000000-0000-0000-0000-000000000000}"/>
          </ac:spMkLst>
        </pc:spChg>
      </pc:sldChg>
      <pc:sldChg chg="addSp delSp modSp new del mod">
        <pc:chgData name="Kayla Blincow" userId="ac6229071bdafc06" providerId="LiveId" clId="{9CE18A4C-68C3-4E97-A0CD-BEA78CB9776D}" dt="2026-09-22T19:25:03.295" v="2252" actId="47"/>
        <pc:sldMkLst>
          <pc:docMk/>
          <pc:sldMk cId="2331280120" sldId="508"/>
        </pc:sldMkLst>
        <pc:spChg chg="del">
          <ac:chgData name="Kayla Blincow" userId="ac6229071bdafc06" providerId="LiveId" clId="{9CE18A4C-68C3-4E97-A0CD-BEA78CB9776D}" dt="2026-09-22T18:09:26.090" v="2242" actId="478"/>
          <ac:spMkLst>
            <pc:docMk/>
            <pc:sldMk cId="2331280120" sldId="508"/>
            <ac:spMk id="2" creationId="{F186F1B8-268F-0635-1053-2D74B401F4EF}"/>
          </ac:spMkLst>
        </pc:spChg>
        <pc:spChg chg="del">
          <ac:chgData name="Kayla Blincow" userId="ac6229071bdafc06" providerId="LiveId" clId="{9CE18A4C-68C3-4E97-A0CD-BEA78CB9776D}" dt="2026-09-22T18:09:28.906" v="2243" actId="478"/>
          <ac:spMkLst>
            <pc:docMk/>
            <pc:sldMk cId="2331280120" sldId="508"/>
            <ac:spMk id="3" creationId="{C52A4C93-EA2B-51A0-8755-74E1C6D7A4BC}"/>
          </ac:spMkLst>
        </pc:spChg>
        <pc:picChg chg="add del mod">
          <ac:chgData name="Kayla Blincow" userId="ac6229071bdafc06" providerId="LiveId" clId="{9CE18A4C-68C3-4E97-A0CD-BEA78CB9776D}" dt="2026-09-22T19:24:48.238" v="2248" actId="478"/>
          <ac:picMkLst>
            <pc:docMk/>
            <pc:sldMk cId="2331280120" sldId="508"/>
            <ac:picMk id="5" creationId="{85A1E7E8-F9E9-6835-C383-325669BE5725}"/>
          </ac:picMkLst>
        </pc:picChg>
      </pc:sldChg>
      <pc:sldChg chg="modSp add del mod">
        <pc:chgData name="Kayla Blincow" userId="ac6229071bdafc06" providerId="LiveId" clId="{9CE18A4C-68C3-4E97-A0CD-BEA78CB9776D}" dt="2026-09-22T18:05:37.119" v="2237" actId="47"/>
        <pc:sldMkLst>
          <pc:docMk/>
          <pc:sldMk cId="2429340164" sldId="508"/>
        </pc:sldMkLst>
        <pc:spChg chg="mod">
          <ac:chgData name="Kayla Blincow" userId="ac6229071bdafc06" providerId="LiveId" clId="{9CE18A4C-68C3-4E97-A0CD-BEA78CB9776D}" dt="2026-09-22T18:05:17.560" v="2236" actId="27636"/>
          <ac:spMkLst>
            <pc:docMk/>
            <pc:sldMk cId="2429340164" sldId="508"/>
            <ac:spMk id="43" creationId="{00000000-0000-0000-0000-000000000000}"/>
          </ac:spMkLst>
        </pc:spChg>
      </pc:sldChg>
      <pc:sldChg chg="addSp delSp add mod">
        <pc:chgData name="Kayla Blincow" userId="ac6229071bdafc06" providerId="LiveId" clId="{9CE18A4C-68C3-4E97-A0CD-BEA78CB9776D}" dt="2026-09-22T19:25:01.007" v="2251" actId="22"/>
        <pc:sldMkLst>
          <pc:docMk/>
          <pc:sldMk cId="2779059537" sldId="509"/>
        </pc:sldMkLst>
        <pc:picChg chg="add">
          <ac:chgData name="Kayla Blincow" userId="ac6229071bdafc06" providerId="LiveId" clId="{9CE18A4C-68C3-4E97-A0CD-BEA78CB9776D}" dt="2026-09-22T19:25:01.007" v="2251" actId="22"/>
          <ac:picMkLst>
            <pc:docMk/>
            <pc:sldMk cId="2779059537" sldId="509"/>
            <ac:picMk id="3" creationId="{7EBBBF63-DFBF-54C2-859D-EB721FC5B3A1}"/>
          </ac:picMkLst>
        </pc:picChg>
        <pc:picChg chg="del">
          <ac:chgData name="Kayla Blincow" userId="ac6229071bdafc06" providerId="LiveId" clId="{9CE18A4C-68C3-4E97-A0CD-BEA78CB9776D}" dt="2026-09-22T19:24:54.272" v="2250" actId="478"/>
          <ac:picMkLst>
            <pc:docMk/>
            <pc:sldMk cId="2779059537" sldId="509"/>
            <ac:picMk id="5" creationId="{D402021A-14AE-B769-71FD-F1422D2DAC5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AC65F-9207-41AE-8C53-46E5EA7B4DDF}"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2F4B8-4792-4BBE-9010-0D4D9882B9B9}" type="slidenum">
              <a:rPr lang="en-US" smtClean="0"/>
              <a:t>‹#›</a:t>
            </a:fld>
            <a:endParaRPr lang="en-US"/>
          </a:p>
        </p:txBody>
      </p:sp>
    </p:spTree>
    <p:extLst>
      <p:ext uri="{BB962C8B-B14F-4D97-AF65-F5344CB8AC3E}">
        <p14:creationId xmlns:p14="http://schemas.microsoft.com/office/powerpoint/2010/main" val="150663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a:t>
            </a:fld>
            <a:endParaRPr lang="en-US"/>
          </a:p>
        </p:txBody>
      </p:sp>
    </p:spTree>
    <p:extLst>
      <p:ext uri="{BB962C8B-B14F-4D97-AF65-F5344CB8AC3E}">
        <p14:creationId xmlns:p14="http://schemas.microsoft.com/office/powerpoint/2010/main" val="364324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E107EC36-8639-4F31-ACEC-1E770EECB044}" type="slidenum">
              <a:rPr lang="en-US" smtClean="0"/>
              <a:t>3</a:t>
            </a:fld>
            <a:endParaRPr lang="en-US"/>
          </a:p>
        </p:txBody>
      </p:sp>
    </p:spTree>
    <p:extLst>
      <p:ext uri="{BB962C8B-B14F-4D97-AF65-F5344CB8AC3E}">
        <p14:creationId xmlns:p14="http://schemas.microsoft.com/office/powerpoint/2010/main" val="44122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thought that the length of your forearm is a good estimate of the length of your foot… Let’s try it! Can we predict foot length based </a:t>
            </a:r>
            <a:r>
              <a:rPr lang="en-US"/>
              <a:t>on forearm </a:t>
            </a:r>
            <a:r>
              <a:rPr lang="en-US" dirty="0"/>
              <a:t>length?</a:t>
            </a:r>
          </a:p>
        </p:txBody>
      </p:sp>
      <p:sp>
        <p:nvSpPr>
          <p:cNvPr id="4" name="Slide Number Placeholder 3"/>
          <p:cNvSpPr>
            <a:spLocks noGrp="1"/>
          </p:cNvSpPr>
          <p:nvPr>
            <p:ph type="sldNum" sz="quarter" idx="5"/>
          </p:nvPr>
        </p:nvSpPr>
        <p:spPr/>
        <p:txBody>
          <a:bodyPr/>
          <a:lstStyle/>
          <a:p>
            <a:fld id="{E107EC36-8639-4F31-ACEC-1E770EECB044}" type="slidenum">
              <a:rPr lang="en-US" smtClean="0"/>
              <a:t>4</a:t>
            </a:fld>
            <a:endParaRPr lang="en-US"/>
          </a:p>
        </p:txBody>
      </p:sp>
    </p:spTree>
    <p:extLst>
      <p:ext uri="{BB962C8B-B14F-4D97-AF65-F5344CB8AC3E}">
        <p14:creationId xmlns:p14="http://schemas.microsoft.com/office/powerpoint/2010/main" val="57951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5</a:t>
            </a:fld>
            <a:endParaRPr lang="en-US"/>
          </a:p>
        </p:txBody>
      </p:sp>
    </p:spTree>
    <p:extLst>
      <p:ext uri="{BB962C8B-B14F-4D97-AF65-F5344CB8AC3E}">
        <p14:creationId xmlns:p14="http://schemas.microsoft.com/office/powerpoint/2010/main" val="923087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7F0F-F2BA-2DA3-4E75-5B5B7AE02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E406-10DC-E8ED-0471-4A9BB763B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42744-1F83-95F6-EA48-A617D1A6C0C7}"/>
              </a:ext>
            </a:extLst>
          </p:cNvPr>
          <p:cNvSpPr>
            <a:spLocks noGrp="1"/>
          </p:cNvSpPr>
          <p:nvPr>
            <p:ph type="body" idx="1"/>
          </p:nvPr>
        </p:nvSpPr>
        <p:spPr/>
        <p:txBody>
          <a:bodyPr/>
          <a:lstStyle/>
          <a:p>
            <a:r>
              <a:rPr lang="en-US" dirty="0"/>
              <a:t>Distribution of residuals – recall we want normally distributed residuals (i.e. median ~0, and even distribution on either side) – we aren’t exactly on here, but it’s not terrible either</a:t>
            </a:r>
          </a:p>
        </p:txBody>
      </p:sp>
      <p:sp>
        <p:nvSpPr>
          <p:cNvPr id="4" name="Slide Number Placeholder 3">
            <a:extLst>
              <a:ext uri="{FF2B5EF4-FFF2-40B4-BE49-F238E27FC236}">
                <a16:creationId xmlns:a16="http://schemas.microsoft.com/office/drawing/2014/main" id="{5D58ECD2-6687-B345-217F-C0CD627ED9B4}"/>
              </a:ext>
            </a:extLst>
          </p:cNvPr>
          <p:cNvSpPr>
            <a:spLocks noGrp="1"/>
          </p:cNvSpPr>
          <p:nvPr>
            <p:ph type="sldNum" sz="quarter" idx="5"/>
          </p:nvPr>
        </p:nvSpPr>
        <p:spPr/>
        <p:txBody>
          <a:bodyPr/>
          <a:lstStyle/>
          <a:p>
            <a:fld id="{B532F4B8-4792-4BBE-9010-0D4D9882B9B9}" type="slidenum">
              <a:rPr lang="en-US" smtClean="0"/>
              <a:t>6</a:t>
            </a:fld>
            <a:endParaRPr lang="en-US"/>
          </a:p>
        </p:txBody>
      </p:sp>
    </p:spTree>
    <p:extLst>
      <p:ext uri="{BB962C8B-B14F-4D97-AF65-F5344CB8AC3E}">
        <p14:creationId xmlns:p14="http://schemas.microsoft.com/office/powerpoint/2010/main" val="3227697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EEBA4-17F0-DC8D-64AF-F43C89166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3268D-59DD-979A-85CC-3FF3E9867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3EF38-C0ED-A58A-ACAE-B33F254C3C62}"/>
              </a:ext>
            </a:extLst>
          </p:cNvPr>
          <p:cNvSpPr>
            <a:spLocks noGrp="1"/>
          </p:cNvSpPr>
          <p:nvPr>
            <p:ph type="body" idx="1"/>
          </p:nvPr>
        </p:nvSpPr>
        <p:spPr/>
        <p:txBody>
          <a:bodyPr/>
          <a:lstStyle/>
          <a:p>
            <a:r>
              <a:rPr lang="en-US" dirty="0"/>
              <a:t>Linear regression coefficients are evaluated with a t-value to test whether the relationship between a predictor variable and the outcome is statistically significant or just due to random chance. </a:t>
            </a:r>
          </a:p>
          <a:p>
            <a:endParaRPr lang="en-US" dirty="0"/>
          </a:p>
          <a:p>
            <a:r>
              <a:rPr lang="en-US" dirty="0"/>
              <a:t>How the t-value Works</a:t>
            </a:r>
          </a:p>
          <a:p>
            <a:pPr lvl="0"/>
            <a:r>
              <a:rPr lang="en-US" b="1" dirty="0"/>
              <a:t>Measuring signal versus noise:</a:t>
            </a:r>
            <a:r>
              <a:rPr lang="en-US" dirty="0"/>
              <a:t> The t-value is calculated by dividing the estimated coefficient (</a:t>
            </a:r>
            <a:r>
              <a:rPr lang="en-US" dirty="0">
                <a:effectLst/>
              </a:rPr>
              <a:t>beta</a:t>
            </a:r>
            <a:r>
              <a:rPr lang="en-US" dirty="0"/>
              <a:t>) by its standard error (the measure of uncertainty or noise in the estimate). </a:t>
            </a:r>
          </a:p>
          <a:p>
            <a:pPr lvl="0"/>
            <a:r>
              <a:rPr lang="en-US" b="1" dirty="0"/>
              <a:t>Distance from zero:</a:t>
            </a:r>
            <a:r>
              <a:rPr lang="en-US" dirty="0"/>
              <a:t> It tells you how many standard errors the coefficient is away from zero. </a:t>
            </a:r>
          </a:p>
          <a:p>
            <a:pPr lvl="0"/>
            <a:r>
              <a:rPr lang="en-US" b="1" dirty="0"/>
              <a:t>Testing the null hypothesis:</a:t>
            </a:r>
            <a:r>
              <a:rPr lang="en-US" dirty="0"/>
              <a:t> A coefficient of zero means there is no linear relationship. A large absolute t-value (typically greater than 2) means the effect is large relative to its uncertainty, allowing you to reject the null hypothesis and conclude the variable has a real effect. </a:t>
            </a:r>
          </a:p>
          <a:p>
            <a:r>
              <a:rPr lang="en-US" dirty="0"/>
              <a:t>Why a t-distribution?</a:t>
            </a:r>
          </a:p>
          <a:p>
            <a:pPr lvl="0"/>
            <a:r>
              <a:rPr lang="en-US" b="1" dirty="0"/>
              <a:t>Unknown population variance:</a:t>
            </a:r>
            <a:r>
              <a:rPr lang="en-US" dirty="0"/>
              <a:t> Because the true population error variance is unknown and must be estimated from a limited sample, the statistic follows a Student’s t-distribution rather than a normal z-distribution. This accounts for extra uncertainty when sample sizes are small. </a:t>
            </a:r>
          </a:p>
        </p:txBody>
      </p:sp>
      <p:sp>
        <p:nvSpPr>
          <p:cNvPr id="4" name="Slide Number Placeholder 3">
            <a:extLst>
              <a:ext uri="{FF2B5EF4-FFF2-40B4-BE49-F238E27FC236}">
                <a16:creationId xmlns:a16="http://schemas.microsoft.com/office/drawing/2014/main" id="{E9058159-F234-5E4C-94FE-6E4FC12815DD}"/>
              </a:ext>
            </a:extLst>
          </p:cNvPr>
          <p:cNvSpPr>
            <a:spLocks noGrp="1"/>
          </p:cNvSpPr>
          <p:nvPr>
            <p:ph type="sldNum" sz="quarter" idx="5"/>
          </p:nvPr>
        </p:nvSpPr>
        <p:spPr/>
        <p:txBody>
          <a:bodyPr/>
          <a:lstStyle/>
          <a:p>
            <a:fld id="{B532F4B8-4792-4BBE-9010-0D4D9882B9B9}" type="slidenum">
              <a:rPr lang="en-US" smtClean="0"/>
              <a:t>7</a:t>
            </a:fld>
            <a:endParaRPr lang="en-US"/>
          </a:p>
        </p:txBody>
      </p:sp>
    </p:spTree>
    <p:extLst>
      <p:ext uri="{BB962C8B-B14F-4D97-AF65-F5344CB8AC3E}">
        <p14:creationId xmlns:p14="http://schemas.microsoft.com/office/powerpoint/2010/main" val="1947920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44FB9-BBEB-4007-5020-43A5181BD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476F8-A209-FF5F-7C62-69D028C51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39DC5-EAEF-E15B-AB5A-0479E62AD4B8}"/>
              </a:ext>
            </a:extLst>
          </p:cNvPr>
          <p:cNvSpPr>
            <a:spLocks noGrp="1"/>
          </p:cNvSpPr>
          <p:nvPr>
            <p:ph type="body" idx="1"/>
          </p:nvPr>
        </p:nvSpPr>
        <p:spPr/>
        <p:txBody>
          <a:bodyPr/>
          <a:lstStyle/>
          <a:p>
            <a:r>
              <a:rPr lang="en-US" dirty="0"/>
              <a:t>Distribution of residuals – recall we want normally distributed residuals (i.e. median ~0, and even distribution on either side) – we aren’t exactly on here, but it’s not terrible either</a:t>
            </a:r>
          </a:p>
        </p:txBody>
      </p:sp>
      <p:sp>
        <p:nvSpPr>
          <p:cNvPr id="4" name="Slide Number Placeholder 3">
            <a:extLst>
              <a:ext uri="{FF2B5EF4-FFF2-40B4-BE49-F238E27FC236}">
                <a16:creationId xmlns:a16="http://schemas.microsoft.com/office/drawing/2014/main" id="{4708BF70-533B-49E8-385C-34DAF493CF2F}"/>
              </a:ext>
            </a:extLst>
          </p:cNvPr>
          <p:cNvSpPr>
            <a:spLocks noGrp="1"/>
          </p:cNvSpPr>
          <p:nvPr>
            <p:ph type="sldNum" sz="quarter" idx="5"/>
          </p:nvPr>
        </p:nvSpPr>
        <p:spPr/>
        <p:txBody>
          <a:bodyPr/>
          <a:lstStyle/>
          <a:p>
            <a:fld id="{B532F4B8-4792-4BBE-9010-0D4D9882B9B9}" type="slidenum">
              <a:rPr lang="en-US" smtClean="0"/>
              <a:t>8</a:t>
            </a:fld>
            <a:endParaRPr lang="en-US"/>
          </a:p>
        </p:txBody>
      </p:sp>
    </p:spTree>
    <p:extLst>
      <p:ext uri="{BB962C8B-B14F-4D97-AF65-F5344CB8AC3E}">
        <p14:creationId xmlns:p14="http://schemas.microsoft.com/office/powerpoint/2010/main" val="416311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1233-3DB6-01D1-0B7C-DC36E64C2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0ACC3-D470-C2A4-B470-C417B90ED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2E9A7-D29D-82BC-1545-6C548C8CA12C}"/>
              </a:ext>
            </a:extLst>
          </p:cNvPr>
          <p:cNvSpPr>
            <a:spLocks noGrp="1"/>
          </p:cNvSpPr>
          <p:nvPr>
            <p:ph type="body" idx="1"/>
          </p:nvPr>
        </p:nvSpPr>
        <p:spPr/>
        <p:txBody>
          <a:bodyPr/>
          <a:lstStyle/>
          <a:p>
            <a:r>
              <a:rPr lang="en-US" dirty="0"/>
              <a:t>Distribution of residuals – recall we want normally distributed residuals (i.e. median ~0, and even distribution on either side) – we aren’t exactly on here, but it’s not terrible either</a:t>
            </a:r>
          </a:p>
        </p:txBody>
      </p:sp>
      <p:sp>
        <p:nvSpPr>
          <p:cNvPr id="4" name="Slide Number Placeholder 3">
            <a:extLst>
              <a:ext uri="{FF2B5EF4-FFF2-40B4-BE49-F238E27FC236}">
                <a16:creationId xmlns:a16="http://schemas.microsoft.com/office/drawing/2014/main" id="{0D45C126-0C01-7C7F-468D-B89DD6FE7564}"/>
              </a:ext>
            </a:extLst>
          </p:cNvPr>
          <p:cNvSpPr>
            <a:spLocks noGrp="1"/>
          </p:cNvSpPr>
          <p:nvPr>
            <p:ph type="sldNum" sz="quarter" idx="5"/>
          </p:nvPr>
        </p:nvSpPr>
        <p:spPr/>
        <p:txBody>
          <a:bodyPr/>
          <a:lstStyle/>
          <a:p>
            <a:fld id="{B532F4B8-4792-4BBE-9010-0D4D9882B9B9}" type="slidenum">
              <a:rPr lang="en-US" smtClean="0"/>
              <a:t>9</a:t>
            </a:fld>
            <a:endParaRPr lang="en-US"/>
          </a:p>
        </p:txBody>
      </p:sp>
    </p:spTree>
    <p:extLst>
      <p:ext uri="{BB962C8B-B14F-4D97-AF65-F5344CB8AC3E}">
        <p14:creationId xmlns:p14="http://schemas.microsoft.com/office/powerpoint/2010/main" val="1086540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As high level predators, GSBs have the potential to strongly influence ecosystem dynamics, especially considering they are returning after an over 50 year absence from SoCal waters. As you can imagine increasing the number of these guys cruising around sucking things up is likely to influence the ecosystem. But in what ways? Need an understanding of what they eat and their role in the trophic system to understand how best to manage their ongoing recovery in the context of the broader ecosystem impacts.</a:t>
            </a:r>
            <a:endParaRPr lang="en-US" dirty="0"/>
          </a:p>
        </p:txBody>
      </p:sp>
      <p:sp>
        <p:nvSpPr>
          <p:cNvPr id="4" name="Slide Number Placeholder 3"/>
          <p:cNvSpPr>
            <a:spLocks noGrp="1"/>
          </p:cNvSpPr>
          <p:nvPr>
            <p:ph type="sldNum" sz="quarter" idx="10"/>
          </p:nvPr>
        </p:nvSpPr>
        <p:spPr/>
        <p:txBody>
          <a:bodyPr/>
          <a:lstStyle/>
          <a:p>
            <a:fld id="{F444C829-19C9-4CEB-8FBA-88EA5164F460}" type="slidenum">
              <a:rPr lang="en-US" smtClean="0"/>
              <a:t>14</a:t>
            </a:fld>
            <a:endParaRPr lang="en-US"/>
          </a:p>
        </p:txBody>
      </p:sp>
    </p:spTree>
    <p:extLst>
      <p:ext uri="{BB962C8B-B14F-4D97-AF65-F5344CB8AC3E}">
        <p14:creationId xmlns:p14="http://schemas.microsoft.com/office/powerpoint/2010/main" val="3637018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ratio on x axis, N ratio on y axis. By looking at the carbon</a:t>
            </a:r>
            <a:r>
              <a:rPr lang="en-US" baseline="0" dirty="0"/>
              <a:t> isotopes of a GSB, we can get a sense for which primary producers are supporting it at the base of the food chain, because C ratios are relatively conserved as you move up the food chain. Nitrogen isotopes are useful because they enrich as you move up the food chain. Animals tend to metabolize the lighter N14 isotope over the N15 isotope, and this causes N15 to enrich as you move up the food chain. As result, we can use N ratios provide information about the relative trophic position of an organism. </a:t>
            </a:r>
            <a:endParaRPr lang="en-US" dirty="0"/>
          </a:p>
        </p:txBody>
      </p:sp>
      <p:sp>
        <p:nvSpPr>
          <p:cNvPr id="4" name="Slide Number Placeholder 3"/>
          <p:cNvSpPr>
            <a:spLocks noGrp="1"/>
          </p:cNvSpPr>
          <p:nvPr>
            <p:ph type="sldNum" sz="quarter" idx="10"/>
          </p:nvPr>
        </p:nvSpPr>
        <p:spPr/>
        <p:txBody>
          <a:bodyPr/>
          <a:lstStyle/>
          <a:p>
            <a:fld id="{30D4BA52-B19A-4EC4-81F5-8C289FE84FF9}" type="slidenum">
              <a:rPr lang="en-US" smtClean="0"/>
              <a:t>15</a:t>
            </a:fld>
            <a:endParaRPr lang="en-US"/>
          </a:p>
        </p:txBody>
      </p:sp>
    </p:spTree>
    <p:extLst>
      <p:ext uri="{BB962C8B-B14F-4D97-AF65-F5344CB8AC3E}">
        <p14:creationId xmlns:p14="http://schemas.microsoft.com/office/powerpoint/2010/main" val="495710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a:t>
            </a:r>
            <a:r>
              <a:rPr lang="en-US" baseline="0" dirty="0"/>
              <a:t> example, we might have tissue samples from two separate GSBs and they fall here in isotope space. This one is likely reliant on </a:t>
            </a:r>
            <a:r>
              <a:rPr lang="en-US" baseline="0" dirty="0" err="1"/>
              <a:t>macroalgae</a:t>
            </a:r>
            <a:r>
              <a:rPr lang="en-US" baseline="0" dirty="0"/>
              <a:t> primary producers at the base of it’s food chain because it’s C signature aligns with </a:t>
            </a:r>
            <a:r>
              <a:rPr lang="en-US" baseline="0" dirty="0" err="1"/>
              <a:t>macroalgae</a:t>
            </a:r>
            <a:r>
              <a:rPr lang="en-US" baseline="0" dirty="0"/>
              <a:t>, while this other one is likely reliant on phytoplankton primary producers. Look at their positions on the y axis, we can infer that this one is probably occupying a higher trophic level than the other, because it has a higher N15 ratio. </a:t>
            </a:r>
            <a:endParaRPr lang="en-US" dirty="0"/>
          </a:p>
        </p:txBody>
      </p:sp>
      <p:sp>
        <p:nvSpPr>
          <p:cNvPr id="4" name="Slide Number Placeholder 3"/>
          <p:cNvSpPr>
            <a:spLocks noGrp="1"/>
          </p:cNvSpPr>
          <p:nvPr>
            <p:ph type="sldNum" sz="quarter" idx="10"/>
          </p:nvPr>
        </p:nvSpPr>
        <p:spPr/>
        <p:txBody>
          <a:bodyPr/>
          <a:lstStyle/>
          <a:p>
            <a:fld id="{30D4BA52-B19A-4EC4-81F5-8C289FE84FF9}" type="slidenum">
              <a:rPr lang="en-US" smtClean="0"/>
              <a:t>16</a:t>
            </a:fld>
            <a:endParaRPr lang="en-US"/>
          </a:p>
        </p:txBody>
      </p:sp>
    </p:spTree>
    <p:extLst>
      <p:ext uri="{BB962C8B-B14F-4D97-AF65-F5344CB8AC3E}">
        <p14:creationId xmlns:p14="http://schemas.microsoft.com/office/powerpoint/2010/main" val="2927039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demonstrate</a:t>
            </a:r>
            <a:r>
              <a:rPr lang="en-US" baseline="0" dirty="0"/>
              <a:t> t</a:t>
            </a:r>
            <a:r>
              <a:rPr lang="en-US" dirty="0"/>
              <a:t>he reason we might see these</a:t>
            </a:r>
            <a:r>
              <a:rPr lang="en-US" baseline="0" dirty="0"/>
              <a:t> differences in N ratios, we can think about the pathway of nitrogen form primary producers to GSBs. </a:t>
            </a:r>
            <a:r>
              <a:rPr lang="en-US" dirty="0"/>
              <a:t>The</a:t>
            </a:r>
            <a:r>
              <a:rPr lang="en-US" baseline="0" dirty="0"/>
              <a:t> GSB on the right might have eaten a lobster that had eaten a wavy turban snail that had eaten some kelp, so it has more trophic steps between the primary producer, kelp, to the GSB, leading to increased enrichment of N15. The GSB on the left ate a razor clam that was filter feeding phytoplankton, so it has fewer trophic steps making this individual occupy a lower trophic level and have a lower N15 ratio.</a:t>
            </a:r>
            <a:endParaRPr lang="en-US" dirty="0"/>
          </a:p>
        </p:txBody>
      </p:sp>
      <p:sp>
        <p:nvSpPr>
          <p:cNvPr id="4" name="Slide Number Placeholder 3"/>
          <p:cNvSpPr>
            <a:spLocks noGrp="1"/>
          </p:cNvSpPr>
          <p:nvPr>
            <p:ph type="sldNum" sz="quarter" idx="10"/>
          </p:nvPr>
        </p:nvSpPr>
        <p:spPr/>
        <p:txBody>
          <a:bodyPr/>
          <a:lstStyle/>
          <a:p>
            <a:fld id="{30D4BA52-B19A-4EC4-81F5-8C289FE84FF9}" type="slidenum">
              <a:rPr lang="en-US" smtClean="0"/>
              <a:t>17</a:t>
            </a:fld>
            <a:endParaRPr lang="en-US"/>
          </a:p>
        </p:txBody>
      </p:sp>
    </p:spTree>
    <p:extLst>
      <p:ext uri="{BB962C8B-B14F-4D97-AF65-F5344CB8AC3E}">
        <p14:creationId xmlns:p14="http://schemas.microsoft.com/office/powerpoint/2010/main" val="3755918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comparing</a:t>
            </a:r>
            <a:r>
              <a:rPr lang="en-US" baseline="0" dirty="0"/>
              <a:t> isotopic signatures across multiple GSB individuals we can get a sense of the trophic ecology of the species as a whole, but also how individuals and age groups within the species vary from each other. One way to do this is to statistically draw ellipses around defined groups and look at the area of the ellipse. We might imagine that the GSB samples in each of these ellipses are from different age classes. The yellow age class is really tightly clustered which suggests that GSBs from that group are eating really similar things, while the red age class has a much larger spread in isotopic space suggesting that GSBs in that group might be specializing in specific prey groups at the individual level. </a:t>
            </a:r>
            <a:endParaRPr lang="en-US" dirty="0"/>
          </a:p>
        </p:txBody>
      </p:sp>
      <p:sp>
        <p:nvSpPr>
          <p:cNvPr id="4" name="Slide Number Placeholder 3"/>
          <p:cNvSpPr>
            <a:spLocks noGrp="1"/>
          </p:cNvSpPr>
          <p:nvPr>
            <p:ph type="sldNum" sz="quarter" idx="10"/>
          </p:nvPr>
        </p:nvSpPr>
        <p:spPr/>
        <p:txBody>
          <a:bodyPr/>
          <a:lstStyle/>
          <a:p>
            <a:fld id="{30D4BA52-B19A-4EC4-81F5-8C289FE84FF9}" type="slidenum">
              <a:rPr lang="en-US" smtClean="0"/>
              <a:t>18</a:t>
            </a:fld>
            <a:endParaRPr lang="en-US"/>
          </a:p>
        </p:txBody>
      </p:sp>
    </p:spTree>
    <p:extLst>
      <p:ext uri="{BB962C8B-B14F-4D97-AF65-F5344CB8AC3E}">
        <p14:creationId xmlns:p14="http://schemas.microsoft.com/office/powerpoint/2010/main" val="2376227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8028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735777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2DA7E-11E7-48AB-82F5-7068197A42C9}"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81338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2DA7E-11E7-48AB-82F5-7068197A42C9}"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7812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A2DA7E-11E7-48AB-82F5-7068197A42C9}"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3029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A2DA7E-11E7-48AB-82F5-7068197A42C9}"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2054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A2DA7E-11E7-48AB-82F5-7068197A42C9}"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96574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829849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402538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12330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2327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5A2DA7E-11E7-48AB-82F5-7068197A42C9}" type="datetimeFigureOut">
              <a:rPr lang="en-US" smtClean="0"/>
              <a:t>9/22/2026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CAC4879-753F-46D0-95EC-9736450DC13A}" type="slidenum">
              <a:rPr lang="en-US" smtClean="0"/>
              <a:t>‹#›</a:t>
            </a:fld>
            <a:endParaRPr lang="en-US"/>
          </a:p>
        </p:txBody>
      </p:sp>
    </p:spTree>
    <p:extLst>
      <p:ext uri="{BB962C8B-B14F-4D97-AF65-F5344CB8AC3E}">
        <p14:creationId xmlns:p14="http://schemas.microsoft.com/office/powerpoint/2010/main" val="38014444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4v"/><Relationship Id="rId1" Type="http://schemas.microsoft.com/office/2007/relationships/media" Target="../media/media1.m4v"/><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microsoft.com/office/2007/relationships/hdphoto" Target="../media/hdphoto2.wdp"/><Relationship Id="rId4" Type="http://schemas.microsoft.com/office/2007/relationships/hdphoto" Target="../media/hdphoto1.wdp"/><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9.png"/><Relationship Id="rId7"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microsoft.com/office/2007/relationships/hdphoto" Target="../media/hdphoto2.wdp"/><Relationship Id="rId4" Type="http://schemas.microsoft.com/office/2007/relationships/hdphoto" Target="../media/hdphoto1.wdp"/><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13.jpeg"/><Relationship Id="rId13" Type="http://schemas.microsoft.com/office/2007/relationships/hdphoto" Target="../media/hdphoto2.wdp"/><Relationship Id="rId3" Type="http://schemas.openxmlformats.org/officeDocument/2006/relationships/image" Target="../media/image9.png"/><Relationship Id="rId7" Type="http://schemas.openxmlformats.org/officeDocument/2006/relationships/image" Target="../media/image12.jpeg"/><Relationship Id="rId12"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8.jpeg"/><Relationship Id="rId5" Type="http://schemas.openxmlformats.org/officeDocument/2006/relationships/image" Target="../media/image10.png"/><Relationship Id="rId10" Type="http://schemas.openxmlformats.org/officeDocument/2006/relationships/image" Target="../media/image17.jpeg"/><Relationship Id="rId4" Type="http://schemas.microsoft.com/office/2007/relationships/hdphoto" Target="../media/hdphoto1.wdp"/><Relationship Id="rId9" Type="http://schemas.openxmlformats.org/officeDocument/2006/relationships/image" Target="../media/image16.jpeg"/></Relationships>
</file>

<file path=ppt/slides/_rels/slide1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PaFPbb66DxQ" TargetMode="External"/><Relationship Id="rId2" Type="http://schemas.openxmlformats.org/officeDocument/2006/relationships/hyperlink" Target="https://statisticsbyjim.com/regression/interpret-coefficients-p-values-regression/" TargetMode="External"/><Relationship Id="rId1" Type="http://schemas.openxmlformats.org/officeDocument/2006/relationships/slideLayout" Target="../slideLayouts/slideLayout2.xml"/><Relationship Id="rId5" Type="http://schemas.openxmlformats.org/officeDocument/2006/relationships/hyperlink" Target="https://www.youtube.com/watch?v=FGBOejMiM5k" TargetMode="External"/><Relationship Id="rId4" Type="http://schemas.openxmlformats.org/officeDocument/2006/relationships/hyperlink" Target="https://www.youtube.com/watch?v=nk2CQITm_e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8A19-FA22-C682-4310-EEAA4459904E}"/>
              </a:ext>
            </a:extLst>
          </p:cNvPr>
          <p:cNvSpPr>
            <a:spLocks noGrp="1"/>
          </p:cNvSpPr>
          <p:nvPr>
            <p:ph type="ctrTitle"/>
          </p:nvPr>
        </p:nvSpPr>
        <p:spPr>
          <a:xfrm>
            <a:off x="4812630" y="1600200"/>
            <a:ext cx="5855368" cy="1801311"/>
          </a:xfrm>
        </p:spPr>
        <p:txBody>
          <a:bodyPr/>
          <a:lstStyle/>
          <a:p>
            <a:r>
              <a:rPr lang="en-US" dirty="0"/>
              <a:t>MES 503 Lab 6</a:t>
            </a:r>
          </a:p>
        </p:txBody>
      </p:sp>
      <p:sp>
        <p:nvSpPr>
          <p:cNvPr id="3" name="Subtitle 2">
            <a:extLst>
              <a:ext uri="{FF2B5EF4-FFF2-40B4-BE49-F238E27FC236}">
                <a16:creationId xmlns:a16="http://schemas.microsoft.com/office/drawing/2014/main" id="{F07B767E-3D5A-B7E7-2441-4EBD66E2A63F}"/>
              </a:ext>
            </a:extLst>
          </p:cNvPr>
          <p:cNvSpPr>
            <a:spLocks noGrp="1"/>
          </p:cNvSpPr>
          <p:nvPr>
            <p:ph type="subTitle" idx="1"/>
          </p:nvPr>
        </p:nvSpPr>
        <p:spPr>
          <a:xfrm>
            <a:off x="4812630" y="3602038"/>
            <a:ext cx="5855369" cy="1655762"/>
          </a:xfrm>
        </p:spPr>
        <p:txBody>
          <a:bodyPr/>
          <a:lstStyle/>
          <a:p>
            <a:r>
              <a:rPr lang="en-US" dirty="0"/>
              <a:t>Kayla Blincow, PhD</a:t>
            </a:r>
          </a:p>
        </p:txBody>
      </p:sp>
      <p:pic>
        <p:nvPicPr>
          <p:cNvPr id="4" name="Picture 2" descr="R Memes for Statistical Fiends on Twitter: &quot;More R memes created directly  in R with @thosjleeper package &quot;memes&quot; https://t.co/R6MNt7sSzV #rstats… &quot;">
            <a:extLst>
              <a:ext uri="{FF2B5EF4-FFF2-40B4-BE49-F238E27FC236}">
                <a16:creationId xmlns:a16="http://schemas.microsoft.com/office/drawing/2014/main" id="{4E2F905E-C631-73E1-AB39-F358E6C87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0443" y="1250651"/>
            <a:ext cx="3449053" cy="435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8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9A48-B850-58D5-1576-8EEEB414F3D4}"/>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5EC916F8-2617-0B7F-D699-7AE508E9AD38}"/>
              </a:ext>
            </a:extLst>
          </p:cNvPr>
          <p:cNvSpPr>
            <a:spLocks noGrp="1"/>
          </p:cNvSpPr>
          <p:nvPr>
            <p:ph idx="1"/>
          </p:nvPr>
        </p:nvSpPr>
        <p:spPr>
          <a:xfrm>
            <a:off x="838200" y="1825625"/>
            <a:ext cx="4343400" cy="4351338"/>
          </a:xfrm>
        </p:spPr>
        <p:txBody>
          <a:bodyPr/>
          <a:lstStyle/>
          <a:p>
            <a:r>
              <a:rPr lang="en-US" dirty="0"/>
              <a:t>Lab assignment 2 due today</a:t>
            </a:r>
          </a:p>
          <a:p>
            <a:endParaRPr lang="en-US" dirty="0"/>
          </a:p>
        </p:txBody>
      </p:sp>
      <p:pic>
        <p:nvPicPr>
          <p:cNvPr id="5" name="Picture 4">
            <a:extLst>
              <a:ext uri="{FF2B5EF4-FFF2-40B4-BE49-F238E27FC236}">
                <a16:creationId xmlns:a16="http://schemas.microsoft.com/office/drawing/2014/main" id="{6665DA08-0A89-1243-C600-2D30A830B216}"/>
              </a:ext>
            </a:extLst>
          </p:cNvPr>
          <p:cNvPicPr>
            <a:picLocks noChangeAspect="1"/>
          </p:cNvPicPr>
          <p:nvPr/>
        </p:nvPicPr>
        <p:blipFill>
          <a:blip r:embed="rId2"/>
          <a:stretch>
            <a:fillRect/>
          </a:stretch>
        </p:blipFill>
        <p:spPr>
          <a:xfrm>
            <a:off x="5428632" y="253837"/>
            <a:ext cx="6407479" cy="6350326"/>
          </a:xfrm>
          <a:prstGeom prst="rect">
            <a:avLst/>
          </a:prstGeom>
        </p:spPr>
      </p:pic>
    </p:spTree>
    <p:extLst>
      <p:ext uri="{BB962C8B-B14F-4D97-AF65-F5344CB8AC3E}">
        <p14:creationId xmlns:p14="http://schemas.microsoft.com/office/powerpoint/2010/main" val="94966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ctivity Time - Rainbow Spongbob | Make a Meme">
            <a:extLst>
              <a:ext uri="{FF2B5EF4-FFF2-40B4-BE49-F238E27FC236}">
                <a16:creationId xmlns:a16="http://schemas.microsoft.com/office/drawing/2014/main" id="{89D4E35F-AF94-DC95-C2F5-08AD658F4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0" y="1066800"/>
            <a:ext cx="5715000"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074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FD3587-AB90-264A-F57F-5ABC67265E38}"/>
              </a:ext>
            </a:extLst>
          </p:cNvPr>
          <p:cNvPicPr>
            <a:picLocks noChangeAspect="1"/>
          </p:cNvPicPr>
          <p:nvPr/>
        </p:nvPicPr>
        <p:blipFill>
          <a:blip r:embed="rId3"/>
          <a:stretch>
            <a:fillRect/>
          </a:stretch>
        </p:blipFill>
        <p:spPr>
          <a:xfrm>
            <a:off x="110490" y="880526"/>
            <a:ext cx="5801140" cy="5282280"/>
          </a:xfrm>
          <a:prstGeom prst="rect">
            <a:avLst/>
          </a:prstGeom>
        </p:spPr>
      </p:pic>
      <p:pic>
        <p:nvPicPr>
          <p:cNvPr id="7" name="Picture 6">
            <a:extLst>
              <a:ext uri="{FF2B5EF4-FFF2-40B4-BE49-F238E27FC236}">
                <a16:creationId xmlns:a16="http://schemas.microsoft.com/office/drawing/2014/main" id="{8977AAC0-93FD-6096-8B3B-4A3407A08F71}"/>
              </a:ext>
            </a:extLst>
          </p:cNvPr>
          <p:cNvPicPr>
            <a:picLocks noChangeAspect="1"/>
          </p:cNvPicPr>
          <p:nvPr/>
        </p:nvPicPr>
        <p:blipFill>
          <a:blip r:embed="rId4"/>
          <a:stretch>
            <a:fillRect/>
          </a:stretch>
        </p:blipFill>
        <p:spPr>
          <a:xfrm>
            <a:off x="6089804" y="880526"/>
            <a:ext cx="5939795" cy="5282280"/>
          </a:xfrm>
          <a:prstGeom prst="rect">
            <a:avLst/>
          </a:prstGeom>
        </p:spPr>
      </p:pic>
    </p:spTree>
    <p:extLst>
      <p:ext uri="{BB962C8B-B14F-4D97-AF65-F5344CB8AC3E}">
        <p14:creationId xmlns:p14="http://schemas.microsoft.com/office/powerpoint/2010/main" val="334938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91A9963-8A28-9B1F-E85D-D936B6281ED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751" y="283543"/>
            <a:ext cx="6086259" cy="6086259"/>
          </a:xfrm>
          <a:prstGeom prst="rect">
            <a:avLst/>
          </a:prstGeom>
        </p:spPr>
      </p:pic>
      <p:pic>
        <p:nvPicPr>
          <p:cNvPr id="7" name="Picture 6">
            <a:extLst>
              <a:ext uri="{FF2B5EF4-FFF2-40B4-BE49-F238E27FC236}">
                <a16:creationId xmlns:a16="http://schemas.microsoft.com/office/drawing/2014/main" id="{1C616EFB-2DE5-C619-3683-5421ACE6B6BD}"/>
              </a:ext>
            </a:extLst>
          </p:cNvPr>
          <p:cNvPicPr>
            <a:picLocks noChangeAspect="1"/>
          </p:cNvPicPr>
          <p:nvPr/>
        </p:nvPicPr>
        <p:blipFill>
          <a:blip r:embed="rId4"/>
          <a:stretch>
            <a:fillRect/>
          </a:stretch>
        </p:blipFill>
        <p:spPr>
          <a:xfrm>
            <a:off x="6542146" y="1659067"/>
            <a:ext cx="5649854" cy="3362384"/>
          </a:xfrm>
          <a:prstGeom prst="rect">
            <a:avLst/>
          </a:prstGeom>
        </p:spPr>
      </p:pic>
      <p:sp>
        <p:nvSpPr>
          <p:cNvPr id="8" name="Rectangle 7">
            <a:extLst>
              <a:ext uri="{FF2B5EF4-FFF2-40B4-BE49-F238E27FC236}">
                <a16:creationId xmlns:a16="http://schemas.microsoft.com/office/drawing/2014/main" id="{9AF1205D-9B6C-31F0-9253-AAF25E3F6506}"/>
              </a:ext>
            </a:extLst>
          </p:cNvPr>
          <p:cNvSpPr/>
          <p:nvPr/>
        </p:nvSpPr>
        <p:spPr>
          <a:xfrm>
            <a:off x="6542146" y="1921790"/>
            <a:ext cx="5089332" cy="557939"/>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792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B5233-6345-3406-5D66-892C4CDE54A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2DE0E4-FF3A-8F29-26D5-61D607B01B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751" y="283543"/>
            <a:ext cx="6086259" cy="6086259"/>
          </a:xfrm>
          <a:prstGeom prst="rect">
            <a:avLst/>
          </a:prstGeom>
        </p:spPr>
      </p:pic>
      <p:pic>
        <p:nvPicPr>
          <p:cNvPr id="7" name="Picture 6">
            <a:extLst>
              <a:ext uri="{FF2B5EF4-FFF2-40B4-BE49-F238E27FC236}">
                <a16:creationId xmlns:a16="http://schemas.microsoft.com/office/drawing/2014/main" id="{6545179F-67B1-16AF-8BC9-FFDDCA8185F8}"/>
              </a:ext>
            </a:extLst>
          </p:cNvPr>
          <p:cNvPicPr>
            <a:picLocks noChangeAspect="1"/>
          </p:cNvPicPr>
          <p:nvPr/>
        </p:nvPicPr>
        <p:blipFill>
          <a:blip r:embed="rId4"/>
          <a:stretch>
            <a:fillRect/>
          </a:stretch>
        </p:blipFill>
        <p:spPr>
          <a:xfrm>
            <a:off x="6542146" y="1659067"/>
            <a:ext cx="5649854" cy="3362384"/>
          </a:xfrm>
          <a:prstGeom prst="rect">
            <a:avLst/>
          </a:prstGeom>
        </p:spPr>
      </p:pic>
      <p:sp>
        <p:nvSpPr>
          <p:cNvPr id="8" name="Rectangle 7">
            <a:extLst>
              <a:ext uri="{FF2B5EF4-FFF2-40B4-BE49-F238E27FC236}">
                <a16:creationId xmlns:a16="http://schemas.microsoft.com/office/drawing/2014/main" id="{8BBCAE1B-C965-0941-670A-EBFD1FDC9171}"/>
              </a:ext>
            </a:extLst>
          </p:cNvPr>
          <p:cNvSpPr/>
          <p:nvPr/>
        </p:nvSpPr>
        <p:spPr>
          <a:xfrm>
            <a:off x="6542146" y="2510725"/>
            <a:ext cx="5089332" cy="557939"/>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29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BEE72-5EA1-4171-B2CD-BFABF15B540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B28406-3372-0C82-E28A-E7620AB68AA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751" y="283543"/>
            <a:ext cx="6086259" cy="6086259"/>
          </a:xfrm>
          <a:prstGeom prst="rect">
            <a:avLst/>
          </a:prstGeom>
        </p:spPr>
      </p:pic>
      <p:pic>
        <p:nvPicPr>
          <p:cNvPr id="7" name="Picture 6">
            <a:extLst>
              <a:ext uri="{FF2B5EF4-FFF2-40B4-BE49-F238E27FC236}">
                <a16:creationId xmlns:a16="http://schemas.microsoft.com/office/drawing/2014/main" id="{D4191E21-5479-48A1-F568-3EAF9719E5A7}"/>
              </a:ext>
            </a:extLst>
          </p:cNvPr>
          <p:cNvPicPr>
            <a:picLocks noChangeAspect="1"/>
          </p:cNvPicPr>
          <p:nvPr/>
        </p:nvPicPr>
        <p:blipFill>
          <a:blip r:embed="rId4"/>
          <a:stretch>
            <a:fillRect/>
          </a:stretch>
        </p:blipFill>
        <p:spPr>
          <a:xfrm>
            <a:off x="6542146" y="1659067"/>
            <a:ext cx="5649854" cy="3362384"/>
          </a:xfrm>
          <a:prstGeom prst="rect">
            <a:avLst/>
          </a:prstGeom>
        </p:spPr>
      </p:pic>
      <p:sp>
        <p:nvSpPr>
          <p:cNvPr id="8" name="Rectangle 7">
            <a:extLst>
              <a:ext uri="{FF2B5EF4-FFF2-40B4-BE49-F238E27FC236}">
                <a16:creationId xmlns:a16="http://schemas.microsoft.com/office/drawing/2014/main" id="{6E4FE196-059B-B88A-FE23-9801C074C72E}"/>
              </a:ext>
            </a:extLst>
          </p:cNvPr>
          <p:cNvSpPr/>
          <p:nvPr/>
        </p:nvSpPr>
        <p:spPr>
          <a:xfrm>
            <a:off x="6542146" y="3150030"/>
            <a:ext cx="5546532" cy="1150750"/>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31EF47-6EE3-BFDD-BAF5-0B83B964208B}"/>
              </a:ext>
            </a:extLst>
          </p:cNvPr>
          <p:cNvSpPr/>
          <p:nvPr/>
        </p:nvSpPr>
        <p:spPr>
          <a:xfrm>
            <a:off x="6580891" y="3549112"/>
            <a:ext cx="4345413" cy="201478"/>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91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EFEF-308A-5519-6DCC-BB234456889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6237D8-623F-E36F-6E87-9D12218703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751" y="283543"/>
            <a:ext cx="6086259" cy="6086259"/>
          </a:xfrm>
          <a:prstGeom prst="rect">
            <a:avLst/>
          </a:prstGeom>
        </p:spPr>
      </p:pic>
      <p:pic>
        <p:nvPicPr>
          <p:cNvPr id="7" name="Picture 6">
            <a:extLst>
              <a:ext uri="{FF2B5EF4-FFF2-40B4-BE49-F238E27FC236}">
                <a16:creationId xmlns:a16="http://schemas.microsoft.com/office/drawing/2014/main" id="{85E693FB-5DC6-FBB1-2538-9B6349E9DC48}"/>
              </a:ext>
            </a:extLst>
          </p:cNvPr>
          <p:cNvPicPr>
            <a:picLocks noChangeAspect="1"/>
          </p:cNvPicPr>
          <p:nvPr/>
        </p:nvPicPr>
        <p:blipFill>
          <a:blip r:embed="rId4"/>
          <a:stretch>
            <a:fillRect/>
          </a:stretch>
        </p:blipFill>
        <p:spPr>
          <a:xfrm>
            <a:off x="6542146" y="1659067"/>
            <a:ext cx="5649854" cy="3362384"/>
          </a:xfrm>
          <a:prstGeom prst="rect">
            <a:avLst/>
          </a:prstGeom>
        </p:spPr>
      </p:pic>
      <p:sp>
        <p:nvSpPr>
          <p:cNvPr id="3" name="Rectangle 2">
            <a:extLst>
              <a:ext uri="{FF2B5EF4-FFF2-40B4-BE49-F238E27FC236}">
                <a16:creationId xmlns:a16="http://schemas.microsoft.com/office/drawing/2014/main" id="{65CAA532-14BE-546E-5748-3BC545EDBCC7}"/>
              </a:ext>
            </a:extLst>
          </p:cNvPr>
          <p:cNvSpPr/>
          <p:nvPr/>
        </p:nvSpPr>
        <p:spPr>
          <a:xfrm>
            <a:off x="6573142" y="3711845"/>
            <a:ext cx="4531394" cy="201477"/>
          </a:xfrm>
          <a:prstGeom prst="rect">
            <a:avLst/>
          </a:prstGeom>
          <a:no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5B3FD74-C871-8983-B0CB-2620550BC8AB}"/>
              </a:ext>
            </a:extLst>
          </p:cNvPr>
          <p:cNvSpPr/>
          <p:nvPr/>
        </p:nvSpPr>
        <p:spPr>
          <a:xfrm>
            <a:off x="6542146" y="3150030"/>
            <a:ext cx="5546532" cy="1150750"/>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8901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276D-9334-2E7F-1A5F-6393B5F462D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B8AC30-DD01-1EA6-4BC0-E0B1463B571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7751" y="283543"/>
            <a:ext cx="6086259" cy="6086259"/>
          </a:xfrm>
          <a:prstGeom prst="rect">
            <a:avLst/>
          </a:prstGeom>
        </p:spPr>
      </p:pic>
      <p:pic>
        <p:nvPicPr>
          <p:cNvPr id="7" name="Picture 6">
            <a:extLst>
              <a:ext uri="{FF2B5EF4-FFF2-40B4-BE49-F238E27FC236}">
                <a16:creationId xmlns:a16="http://schemas.microsoft.com/office/drawing/2014/main" id="{6D164874-7CCE-C012-ED93-9344F5E79FB1}"/>
              </a:ext>
            </a:extLst>
          </p:cNvPr>
          <p:cNvPicPr>
            <a:picLocks noChangeAspect="1"/>
          </p:cNvPicPr>
          <p:nvPr/>
        </p:nvPicPr>
        <p:blipFill>
          <a:blip r:embed="rId4"/>
          <a:stretch>
            <a:fillRect/>
          </a:stretch>
        </p:blipFill>
        <p:spPr>
          <a:xfrm>
            <a:off x="6542146" y="1659067"/>
            <a:ext cx="5649854" cy="3362384"/>
          </a:xfrm>
          <a:prstGeom prst="rect">
            <a:avLst/>
          </a:prstGeom>
        </p:spPr>
      </p:pic>
      <p:sp>
        <p:nvSpPr>
          <p:cNvPr id="4" name="Rectangle 3">
            <a:extLst>
              <a:ext uri="{FF2B5EF4-FFF2-40B4-BE49-F238E27FC236}">
                <a16:creationId xmlns:a16="http://schemas.microsoft.com/office/drawing/2014/main" id="{0B3641A4-4870-2B77-6A7C-7915F7B0F13D}"/>
              </a:ext>
            </a:extLst>
          </p:cNvPr>
          <p:cNvSpPr/>
          <p:nvPr/>
        </p:nvSpPr>
        <p:spPr>
          <a:xfrm>
            <a:off x="6542146" y="4320146"/>
            <a:ext cx="5292103" cy="701305"/>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2133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C0CA-7138-CF78-CBD2-6BB89E0E3E87}"/>
              </a:ext>
            </a:extLst>
          </p:cNvPr>
          <p:cNvSpPr>
            <a:spLocks noGrp="1"/>
          </p:cNvSpPr>
          <p:nvPr>
            <p:ph type="title"/>
          </p:nvPr>
        </p:nvSpPr>
        <p:spPr/>
        <p:txBody>
          <a:bodyPr/>
          <a:lstStyle/>
          <a:p>
            <a:r>
              <a:rPr lang="en-US" dirty="0"/>
              <a:t>Reporting Regression Results</a:t>
            </a:r>
          </a:p>
        </p:txBody>
      </p:sp>
      <p:sp>
        <p:nvSpPr>
          <p:cNvPr id="3" name="Content Placeholder 2">
            <a:extLst>
              <a:ext uri="{FF2B5EF4-FFF2-40B4-BE49-F238E27FC236}">
                <a16:creationId xmlns:a16="http://schemas.microsoft.com/office/drawing/2014/main" id="{4BAC3EFA-7DA0-B20A-29F4-8CC11E36201D}"/>
              </a:ext>
            </a:extLst>
          </p:cNvPr>
          <p:cNvSpPr>
            <a:spLocks noGrp="1"/>
          </p:cNvSpPr>
          <p:nvPr>
            <p:ph idx="1"/>
          </p:nvPr>
        </p:nvSpPr>
        <p:spPr/>
        <p:txBody>
          <a:bodyPr/>
          <a:lstStyle/>
          <a:p>
            <a:r>
              <a:rPr lang="en-US" dirty="0"/>
              <a:t>There was a significant relationship between [independent variable] and [dependent variable] (R2 = [R2 value], F(</a:t>
            </a:r>
            <a:r>
              <a:rPr lang="en-US" dirty="0" err="1"/>
              <a:t>df</a:t>
            </a:r>
            <a:r>
              <a:rPr lang="en-US" dirty="0"/>
              <a:t> regression, </a:t>
            </a:r>
            <a:r>
              <a:rPr lang="en-US" dirty="0" err="1"/>
              <a:t>df</a:t>
            </a:r>
            <a:r>
              <a:rPr lang="en-US" dirty="0"/>
              <a:t> residual) = [F-value], p = [p-value]).</a:t>
            </a:r>
          </a:p>
          <a:p>
            <a:r>
              <a:rPr lang="en-US" dirty="0"/>
              <a:t>[independent variable] significantly predicted [dependent variable] (β = [β-value], p = [p-value]).</a:t>
            </a:r>
          </a:p>
          <a:p>
            <a:endParaRPr lang="en-US" dirty="0"/>
          </a:p>
        </p:txBody>
      </p:sp>
    </p:spTree>
    <p:extLst>
      <p:ext uri="{BB962C8B-B14F-4D97-AF65-F5344CB8AC3E}">
        <p14:creationId xmlns:p14="http://schemas.microsoft.com/office/powerpoint/2010/main" val="119034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9D690-255B-2624-3F38-3BF559DB8409}"/>
              </a:ext>
            </a:extLst>
          </p:cNvPr>
          <p:cNvSpPr>
            <a:spLocks noGrp="1"/>
          </p:cNvSpPr>
          <p:nvPr>
            <p:ph idx="1"/>
          </p:nvPr>
        </p:nvSpPr>
        <p:spPr>
          <a:xfrm>
            <a:off x="6850251" y="1524552"/>
            <a:ext cx="4905213" cy="4351338"/>
          </a:xfrm>
        </p:spPr>
        <p:txBody>
          <a:bodyPr/>
          <a:lstStyle/>
          <a:p>
            <a:pPr marL="0" indent="0" algn="ctr">
              <a:buNone/>
            </a:pPr>
            <a:r>
              <a:rPr lang="en-US" dirty="0">
                <a:solidFill>
                  <a:schemeClr val="accent5">
                    <a:lumMod val="40000"/>
                    <a:lumOff val="60000"/>
                  </a:schemeClr>
                </a:solidFill>
              </a:rPr>
              <a:t>There was a significant relationship between the length of foot and the length of the forearm (R2 = 0.386, F(1, 12) = 7.539, p = 0.018. The length of the foot significantly predicted the length of the forearm (β = 0.86, p = 0.018).</a:t>
            </a:r>
          </a:p>
          <a:p>
            <a:endParaRPr lang="en-US" dirty="0"/>
          </a:p>
        </p:txBody>
      </p:sp>
      <p:pic>
        <p:nvPicPr>
          <p:cNvPr id="4" name="Content Placeholder 4">
            <a:extLst>
              <a:ext uri="{FF2B5EF4-FFF2-40B4-BE49-F238E27FC236}">
                <a16:creationId xmlns:a16="http://schemas.microsoft.com/office/drawing/2014/main" id="{6D6B2D13-DD43-4608-3678-BF71CB1F6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253" y="291292"/>
            <a:ext cx="6086259" cy="6086259"/>
          </a:xfrm>
          <a:prstGeom prst="rect">
            <a:avLst/>
          </a:prstGeom>
        </p:spPr>
      </p:pic>
    </p:spTree>
    <p:extLst>
      <p:ext uri="{BB962C8B-B14F-4D97-AF65-F5344CB8AC3E}">
        <p14:creationId xmlns:p14="http://schemas.microsoft.com/office/powerpoint/2010/main" val="770405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DFCD-7702-5991-4442-3FD9F8CEEB60}"/>
              </a:ext>
            </a:extLst>
          </p:cNvPr>
          <p:cNvSpPr>
            <a:spLocks noGrp="1"/>
          </p:cNvSpPr>
          <p:nvPr>
            <p:ph type="title"/>
          </p:nvPr>
        </p:nvSpPr>
        <p:spPr/>
        <p:txBody>
          <a:bodyPr/>
          <a:lstStyle/>
          <a:p>
            <a:r>
              <a:rPr lang="en-US" dirty="0"/>
              <a:t>Switch to ze code!</a:t>
            </a:r>
          </a:p>
        </p:txBody>
      </p:sp>
      <p:sp>
        <p:nvSpPr>
          <p:cNvPr id="3" name="Content Placeholder 2">
            <a:extLst>
              <a:ext uri="{FF2B5EF4-FFF2-40B4-BE49-F238E27FC236}">
                <a16:creationId xmlns:a16="http://schemas.microsoft.com/office/drawing/2014/main" id="{63584F97-1053-EF61-7EFF-6DB517AD4D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34844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28711-5B1D-3C28-EC45-06B96A1AE460}"/>
              </a:ext>
            </a:extLst>
          </p:cNvPr>
          <p:cNvSpPr>
            <a:spLocks noGrp="1"/>
          </p:cNvSpPr>
          <p:nvPr>
            <p:ph type="title"/>
          </p:nvPr>
        </p:nvSpPr>
        <p:spPr>
          <a:xfrm>
            <a:off x="838200" y="2766218"/>
            <a:ext cx="10515600" cy="1325563"/>
          </a:xfrm>
        </p:spPr>
        <p:txBody>
          <a:bodyPr/>
          <a:lstStyle/>
          <a:p>
            <a:pPr algn="ctr"/>
            <a:r>
              <a:rPr lang="en-US" dirty="0"/>
              <a:t>TODAY! </a:t>
            </a:r>
            <a:br>
              <a:rPr lang="en-US" dirty="0"/>
            </a:br>
            <a:r>
              <a:rPr lang="en-US" dirty="0"/>
              <a:t>More Giant Sea Bass</a:t>
            </a:r>
          </a:p>
        </p:txBody>
      </p:sp>
    </p:spTree>
    <p:extLst>
      <p:ext uri="{BB962C8B-B14F-4D97-AF65-F5344CB8AC3E}">
        <p14:creationId xmlns:p14="http://schemas.microsoft.com/office/powerpoint/2010/main" val="193414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Trophic Ecology</a:t>
            </a:r>
          </a:p>
        </p:txBody>
      </p:sp>
      <p:sp>
        <p:nvSpPr>
          <p:cNvPr id="3" name="Content Placeholder 2"/>
          <p:cNvSpPr>
            <a:spLocks noGrp="1"/>
          </p:cNvSpPr>
          <p:nvPr>
            <p:ph idx="1"/>
          </p:nvPr>
        </p:nvSpPr>
        <p:spPr/>
        <p:txBody>
          <a:bodyPr/>
          <a:lstStyle/>
          <a:p>
            <a:r>
              <a:rPr lang="en-US" dirty="0"/>
              <a:t>Understand how recovery might impact ecosystem dynamics</a:t>
            </a:r>
          </a:p>
          <a:p>
            <a:pPr lvl="1"/>
            <a:r>
              <a:rPr lang="en-US" dirty="0"/>
              <a:t>Predators can have disproportionate influence </a:t>
            </a:r>
            <a:r>
              <a:rPr lang="en-US" sz="1800" dirty="0"/>
              <a:t>(e.g. Donohue et al. 2017)</a:t>
            </a:r>
            <a:endParaRPr lang="en-US" sz="1800" b="1" dirty="0"/>
          </a:p>
        </p:txBody>
      </p:sp>
      <p:pic>
        <p:nvPicPr>
          <p:cNvPr id="5" name="2015-11-03 BSB vs Lobster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16888" r="9528"/>
          <a:stretch/>
        </p:blipFill>
        <p:spPr>
          <a:xfrm>
            <a:off x="3807022" y="3181338"/>
            <a:ext cx="4547428" cy="3476124"/>
          </a:xfrm>
          <a:prstGeom prst="rect">
            <a:avLst/>
          </a:prstGeom>
        </p:spPr>
      </p:pic>
      <p:sp>
        <p:nvSpPr>
          <p:cNvPr id="6" name="TextBox 5"/>
          <p:cNvSpPr txBox="1"/>
          <p:nvPr/>
        </p:nvSpPr>
        <p:spPr>
          <a:xfrm>
            <a:off x="7619609" y="6490471"/>
            <a:ext cx="1335979" cy="215444"/>
          </a:xfrm>
          <a:prstGeom prst="rect">
            <a:avLst/>
          </a:prstGeom>
          <a:noFill/>
        </p:spPr>
        <p:txBody>
          <a:bodyPr wrap="square" rtlCol="0">
            <a:spAutoFit/>
          </a:bodyPr>
          <a:lstStyle/>
          <a:p>
            <a:r>
              <a:rPr lang="en-US" sz="800" dirty="0"/>
              <a:t>Roger Carlson</a:t>
            </a:r>
          </a:p>
        </p:txBody>
      </p:sp>
    </p:spTree>
    <p:extLst>
      <p:ext uri="{BB962C8B-B14F-4D97-AF65-F5344CB8AC3E}">
        <p14:creationId xmlns:p14="http://schemas.microsoft.com/office/powerpoint/2010/main" val="370258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01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mute="1">
                <p:cTn id="12" repeatCount="indefinite"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621" y="32465"/>
            <a:ext cx="10515600" cy="1325563"/>
          </a:xfrm>
        </p:spPr>
        <p:txBody>
          <a:bodyPr/>
          <a:lstStyle/>
          <a:p>
            <a:r>
              <a:rPr lang="en-US" dirty="0"/>
              <a:t>Stable Isotope Analysis</a:t>
            </a:r>
          </a:p>
        </p:txBody>
      </p:sp>
      <p:sp>
        <p:nvSpPr>
          <p:cNvPr id="4" name="Rectangle 3"/>
          <p:cNvSpPr/>
          <p:nvPr/>
        </p:nvSpPr>
        <p:spPr>
          <a:xfrm>
            <a:off x="209315" y="1498293"/>
            <a:ext cx="3833870" cy="5144877"/>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a:spLocks noGrp="1"/>
          </p:cNvSpPr>
          <p:nvPr>
            <p:ph idx="1"/>
          </p:nvPr>
        </p:nvSpPr>
        <p:spPr>
          <a:xfrm>
            <a:off x="521857" y="1789841"/>
            <a:ext cx="3208786" cy="468618"/>
          </a:xfrm>
        </p:spPr>
        <p:txBody>
          <a:bodyPr>
            <a:normAutofit fontScale="85000" lnSpcReduction="10000"/>
          </a:bodyPr>
          <a:lstStyle/>
          <a:p>
            <a:pPr marL="0" indent="0" algn="ctr">
              <a:buNone/>
            </a:pPr>
            <a:r>
              <a:rPr lang="en-US" b="1" dirty="0"/>
              <a:t>Bulk Stable Isotopes</a:t>
            </a:r>
          </a:p>
        </p:txBody>
      </p:sp>
      <p:pic>
        <p:nvPicPr>
          <p:cNvPr id="28" name="Picture 2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850418" y="2258459"/>
            <a:ext cx="2908453" cy="1582513"/>
          </a:xfrm>
          <a:prstGeom prst="rect">
            <a:avLst/>
          </a:prstGeom>
        </p:spPr>
      </p:pic>
      <p:pic>
        <p:nvPicPr>
          <p:cNvPr id="31" name="Picture 30"/>
          <p:cNvPicPr>
            <a:picLocks noChangeAspect="1"/>
          </p:cNvPicPr>
          <p:nvPr/>
        </p:nvPicPr>
        <p:blipFill rotWithShape="1">
          <a:blip r:embed="rId5"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1223759" y="3943410"/>
            <a:ext cx="2058972" cy="1120303"/>
          </a:xfrm>
          <a:prstGeom prst="rect">
            <a:avLst/>
          </a:prstGeom>
        </p:spPr>
      </p:pic>
      <p:pic>
        <p:nvPicPr>
          <p:cNvPr id="22" name="Picture 21"/>
          <p:cNvPicPr>
            <a:picLocks noChangeAspect="1"/>
          </p:cNvPicPr>
          <p:nvPr/>
        </p:nvPicPr>
        <p:blipFill rotWithShape="1">
          <a:blip r:embed="rId6"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foregroundMark x1="20592" y1="40927" x2="20592" y2="40927"/>
                        <a14:backgroundMark x1="38089" y1="34476" x2="38089" y2="34476"/>
                        <a14:backgroundMark x1="53163" y1="38306" x2="53163" y2="38306"/>
                        <a14:backgroundMark x1="57739" y1="35081" x2="57739" y2="35081"/>
                      </a14:backgroundRemoval>
                    </a14:imgEffect>
                  </a14:imgLayer>
                </a14:imgProps>
              </a:ext>
              <a:ext uri="{28A0092B-C50C-407E-A947-70E740481C1C}">
                <a14:useLocalDpi xmlns:a14="http://schemas.microsoft.com/office/drawing/2010/main" val="0"/>
              </a:ext>
            </a:extLst>
          </a:blip>
          <a:srcRect l="17064" t="26789" r="34072" b="33404"/>
          <a:stretch/>
        </p:blipFill>
        <p:spPr>
          <a:xfrm>
            <a:off x="1431515" y="5382480"/>
            <a:ext cx="1508185" cy="820615"/>
          </a:xfrm>
          <a:prstGeom prst="rect">
            <a:avLst/>
          </a:prstGeom>
        </p:spPr>
      </p:pic>
      <p:cxnSp>
        <p:nvCxnSpPr>
          <p:cNvPr id="11" name="Straight Arrow Connector 10"/>
          <p:cNvCxnSpPr/>
          <p:nvPr/>
        </p:nvCxnSpPr>
        <p:spPr>
          <a:xfrm flipH="1" flipV="1">
            <a:off x="5781526" y="1507812"/>
            <a:ext cx="26196" cy="48037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785688" y="6300508"/>
            <a:ext cx="4922707" cy="110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3" name="8-Point Star 62"/>
          <p:cNvSpPr/>
          <p:nvPr/>
        </p:nvSpPr>
        <p:spPr>
          <a:xfrm>
            <a:off x="374912" y="4601138"/>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15</a:t>
            </a:r>
            <a:r>
              <a:rPr lang="en-US" dirty="0"/>
              <a:t>N</a:t>
            </a:r>
          </a:p>
        </p:txBody>
      </p:sp>
      <p:sp>
        <p:nvSpPr>
          <p:cNvPr id="64" name="8-Point Star 63"/>
          <p:cNvSpPr/>
          <p:nvPr/>
        </p:nvSpPr>
        <p:spPr>
          <a:xfrm>
            <a:off x="2993609" y="3713964"/>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13</a:t>
            </a:r>
            <a:r>
              <a:rPr lang="en-US" dirty="0"/>
              <a:t>C</a:t>
            </a:r>
          </a:p>
        </p:txBody>
      </p:sp>
      <p:pic>
        <p:nvPicPr>
          <p:cNvPr id="17" name="Picture 2" descr="Giant Kelp (Macrocystis pyrifera) - San Clemente Island - … | Flick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50780" y="5026281"/>
            <a:ext cx="1418353" cy="10637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Image result for phytoplankton"/>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 r="25181"/>
          <a:stretch/>
        </p:blipFill>
        <p:spPr bwMode="auto">
          <a:xfrm>
            <a:off x="5994592" y="5024648"/>
            <a:ext cx="1594240" cy="1065399"/>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p:cNvCxnSpPr/>
          <p:nvPr/>
        </p:nvCxnSpPr>
        <p:spPr>
          <a:xfrm>
            <a:off x="8325853" y="2634532"/>
            <a:ext cx="12946" cy="2239672"/>
          </a:xfrm>
          <a:prstGeom prst="straightConnector1">
            <a:avLst/>
          </a:prstGeom>
          <a:ln w="76200">
            <a:solidFill>
              <a:schemeClr val="tx1">
                <a:lumMod val="9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6852232" y="675311"/>
            <a:ext cx="3160194" cy="2018181"/>
          </a:xfrm>
          <a:prstGeom prst="rect">
            <a:avLst/>
          </a:prstGeom>
        </p:spPr>
      </p:pic>
      <p:sp>
        <p:nvSpPr>
          <p:cNvPr id="21" name="TextBox 20"/>
          <p:cNvSpPr txBox="1"/>
          <p:nvPr/>
        </p:nvSpPr>
        <p:spPr>
          <a:xfrm>
            <a:off x="4876800" y="3490083"/>
            <a:ext cx="904726" cy="523220"/>
          </a:xfrm>
          <a:prstGeom prst="rect">
            <a:avLst/>
          </a:prstGeom>
          <a:noFill/>
        </p:spPr>
        <p:txBody>
          <a:bodyPr wrap="square" rtlCol="0">
            <a:spAutoFit/>
          </a:bodyPr>
          <a:lstStyle/>
          <a:p>
            <a:r>
              <a:rPr lang="el-GR" sz="2800" dirty="0"/>
              <a:t>δ</a:t>
            </a:r>
            <a:r>
              <a:rPr lang="en-US" sz="2800" baseline="30000" dirty="0"/>
              <a:t>15</a:t>
            </a:r>
            <a:r>
              <a:rPr lang="en-US" sz="2800" dirty="0"/>
              <a:t>N</a:t>
            </a:r>
          </a:p>
        </p:txBody>
      </p:sp>
      <p:sp>
        <p:nvSpPr>
          <p:cNvPr id="23" name="TextBox 22"/>
          <p:cNvSpPr txBox="1"/>
          <p:nvPr/>
        </p:nvSpPr>
        <p:spPr>
          <a:xfrm>
            <a:off x="7886912" y="6381560"/>
            <a:ext cx="926888" cy="523220"/>
          </a:xfrm>
          <a:prstGeom prst="rect">
            <a:avLst/>
          </a:prstGeom>
          <a:noFill/>
        </p:spPr>
        <p:txBody>
          <a:bodyPr wrap="square" rtlCol="0">
            <a:spAutoFit/>
          </a:bodyPr>
          <a:lstStyle/>
          <a:p>
            <a:r>
              <a:rPr lang="el-GR" sz="2800" dirty="0"/>
              <a:t>δ</a:t>
            </a:r>
            <a:r>
              <a:rPr lang="en-US" sz="2800" baseline="30000" dirty="0"/>
              <a:t>13</a:t>
            </a:r>
            <a:r>
              <a:rPr lang="en-US" sz="2800" dirty="0"/>
              <a:t>C</a:t>
            </a:r>
          </a:p>
        </p:txBody>
      </p:sp>
    </p:spTree>
    <p:extLst>
      <p:ext uri="{BB962C8B-B14F-4D97-AF65-F5344CB8AC3E}">
        <p14:creationId xmlns:p14="http://schemas.microsoft.com/office/powerpoint/2010/main" val="470379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621" y="32465"/>
            <a:ext cx="10515600" cy="1325563"/>
          </a:xfrm>
        </p:spPr>
        <p:txBody>
          <a:bodyPr/>
          <a:lstStyle/>
          <a:p>
            <a:r>
              <a:rPr lang="en-US" dirty="0"/>
              <a:t>Stable Isotope Analysis</a:t>
            </a:r>
          </a:p>
        </p:txBody>
      </p:sp>
      <p:sp>
        <p:nvSpPr>
          <p:cNvPr id="4" name="Rectangle 3"/>
          <p:cNvSpPr/>
          <p:nvPr/>
        </p:nvSpPr>
        <p:spPr>
          <a:xfrm>
            <a:off x="209315" y="1498293"/>
            <a:ext cx="3833870" cy="5144877"/>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a:spLocks noGrp="1"/>
          </p:cNvSpPr>
          <p:nvPr>
            <p:ph idx="1"/>
          </p:nvPr>
        </p:nvSpPr>
        <p:spPr>
          <a:xfrm>
            <a:off x="521857" y="1789841"/>
            <a:ext cx="3208786" cy="468618"/>
          </a:xfrm>
        </p:spPr>
        <p:txBody>
          <a:bodyPr>
            <a:normAutofit fontScale="85000" lnSpcReduction="10000"/>
          </a:bodyPr>
          <a:lstStyle/>
          <a:p>
            <a:pPr marL="0" indent="0" algn="ctr">
              <a:buNone/>
            </a:pPr>
            <a:r>
              <a:rPr lang="en-US" b="1" dirty="0"/>
              <a:t>Bulk Stable Isotopes</a:t>
            </a:r>
          </a:p>
        </p:txBody>
      </p:sp>
      <p:pic>
        <p:nvPicPr>
          <p:cNvPr id="28" name="Picture 2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850418" y="2258459"/>
            <a:ext cx="2908453" cy="1582513"/>
          </a:xfrm>
          <a:prstGeom prst="rect">
            <a:avLst/>
          </a:prstGeom>
        </p:spPr>
      </p:pic>
      <p:pic>
        <p:nvPicPr>
          <p:cNvPr id="31" name="Picture 30"/>
          <p:cNvPicPr>
            <a:picLocks noChangeAspect="1"/>
          </p:cNvPicPr>
          <p:nvPr/>
        </p:nvPicPr>
        <p:blipFill rotWithShape="1">
          <a:blip r:embed="rId5"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1223759" y="3943410"/>
            <a:ext cx="2058972" cy="1120303"/>
          </a:xfrm>
          <a:prstGeom prst="rect">
            <a:avLst/>
          </a:prstGeom>
        </p:spPr>
      </p:pic>
      <p:pic>
        <p:nvPicPr>
          <p:cNvPr id="22" name="Picture 21"/>
          <p:cNvPicPr>
            <a:picLocks noChangeAspect="1"/>
          </p:cNvPicPr>
          <p:nvPr/>
        </p:nvPicPr>
        <p:blipFill rotWithShape="1">
          <a:blip r:embed="rId6"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foregroundMark x1="20592" y1="40927" x2="20592" y2="40927"/>
                        <a14:backgroundMark x1="38089" y1="34476" x2="38089" y2="34476"/>
                        <a14:backgroundMark x1="53163" y1="38306" x2="53163" y2="38306"/>
                        <a14:backgroundMark x1="57739" y1="35081" x2="57739" y2="35081"/>
                      </a14:backgroundRemoval>
                    </a14:imgEffect>
                  </a14:imgLayer>
                </a14:imgProps>
              </a:ext>
              <a:ext uri="{28A0092B-C50C-407E-A947-70E740481C1C}">
                <a14:useLocalDpi xmlns:a14="http://schemas.microsoft.com/office/drawing/2010/main" val="0"/>
              </a:ext>
            </a:extLst>
          </a:blip>
          <a:srcRect l="17064" t="26789" r="34072" b="33404"/>
          <a:stretch/>
        </p:blipFill>
        <p:spPr>
          <a:xfrm>
            <a:off x="1431515" y="5382480"/>
            <a:ext cx="1508185" cy="820615"/>
          </a:xfrm>
          <a:prstGeom prst="rect">
            <a:avLst/>
          </a:prstGeom>
        </p:spPr>
      </p:pic>
      <p:cxnSp>
        <p:nvCxnSpPr>
          <p:cNvPr id="11" name="Straight Arrow Connector 10"/>
          <p:cNvCxnSpPr/>
          <p:nvPr/>
        </p:nvCxnSpPr>
        <p:spPr>
          <a:xfrm flipH="1" flipV="1">
            <a:off x="5781526" y="1507812"/>
            <a:ext cx="26196" cy="48037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785688" y="6300508"/>
            <a:ext cx="4922707" cy="110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3" name="8-Point Star 62"/>
          <p:cNvSpPr/>
          <p:nvPr/>
        </p:nvSpPr>
        <p:spPr>
          <a:xfrm>
            <a:off x="374912" y="4601138"/>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15</a:t>
            </a:r>
            <a:r>
              <a:rPr lang="en-US" dirty="0"/>
              <a:t>N</a:t>
            </a:r>
          </a:p>
        </p:txBody>
      </p:sp>
      <p:sp>
        <p:nvSpPr>
          <p:cNvPr id="64" name="8-Point Star 63"/>
          <p:cNvSpPr/>
          <p:nvPr/>
        </p:nvSpPr>
        <p:spPr>
          <a:xfrm>
            <a:off x="2993609" y="3713964"/>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13</a:t>
            </a:r>
            <a:r>
              <a:rPr lang="en-US" dirty="0"/>
              <a:t>C</a:t>
            </a:r>
          </a:p>
        </p:txBody>
      </p:sp>
      <p:pic>
        <p:nvPicPr>
          <p:cNvPr id="17" name="Picture 2" descr="Giant Kelp (Macrocystis pyrifera) - San Clemente Island - … | Flick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50780" y="5026281"/>
            <a:ext cx="1418353" cy="10637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Image result for phytoplankton"/>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 r="25181"/>
          <a:stretch/>
        </p:blipFill>
        <p:spPr bwMode="auto">
          <a:xfrm>
            <a:off x="5994592" y="5024648"/>
            <a:ext cx="1594240" cy="106539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p:cNvSpPr txBox="1"/>
          <p:nvPr/>
        </p:nvSpPr>
        <p:spPr>
          <a:xfrm>
            <a:off x="4876800" y="3490083"/>
            <a:ext cx="904726" cy="523220"/>
          </a:xfrm>
          <a:prstGeom prst="rect">
            <a:avLst/>
          </a:prstGeom>
          <a:noFill/>
        </p:spPr>
        <p:txBody>
          <a:bodyPr wrap="square" rtlCol="0">
            <a:spAutoFit/>
          </a:bodyPr>
          <a:lstStyle/>
          <a:p>
            <a:r>
              <a:rPr lang="el-GR" sz="2800" dirty="0"/>
              <a:t>δ</a:t>
            </a:r>
            <a:r>
              <a:rPr lang="en-US" sz="2800" baseline="30000" dirty="0"/>
              <a:t>15</a:t>
            </a:r>
            <a:r>
              <a:rPr lang="en-US" sz="2800" dirty="0"/>
              <a:t>N</a:t>
            </a:r>
          </a:p>
        </p:txBody>
      </p:sp>
      <p:sp>
        <p:nvSpPr>
          <p:cNvPr id="49" name="TextBox 48"/>
          <p:cNvSpPr txBox="1"/>
          <p:nvPr/>
        </p:nvSpPr>
        <p:spPr>
          <a:xfrm>
            <a:off x="7886912" y="6381560"/>
            <a:ext cx="926888" cy="523220"/>
          </a:xfrm>
          <a:prstGeom prst="rect">
            <a:avLst/>
          </a:prstGeom>
          <a:noFill/>
        </p:spPr>
        <p:txBody>
          <a:bodyPr wrap="square" rtlCol="0">
            <a:spAutoFit/>
          </a:bodyPr>
          <a:lstStyle/>
          <a:p>
            <a:r>
              <a:rPr lang="el-GR" sz="2800" dirty="0"/>
              <a:t>δ</a:t>
            </a:r>
            <a:r>
              <a:rPr lang="en-US" sz="2800" baseline="30000" dirty="0"/>
              <a:t>13</a:t>
            </a:r>
            <a:r>
              <a:rPr lang="en-US" sz="2800" dirty="0"/>
              <a:t>C</a:t>
            </a:r>
          </a:p>
        </p:txBody>
      </p:sp>
      <p:pic>
        <p:nvPicPr>
          <p:cNvPr id="57" name="Picture 56"/>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foregroundMark x1="55090" y1="48060" x2="55090" y2="48060"/>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6095421" y="2490480"/>
            <a:ext cx="1565241" cy="999603"/>
          </a:xfrm>
          <a:prstGeom prst="rect">
            <a:avLst/>
          </a:prstGeom>
        </p:spPr>
      </p:pic>
      <p:pic>
        <p:nvPicPr>
          <p:cNvPr id="58" name="Picture 57"/>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foregroundMark x1="54491" y1="47463" x2="54491" y2="47463"/>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098795" y="1338472"/>
            <a:ext cx="1565241" cy="999603"/>
          </a:xfrm>
          <a:prstGeom prst="rect">
            <a:avLst/>
          </a:prstGeom>
        </p:spPr>
      </p:pic>
    </p:spTree>
    <p:extLst>
      <p:ext uri="{BB962C8B-B14F-4D97-AF65-F5344CB8AC3E}">
        <p14:creationId xmlns:p14="http://schemas.microsoft.com/office/powerpoint/2010/main" val="1890347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621" y="32465"/>
            <a:ext cx="10515600" cy="1325563"/>
          </a:xfrm>
        </p:spPr>
        <p:txBody>
          <a:bodyPr/>
          <a:lstStyle/>
          <a:p>
            <a:r>
              <a:rPr lang="en-US" dirty="0"/>
              <a:t>Stable Isotope Analysis</a:t>
            </a:r>
          </a:p>
        </p:txBody>
      </p:sp>
      <p:sp>
        <p:nvSpPr>
          <p:cNvPr id="4" name="Rectangle 3"/>
          <p:cNvSpPr/>
          <p:nvPr/>
        </p:nvSpPr>
        <p:spPr>
          <a:xfrm>
            <a:off x="209315" y="1498293"/>
            <a:ext cx="3833870" cy="5144877"/>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a:spLocks noGrp="1"/>
          </p:cNvSpPr>
          <p:nvPr>
            <p:ph idx="1"/>
          </p:nvPr>
        </p:nvSpPr>
        <p:spPr>
          <a:xfrm>
            <a:off x="521857" y="1789841"/>
            <a:ext cx="3208786" cy="468618"/>
          </a:xfrm>
        </p:spPr>
        <p:txBody>
          <a:bodyPr>
            <a:normAutofit fontScale="85000" lnSpcReduction="10000"/>
          </a:bodyPr>
          <a:lstStyle/>
          <a:p>
            <a:pPr marL="0" indent="0" algn="ctr">
              <a:buNone/>
            </a:pPr>
            <a:r>
              <a:rPr lang="en-US" b="1" dirty="0"/>
              <a:t>Bulk Stable Isotopes</a:t>
            </a:r>
          </a:p>
        </p:txBody>
      </p:sp>
      <p:pic>
        <p:nvPicPr>
          <p:cNvPr id="28" name="Picture 2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850418" y="2258459"/>
            <a:ext cx="2908453" cy="1582513"/>
          </a:xfrm>
          <a:prstGeom prst="rect">
            <a:avLst/>
          </a:prstGeom>
        </p:spPr>
      </p:pic>
      <p:pic>
        <p:nvPicPr>
          <p:cNvPr id="31" name="Picture 30"/>
          <p:cNvPicPr>
            <a:picLocks noChangeAspect="1"/>
          </p:cNvPicPr>
          <p:nvPr/>
        </p:nvPicPr>
        <p:blipFill rotWithShape="1">
          <a:blip r:embed="rId5"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1223759" y="3943410"/>
            <a:ext cx="2058972" cy="1120303"/>
          </a:xfrm>
          <a:prstGeom prst="rect">
            <a:avLst/>
          </a:prstGeom>
        </p:spPr>
      </p:pic>
      <p:pic>
        <p:nvPicPr>
          <p:cNvPr id="22" name="Picture 21"/>
          <p:cNvPicPr>
            <a:picLocks noChangeAspect="1"/>
          </p:cNvPicPr>
          <p:nvPr/>
        </p:nvPicPr>
        <p:blipFill rotWithShape="1">
          <a:blip r:embed="rId6"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foregroundMark x1="20592" y1="40927" x2="20592" y2="40927"/>
                        <a14:backgroundMark x1="38089" y1="34476" x2="38089" y2="34476"/>
                        <a14:backgroundMark x1="53163" y1="38306" x2="53163" y2="38306"/>
                        <a14:backgroundMark x1="57739" y1="35081" x2="57739" y2="35081"/>
                      </a14:backgroundRemoval>
                    </a14:imgEffect>
                  </a14:imgLayer>
                </a14:imgProps>
              </a:ext>
              <a:ext uri="{28A0092B-C50C-407E-A947-70E740481C1C}">
                <a14:useLocalDpi xmlns:a14="http://schemas.microsoft.com/office/drawing/2010/main" val="0"/>
              </a:ext>
            </a:extLst>
          </a:blip>
          <a:srcRect l="17064" t="26789" r="34072" b="33404"/>
          <a:stretch/>
        </p:blipFill>
        <p:spPr>
          <a:xfrm>
            <a:off x="1431515" y="5382480"/>
            <a:ext cx="1508185" cy="820615"/>
          </a:xfrm>
          <a:prstGeom prst="rect">
            <a:avLst/>
          </a:prstGeom>
        </p:spPr>
      </p:pic>
      <p:cxnSp>
        <p:nvCxnSpPr>
          <p:cNvPr id="11" name="Straight Arrow Connector 10"/>
          <p:cNvCxnSpPr/>
          <p:nvPr/>
        </p:nvCxnSpPr>
        <p:spPr>
          <a:xfrm flipH="1" flipV="1">
            <a:off x="5781526" y="1507812"/>
            <a:ext cx="26196" cy="48037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785688" y="6300508"/>
            <a:ext cx="4922707" cy="110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3" name="8-Point Star 62"/>
          <p:cNvSpPr/>
          <p:nvPr/>
        </p:nvSpPr>
        <p:spPr>
          <a:xfrm>
            <a:off x="374912" y="4601138"/>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15</a:t>
            </a:r>
            <a:r>
              <a:rPr lang="en-US" dirty="0"/>
              <a:t>N</a:t>
            </a:r>
          </a:p>
        </p:txBody>
      </p:sp>
      <p:sp>
        <p:nvSpPr>
          <p:cNvPr id="64" name="8-Point Star 63"/>
          <p:cNvSpPr/>
          <p:nvPr/>
        </p:nvSpPr>
        <p:spPr>
          <a:xfrm>
            <a:off x="2993609" y="3713964"/>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13</a:t>
            </a:r>
            <a:r>
              <a:rPr lang="en-US" dirty="0"/>
              <a:t>C</a:t>
            </a:r>
          </a:p>
        </p:txBody>
      </p:sp>
      <p:pic>
        <p:nvPicPr>
          <p:cNvPr id="17" name="Picture 2" descr="Giant Kelp (Macrocystis pyrifera) - San Clemente Island - … | Flick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50780" y="5026281"/>
            <a:ext cx="1418353" cy="10637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Image result for phytoplankton"/>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 r="25181"/>
          <a:stretch/>
        </p:blipFill>
        <p:spPr bwMode="auto">
          <a:xfrm>
            <a:off x="5994592" y="5024648"/>
            <a:ext cx="1594240" cy="106539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p:cNvSpPr txBox="1"/>
          <p:nvPr/>
        </p:nvSpPr>
        <p:spPr>
          <a:xfrm>
            <a:off x="4876800" y="3490083"/>
            <a:ext cx="904726" cy="523220"/>
          </a:xfrm>
          <a:prstGeom prst="rect">
            <a:avLst/>
          </a:prstGeom>
          <a:noFill/>
        </p:spPr>
        <p:txBody>
          <a:bodyPr wrap="square" rtlCol="0">
            <a:spAutoFit/>
          </a:bodyPr>
          <a:lstStyle/>
          <a:p>
            <a:r>
              <a:rPr lang="el-GR" sz="2800" dirty="0"/>
              <a:t>δ</a:t>
            </a:r>
            <a:r>
              <a:rPr lang="en-US" sz="2800" baseline="30000" dirty="0"/>
              <a:t>15</a:t>
            </a:r>
            <a:r>
              <a:rPr lang="en-US" sz="2800" dirty="0"/>
              <a:t>N</a:t>
            </a:r>
          </a:p>
        </p:txBody>
      </p:sp>
      <p:sp>
        <p:nvSpPr>
          <p:cNvPr id="49" name="TextBox 48"/>
          <p:cNvSpPr txBox="1"/>
          <p:nvPr/>
        </p:nvSpPr>
        <p:spPr>
          <a:xfrm>
            <a:off x="7886912" y="6381560"/>
            <a:ext cx="926888" cy="523220"/>
          </a:xfrm>
          <a:prstGeom prst="rect">
            <a:avLst/>
          </a:prstGeom>
          <a:noFill/>
        </p:spPr>
        <p:txBody>
          <a:bodyPr wrap="square" rtlCol="0">
            <a:spAutoFit/>
          </a:bodyPr>
          <a:lstStyle/>
          <a:p>
            <a:r>
              <a:rPr lang="el-GR" sz="2800" dirty="0"/>
              <a:t>δ</a:t>
            </a:r>
            <a:r>
              <a:rPr lang="en-US" sz="2800" baseline="30000" dirty="0"/>
              <a:t>13</a:t>
            </a:r>
            <a:r>
              <a:rPr lang="en-US" sz="2800" dirty="0"/>
              <a:t>C</a:t>
            </a:r>
          </a:p>
        </p:txBody>
      </p:sp>
      <p:pic>
        <p:nvPicPr>
          <p:cNvPr id="19" name="Picture 2" descr="Wavy Turban Snail | California Sea Grant"/>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48844" y="3777912"/>
            <a:ext cx="1037907" cy="103790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6" descr="Spiny, Slipper, Regal and Rock: The Secret Lives of Lobsters | Scuba Diving  News, Gear, Education | Dive Training Magazin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156247" y="2454171"/>
            <a:ext cx="1423102" cy="117761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2" descr="Recreational razor clamming open from Coquille River to California border |  Local News | theworldlink.com"/>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40427" y="3825197"/>
            <a:ext cx="1172891" cy="87966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p:cNvPicPr>
            <a:picLocks noChangeAspect="1"/>
          </p:cNvPicPr>
          <p:nvPr/>
        </p:nvPicPr>
        <p:blipFill rotWithShape="1">
          <a:blip r:embed="rId12" cstate="print">
            <a:extLst>
              <a:ext uri="{BEBA8EAE-BF5A-486C-A8C5-ECC9F3942E4B}">
                <a14:imgProps xmlns:a14="http://schemas.microsoft.com/office/drawing/2010/main">
                  <a14:imgLayer r:embed="rId13">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foregroundMark x1="55090" y1="48060" x2="55090" y2="48060"/>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6095421" y="2490480"/>
            <a:ext cx="1565241" cy="999603"/>
          </a:xfrm>
          <a:prstGeom prst="rect">
            <a:avLst/>
          </a:prstGeom>
        </p:spPr>
      </p:pic>
      <p:pic>
        <p:nvPicPr>
          <p:cNvPr id="26" name="Picture 25"/>
          <p:cNvPicPr>
            <a:picLocks noChangeAspect="1"/>
          </p:cNvPicPr>
          <p:nvPr/>
        </p:nvPicPr>
        <p:blipFill rotWithShape="1">
          <a:blip r:embed="rId12" cstate="print">
            <a:extLst>
              <a:ext uri="{BEBA8EAE-BF5A-486C-A8C5-ECC9F3942E4B}">
                <a14:imgProps xmlns:a14="http://schemas.microsoft.com/office/drawing/2010/main">
                  <a14:imgLayer r:embed="rId13">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foregroundMark x1="54491" y1="47463" x2="54491" y2="47463"/>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098795" y="1338472"/>
            <a:ext cx="1565241" cy="999603"/>
          </a:xfrm>
          <a:prstGeom prst="rect">
            <a:avLst/>
          </a:prstGeom>
        </p:spPr>
      </p:pic>
    </p:spTree>
    <p:extLst>
      <p:ext uri="{BB962C8B-B14F-4D97-AF65-F5344CB8AC3E}">
        <p14:creationId xmlns:p14="http://schemas.microsoft.com/office/powerpoint/2010/main" val="1190782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621" y="32465"/>
            <a:ext cx="10515600" cy="1325563"/>
          </a:xfrm>
        </p:spPr>
        <p:txBody>
          <a:bodyPr/>
          <a:lstStyle/>
          <a:p>
            <a:r>
              <a:rPr lang="en-US" dirty="0"/>
              <a:t>Stable Isotope Analysis</a:t>
            </a:r>
          </a:p>
        </p:txBody>
      </p:sp>
      <p:sp>
        <p:nvSpPr>
          <p:cNvPr id="4" name="Rectangle 3"/>
          <p:cNvSpPr/>
          <p:nvPr/>
        </p:nvSpPr>
        <p:spPr>
          <a:xfrm>
            <a:off x="209315" y="1498293"/>
            <a:ext cx="3833870" cy="5144877"/>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a:spLocks noGrp="1"/>
          </p:cNvSpPr>
          <p:nvPr>
            <p:ph idx="1"/>
          </p:nvPr>
        </p:nvSpPr>
        <p:spPr>
          <a:xfrm>
            <a:off x="521857" y="1789841"/>
            <a:ext cx="3208786" cy="468618"/>
          </a:xfrm>
        </p:spPr>
        <p:txBody>
          <a:bodyPr>
            <a:normAutofit fontScale="85000" lnSpcReduction="10000"/>
          </a:bodyPr>
          <a:lstStyle/>
          <a:p>
            <a:pPr marL="0" indent="0" algn="ctr">
              <a:buNone/>
            </a:pPr>
            <a:r>
              <a:rPr lang="en-US" b="1" dirty="0"/>
              <a:t>Bulk Stable Isotopes</a:t>
            </a:r>
          </a:p>
        </p:txBody>
      </p:sp>
      <p:pic>
        <p:nvPicPr>
          <p:cNvPr id="28" name="Picture 27"/>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850418" y="2258459"/>
            <a:ext cx="2908453" cy="1582513"/>
          </a:xfrm>
          <a:prstGeom prst="rect">
            <a:avLst/>
          </a:prstGeom>
        </p:spPr>
      </p:pic>
      <p:pic>
        <p:nvPicPr>
          <p:cNvPr id="31" name="Picture 30"/>
          <p:cNvPicPr>
            <a:picLocks noChangeAspect="1"/>
          </p:cNvPicPr>
          <p:nvPr/>
        </p:nvPicPr>
        <p:blipFill rotWithShape="1">
          <a:blip r:embed="rId5"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backgroundRemoval>
                    </a14:imgEffect>
                  </a14:imgLayer>
                </a14:imgProps>
              </a:ext>
              <a:ext uri="{28A0092B-C50C-407E-A947-70E740481C1C}">
                <a14:useLocalDpi xmlns:a14="http://schemas.microsoft.com/office/drawing/2010/main" val="0"/>
              </a:ext>
            </a:extLst>
          </a:blip>
          <a:srcRect l="17064" t="26789" r="34072" b="33404"/>
          <a:stretch/>
        </p:blipFill>
        <p:spPr>
          <a:xfrm>
            <a:off x="1223759" y="3943410"/>
            <a:ext cx="2058972" cy="1120303"/>
          </a:xfrm>
          <a:prstGeom prst="rect">
            <a:avLst/>
          </a:prstGeom>
        </p:spPr>
      </p:pic>
      <p:pic>
        <p:nvPicPr>
          <p:cNvPr id="22" name="Picture 21"/>
          <p:cNvPicPr>
            <a:picLocks noChangeAspect="1"/>
          </p:cNvPicPr>
          <p:nvPr/>
        </p:nvPicPr>
        <p:blipFill rotWithShape="1">
          <a:blip r:embed="rId6" cstate="print">
            <a:extLst>
              <a:ext uri="{BEBA8EAE-BF5A-486C-A8C5-ECC9F3942E4B}">
                <a14:imgProps xmlns:a14="http://schemas.microsoft.com/office/drawing/2010/main">
                  <a14:imgLayer r:embed="rId4">
                    <a14:imgEffect>
                      <a14:backgroundRemoval t="22451" b="66019" l="14870" r="62156">
                        <a14:foregroundMark x1="50810" y1="53337" x2="50810" y2="53337"/>
                        <a14:foregroundMark x1="52634" y1="55583" x2="52634" y2="55583"/>
                        <a14:foregroundMark x1="42990" y1="60255" x2="42990" y2="60255"/>
                        <a14:foregroundMark x1="20592" y1="40927" x2="20592" y2="40927"/>
                        <a14:backgroundMark x1="38089" y1="34476" x2="38089" y2="34476"/>
                        <a14:backgroundMark x1="53163" y1="38306" x2="53163" y2="38306"/>
                        <a14:backgroundMark x1="57739" y1="35081" x2="57739" y2="35081"/>
                      </a14:backgroundRemoval>
                    </a14:imgEffect>
                  </a14:imgLayer>
                </a14:imgProps>
              </a:ext>
              <a:ext uri="{28A0092B-C50C-407E-A947-70E740481C1C}">
                <a14:useLocalDpi xmlns:a14="http://schemas.microsoft.com/office/drawing/2010/main" val="0"/>
              </a:ext>
            </a:extLst>
          </a:blip>
          <a:srcRect l="17064" t="26789" r="34072" b="33404"/>
          <a:stretch/>
        </p:blipFill>
        <p:spPr>
          <a:xfrm>
            <a:off x="1431515" y="5382480"/>
            <a:ext cx="1508185" cy="820615"/>
          </a:xfrm>
          <a:prstGeom prst="rect">
            <a:avLst/>
          </a:prstGeom>
        </p:spPr>
      </p:pic>
      <p:cxnSp>
        <p:nvCxnSpPr>
          <p:cNvPr id="11" name="Straight Arrow Connector 10"/>
          <p:cNvCxnSpPr/>
          <p:nvPr/>
        </p:nvCxnSpPr>
        <p:spPr>
          <a:xfrm flipH="1" flipV="1">
            <a:off x="5781526" y="1507812"/>
            <a:ext cx="26196" cy="48037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785688" y="6300508"/>
            <a:ext cx="4922707" cy="110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3" name="8-Point Star 62"/>
          <p:cNvSpPr/>
          <p:nvPr/>
        </p:nvSpPr>
        <p:spPr>
          <a:xfrm>
            <a:off x="374912" y="4601138"/>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15</a:t>
            </a:r>
            <a:r>
              <a:rPr lang="en-US" dirty="0"/>
              <a:t>N</a:t>
            </a:r>
          </a:p>
        </p:txBody>
      </p:sp>
      <p:sp>
        <p:nvSpPr>
          <p:cNvPr id="64" name="8-Point Star 63"/>
          <p:cNvSpPr/>
          <p:nvPr/>
        </p:nvSpPr>
        <p:spPr>
          <a:xfrm>
            <a:off x="2993609" y="3713964"/>
            <a:ext cx="713546" cy="662814"/>
          </a:xfrm>
          <a:prstGeom prst="star8">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a:t>13</a:t>
            </a:r>
            <a:r>
              <a:rPr lang="en-US" dirty="0"/>
              <a:t>C</a:t>
            </a:r>
          </a:p>
        </p:txBody>
      </p:sp>
      <p:sp>
        <p:nvSpPr>
          <p:cNvPr id="48" name="TextBox 47"/>
          <p:cNvSpPr txBox="1"/>
          <p:nvPr/>
        </p:nvSpPr>
        <p:spPr>
          <a:xfrm>
            <a:off x="4876800" y="3490083"/>
            <a:ext cx="904726" cy="523220"/>
          </a:xfrm>
          <a:prstGeom prst="rect">
            <a:avLst/>
          </a:prstGeom>
          <a:noFill/>
        </p:spPr>
        <p:txBody>
          <a:bodyPr wrap="square" rtlCol="0">
            <a:spAutoFit/>
          </a:bodyPr>
          <a:lstStyle/>
          <a:p>
            <a:r>
              <a:rPr lang="el-GR" sz="2800" dirty="0"/>
              <a:t>δ</a:t>
            </a:r>
            <a:r>
              <a:rPr lang="en-US" sz="2800" baseline="30000" dirty="0"/>
              <a:t>15</a:t>
            </a:r>
            <a:r>
              <a:rPr lang="en-US" sz="2800" dirty="0"/>
              <a:t>N</a:t>
            </a:r>
          </a:p>
        </p:txBody>
      </p:sp>
      <p:sp>
        <p:nvSpPr>
          <p:cNvPr id="49" name="TextBox 48"/>
          <p:cNvSpPr txBox="1"/>
          <p:nvPr/>
        </p:nvSpPr>
        <p:spPr>
          <a:xfrm>
            <a:off x="7886912" y="6381560"/>
            <a:ext cx="926888" cy="523220"/>
          </a:xfrm>
          <a:prstGeom prst="rect">
            <a:avLst/>
          </a:prstGeom>
          <a:noFill/>
        </p:spPr>
        <p:txBody>
          <a:bodyPr wrap="square" rtlCol="0">
            <a:spAutoFit/>
          </a:bodyPr>
          <a:lstStyle/>
          <a:p>
            <a:r>
              <a:rPr lang="el-GR" sz="2800" dirty="0"/>
              <a:t>δ</a:t>
            </a:r>
            <a:r>
              <a:rPr lang="en-US" sz="2800" baseline="30000" dirty="0"/>
              <a:t>13</a:t>
            </a:r>
            <a:r>
              <a:rPr lang="en-US" sz="2800" dirty="0"/>
              <a:t>C</a:t>
            </a:r>
          </a:p>
        </p:txBody>
      </p:sp>
      <p:pic>
        <p:nvPicPr>
          <p:cNvPr id="46" name="Picture 45"/>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10679805" y="3162295"/>
            <a:ext cx="876670" cy="559864"/>
          </a:xfrm>
          <a:prstGeom prst="rect">
            <a:avLst/>
          </a:prstGeom>
        </p:spPr>
      </p:pic>
      <p:pic>
        <p:nvPicPr>
          <p:cNvPr id="61" name="Picture 60"/>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264212" y="3960140"/>
            <a:ext cx="807708" cy="515823"/>
          </a:xfrm>
          <a:prstGeom prst="rect">
            <a:avLst/>
          </a:prstGeom>
        </p:spPr>
      </p:pic>
      <p:pic>
        <p:nvPicPr>
          <p:cNvPr id="62" name="Picture 61"/>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655329" y="3301952"/>
            <a:ext cx="876670" cy="559864"/>
          </a:xfrm>
          <a:prstGeom prst="rect">
            <a:avLst/>
          </a:prstGeom>
        </p:spPr>
      </p:pic>
      <p:pic>
        <p:nvPicPr>
          <p:cNvPr id="67" name="Picture 66"/>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7093758" y="5132120"/>
            <a:ext cx="807708" cy="515823"/>
          </a:xfrm>
          <a:prstGeom prst="rect">
            <a:avLst/>
          </a:prstGeom>
        </p:spPr>
      </p:pic>
      <p:pic>
        <p:nvPicPr>
          <p:cNvPr id="68" name="Picture 67"/>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7039538" y="4577723"/>
            <a:ext cx="876670" cy="559864"/>
          </a:xfrm>
          <a:prstGeom prst="rect">
            <a:avLst/>
          </a:prstGeom>
        </p:spPr>
      </p:pic>
      <p:pic>
        <p:nvPicPr>
          <p:cNvPr id="69" name="Picture 68"/>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6345576" y="5140878"/>
            <a:ext cx="807708" cy="515823"/>
          </a:xfrm>
          <a:prstGeom prst="rect">
            <a:avLst/>
          </a:prstGeom>
        </p:spPr>
      </p:pic>
      <p:pic>
        <p:nvPicPr>
          <p:cNvPr id="70" name="Picture 69"/>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037509" y="4738677"/>
            <a:ext cx="807708" cy="515823"/>
          </a:xfrm>
          <a:prstGeom prst="rect">
            <a:avLst/>
          </a:prstGeom>
        </p:spPr>
      </p:pic>
      <p:pic>
        <p:nvPicPr>
          <p:cNvPr id="71" name="Picture 70"/>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7774201" y="4239829"/>
            <a:ext cx="876670" cy="559864"/>
          </a:xfrm>
          <a:prstGeom prst="rect">
            <a:avLst/>
          </a:prstGeom>
        </p:spPr>
      </p:pic>
      <p:pic>
        <p:nvPicPr>
          <p:cNvPr id="72" name="Picture 71"/>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8212536" y="3464248"/>
            <a:ext cx="807708" cy="515823"/>
          </a:xfrm>
          <a:prstGeom prst="rect">
            <a:avLst/>
          </a:prstGeom>
        </p:spPr>
      </p:pic>
      <p:pic>
        <p:nvPicPr>
          <p:cNvPr id="73" name="Picture 72"/>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6199823" y="4682954"/>
            <a:ext cx="876670" cy="559864"/>
          </a:xfrm>
          <a:prstGeom prst="rect">
            <a:avLst/>
          </a:prstGeom>
        </p:spPr>
      </p:pic>
      <p:sp>
        <p:nvSpPr>
          <p:cNvPr id="75" name="Oval 74"/>
          <p:cNvSpPr/>
          <p:nvPr/>
        </p:nvSpPr>
        <p:spPr>
          <a:xfrm rot="19933636">
            <a:off x="6366262" y="4517922"/>
            <a:ext cx="1878312" cy="1096774"/>
          </a:xfrm>
          <a:prstGeom prst="ellipse">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 name="Picture 75"/>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9229731" y="2154672"/>
            <a:ext cx="876670" cy="559864"/>
          </a:xfrm>
          <a:prstGeom prst="rect">
            <a:avLst/>
          </a:prstGeom>
        </p:spPr>
      </p:pic>
      <p:pic>
        <p:nvPicPr>
          <p:cNvPr id="77" name="Picture 76"/>
          <p:cNvPicPr>
            <a:picLocks noChangeAspect="1"/>
          </p:cNvPicPr>
          <p:nvPr/>
        </p:nvPicPr>
        <p:blipFill rotWithShape="1">
          <a:blip r:embed="rId9" cstate="print">
            <a:extLst>
              <a:ext uri="{BEBA8EAE-BF5A-486C-A8C5-ECC9F3942E4B}">
                <a14:imgProps xmlns:a14="http://schemas.microsoft.com/office/drawing/2010/main">
                  <a14:imgLayer r:embed="rId10">
                    <a14:imgEffect>
                      <a14:backgroundRemoval t="9345" b="77913" l="25041" r="96151">
                        <a14:foregroundMark x1="88817" y1="65109" x2="88817" y2="65109"/>
                        <a14:foregroundMark x1="90883" y1="54308" x2="90883" y2="54308"/>
                        <a14:foregroundMark x1="68720" y1="54794" x2="68720" y2="54794"/>
                        <a14:foregroundMark x1="88047" y1="64320" x2="88047" y2="64320"/>
                        <a14:foregroundMark x1="89100" y1="59709" x2="89100" y2="59709"/>
                        <a14:foregroundMark x1="88533" y1="58920" x2="88533" y2="58920"/>
                        <a14:foregroundMark x1="89951" y1="68447" x2="89951" y2="68447"/>
                        <a14:foregroundMark x1="42202" y1="52353" x2="42202" y2="52353"/>
                        <a14:foregroundMark x1="56094" y1="56471" x2="56094" y2="56471"/>
                        <a14:foregroundMark x1="62779" y1="58039" x2="62779" y2="58039"/>
                        <a14:backgroundMark x1="32942" y1="66080" x2="32942" y2="66080"/>
                        <a14:backgroundMark x1="41734" y1="62015" x2="41734" y2="62015"/>
                      </a14:backgroundRemoval>
                    </a14:imgEffect>
                  </a14:imgLayer>
                </a14:imgProps>
              </a:ext>
              <a:ext uri="{28A0092B-C50C-407E-A947-70E740481C1C}">
                <a14:useLocalDpi xmlns:a14="http://schemas.microsoft.com/office/drawing/2010/main" val="0"/>
              </a:ext>
            </a:extLst>
          </a:blip>
          <a:srcRect l="22957" t="8400" r="1879" b="19733"/>
          <a:stretch/>
        </p:blipFill>
        <p:spPr>
          <a:xfrm flipH="1">
            <a:off x="8209583" y="2737963"/>
            <a:ext cx="807708" cy="515823"/>
          </a:xfrm>
          <a:prstGeom prst="rect">
            <a:avLst/>
          </a:prstGeom>
        </p:spPr>
      </p:pic>
      <p:sp>
        <p:nvSpPr>
          <p:cNvPr id="74" name="Oval 73"/>
          <p:cNvSpPr/>
          <p:nvPr/>
        </p:nvSpPr>
        <p:spPr>
          <a:xfrm rot="19933636">
            <a:off x="7302266" y="2710779"/>
            <a:ext cx="3345032" cy="226038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9444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EEAC-AB82-DF63-9455-A7C086BE0F2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BBBF63-DFBF-54C2-859D-EB721FC5B3A1}"/>
              </a:ext>
            </a:extLst>
          </p:cNvPr>
          <p:cNvPicPr>
            <a:picLocks noChangeAspect="1"/>
          </p:cNvPicPr>
          <p:nvPr/>
        </p:nvPicPr>
        <p:blipFill>
          <a:blip r:embed="rId2"/>
          <a:stretch>
            <a:fillRect/>
          </a:stretch>
        </p:blipFill>
        <p:spPr>
          <a:xfrm>
            <a:off x="2847808" y="301464"/>
            <a:ext cx="6496384" cy="6255071"/>
          </a:xfrm>
          <a:prstGeom prst="rect">
            <a:avLst/>
          </a:prstGeom>
        </p:spPr>
      </p:pic>
    </p:spTree>
    <p:extLst>
      <p:ext uri="{BB962C8B-B14F-4D97-AF65-F5344CB8AC3E}">
        <p14:creationId xmlns:p14="http://schemas.microsoft.com/office/powerpoint/2010/main" val="2779059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26998-F17A-19D3-CA2A-DF213983F78F}"/>
              </a:ext>
            </a:extLst>
          </p:cNvPr>
          <p:cNvSpPr>
            <a:spLocks noGrp="1"/>
          </p:cNvSpPr>
          <p:nvPr>
            <p:ph type="title"/>
          </p:nvPr>
        </p:nvSpPr>
        <p:spPr/>
        <p:txBody>
          <a:bodyPr/>
          <a:lstStyle/>
          <a:p>
            <a:r>
              <a:rPr lang="en-US" dirty="0"/>
              <a:t>Extra Resources</a:t>
            </a:r>
          </a:p>
        </p:txBody>
      </p:sp>
      <p:sp>
        <p:nvSpPr>
          <p:cNvPr id="3" name="Content Placeholder 2">
            <a:extLst>
              <a:ext uri="{FF2B5EF4-FFF2-40B4-BE49-F238E27FC236}">
                <a16:creationId xmlns:a16="http://schemas.microsoft.com/office/drawing/2014/main" id="{7838A903-E1C0-13CD-00FC-2FB9BCB38AC4}"/>
              </a:ext>
            </a:extLst>
          </p:cNvPr>
          <p:cNvSpPr>
            <a:spLocks noGrp="1"/>
          </p:cNvSpPr>
          <p:nvPr>
            <p:ph idx="1"/>
          </p:nvPr>
        </p:nvSpPr>
        <p:spPr/>
        <p:txBody>
          <a:bodyPr/>
          <a:lstStyle/>
          <a:p>
            <a:r>
              <a:rPr lang="en-US" dirty="0">
                <a:hlinkClick r:id="rId2"/>
              </a:rPr>
              <a:t>How to Interpret P-values and Coefficients in Regression Analysis - Statistics By Jim</a:t>
            </a:r>
            <a:endParaRPr lang="en-US" dirty="0"/>
          </a:p>
          <a:p>
            <a:r>
              <a:rPr lang="en-US" dirty="0">
                <a:hlinkClick r:id="rId3"/>
              </a:rPr>
              <a:t>The Main Ideas of Fitting a Line to Data (The Main Ideas of Least Squares and Linear Regression.) - YouTube</a:t>
            </a:r>
            <a:endParaRPr lang="en-US" dirty="0">
              <a:hlinkClick r:id="rId4"/>
            </a:endParaRPr>
          </a:p>
          <a:p>
            <a:r>
              <a:rPr lang="en-US" dirty="0">
                <a:hlinkClick r:id="rId4"/>
              </a:rPr>
              <a:t>Linear Regression, Clearly Explained!!! – YouTube</a:t>
            </a:r>
            <a:endParaRPr lang="en-US" dirty="0"/>
          </a:p>
          <a:p>
            <a:r>
              <a:rPr lang="en-US" dirty="0">
                <a:hlinkClick r:id="rId5"/>
              </a:rPr>
              <a:t>What are degrees of freedom in statistics? A simple explanation. - YouTube</a:t>
            </a:r>
            <a:endParaRPr lang="en-US" dirty="0"/>
          </a:p>
          <a:p>
            <a:endParaRPr lang="en-US" dirty="0"/>
          </a:p>
        </p:txBody>
      </p:sp>
    </p:spTree>
    <p:extLst>
      <p:ext uri="{BB962C8B-B14F-4D97-AF65-F5344CB8AC3E}">
        <p14:creationId xmlns:p14="http://schemas.microsoft.com/office/powerpoint/2010/main" val="12970317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1463</TotalTime>
  <Words>1161</Words>
  <Application>Microsoft Office PowerPoint</Application>
  <PresentationFormat>Widescreen</PresentationFormat>
  <Paragraphs>73</Paragraphs>
  <Slides>20</Slides>
  <Notes>13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MES 503 Lab 6</vt:lpstr>
      <vt:lpstr>Announcements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Reporting Regression Results</vt:lpstr>
      <vt:lpstr>PowerPoint Presentation</vt:lpstr>
      <vt:lpstr>Switch to ze code!</vt:lpstr>
      <vt:lpstr>TODAY!  More Giant Sea Bass</vt:lpstr>
      <vt:lpstr>Importance of Trophic Ecology</vt:lpstr>
      <vt:lpstr>Stable Isotope Analysis</vt:lpstr>
      <vt:lpstr>Stable Isotope Analysis</vt:lpstr>
      <vt:lpstr>Stable Isotope Analysis</vt:lpstr>
      <vt:lpstr>Stable Isotope Analysis</vt:lpstr>
      <vt:lpstr>PowerPoint Presentation</vt:lpstr>
      <vt:lpstr>Extra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Kayla Blincow</dc:creator>
  <cp:lastModifiedBy>Kayla Blincow</cp:lastModifiedBy>
  <cp:revision>3</cp:revision>
  <dcterms:created xsi:type="dcterms:W3CDTF">2026-01-08T19:59:11Z</dcterms:created>
  <dcterms:modified xsi:type="dcterms:W3CDTF">2026-09-22T19:25:08Z</dcterms:modified>
</cp:coreProperties>
</file>