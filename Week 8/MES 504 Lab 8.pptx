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84" r:id="rId3"/>
    <p:sldId id="421" r:id="rId4"/>
    <p:sldId id="422" r:id="rId5"/>
    <p:sldId id="529" r:id="rId6"/>
    <p:sldId id="530" r:id="rId7"/>
    <p:sldId id="424" r:id="rId8"/>
    <p:sldId id="427" r:id="rId9"/>
    <p:sldId id="428" r:id="rId10"/>
    <p:sldId id="532" r:id="rId11"/>
    <p:sldId id="531" r:id="rId12"/>
    <p:sldId id="527" r:id="rId13"/>
    <p:sldId id="528" r:id="rId14"/>
    <p:sldId id="43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2BAB92-85D7-4437-BEF9-7EA3CA37D97D}" v="1092" dt="2026-10-06T19:23:11.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8486" autoAdjust="0"/>
  </p:normalViewPr>
  <p:slideViewPr>
    <p:cSldViewPr snapToGrid="0">
      <p:cViewPr varScale="1">
        <p:scale>
          <a:sx n="56" d="100"/>
          <a:sy n="56" d="100"/>
        </p:scale>
        <p:origin x="1068" y="4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a Blincow" userId="ac6229071bdafc06" providerId="LiveId" clId="{9CE18A4C-68C3-4E97-A0CD-BEA78CB9776D}"/>
    <pc:docChg chg="custSel addSld delSld modSld sldOrd">
      <pc:chgData name="Kayla Blincow" userId="ac6229071bdafc06" providerId="LiveId" clId="{9CE18A4C-68C3-4E97-A0CD-BEA78CB9776D}" dt="2026-10-06T19:23:11.731" v="2169" actId="20577"/>
      <pc:docMkLst>
        <pc:docMk/>
      </pc:docMkLst>
      <pc:sldChg chg="modSp mod">
        <pc:chgData name="Kayla Blincow" userId="ac6229071bdafc06" providerId="LiveId" clId="{9CE18A4C-68C3-4E97-A0CD-BEA78CB9776D}" dt="2026-10-06T18:40:28.133" v="1" actId="20577"/>
        <pc:sldMkLst>
          <pc:docMk/>
          <pc:sldMk cId="2948685846" sldId="256"/>
        </pc:sldMkLst>
        <pc:spChg chg="mod">
          <ac:chgData name="Kayla Blincow" userId="ac6229071bdafc06" providerId="LiveId" clId="{9CE18A4C-68C3-4E97-A0CD-BEA78CB9776D}" dt="2026-10-06T18:40:28.133" v="1" actId="20577"/>
          <ac:spMkLst>
            <pc:docMk/>
            <pc:sldMk cId="2948685846" sldId="256"/>
            <ac:spMk id="2" creationId="{D24B8A19-FA22-C682-4310-EEAA4459904E}"/>
          </ac:spMkLst>
        </pc:spChg>
      </pc:sldChg>
      <pc:sldChg chg="modSp mod">
        <pc:chgData name="Kayla Blincow" userId="ac6229071bdafc06" providerId="LiveId" clId="{9CE18A4C-68C3-4E97-A0CD-BEA78CB9776D}" dt="2026-10-06T18:42:10.202" v="63" actId="20577"/>
        <pc:sldMkLst>
          <pc:docMk/>
          <pc:sldMk cId="949666939" sldId="284"/>
        </pc:sldMkLst>
        <pc:spChg chg="mod">
          <ac:chgData name="Kayla Blincow" userId="ac6229071bdafc06" providerId="LiveId" clId="{9CE18A4C-68C3-4E97-A0CD-BEA78CB9776D}" dt="2026-10-06T18:42:10.202" v="63" actId="20577"/>
          <ac:spMkLst>
            <pc:docMk/>
            <pc:sldMk cId="949666939" sldId="284"/>
            <ac:spMk id="3" creationId="{5EC916F8-2617-0B7F-D699-7AE508E9AD38}"/>
          </ac:spMkLst>
        </pc:spChg>
      </pc:sldChg>
      <pc:sldChg chg="add">
        <pc:chgData name="Kayla Blincow" userId="ac6229071bdafc06" providerId="LiveId" clId="{9CE18A4C-68C3-4E97-A0CD-BEA78CB9776D}" dt="2026-10-06T19:22:13.013" v="2158"/>
        <pc:sldMkLst>
          <pc:docMk/>
          <pc:sldMk cId="2335545540" sldId="421"/>
        </pc:sldMkLst>
      </pc:sldChg>
      <pc:sldChg chg="delSp add">
        <pc:chgData name="Kayla Blincow" userId="ac6229071bdafc06" providerId="LiveId" clId="{9CE18A4C-68C3-4E97-A0CD-BEA78CB9776D}" dt="2026-10-06T19:22:28.936" v="2161" actId="478"/>
        <pc:sldMkLst>
          <pc:docMk/>
          <pc:sldMk cId="1946987180" sldId="422"/>
        </pc:sldMkLst>
        <pc:picChg chg="del">
          <ac:chgData name="Kayla Blincow" userId="ac6229071bdafc06" providerId="LiveId" clId="{9CE18A4C-68C3-4E97-A0CD-BEA78CB9776D}" dt="2026-10-06T19:22:28.936" v="2161" actId="478"/>
          <ac:picMkLst>
            <pc:docMk/>
            <pc:sldMk cId="1946987180" sldId="422"/>
            <ac:picMk id="4" creationId="{9CD46B52-9F38-F0D6-6685-9FADA9F680C9}"/>
          </ac:picMkLst>
        </pc:picChg>
      </pc:sldChg>
      <pc:sldChg chg="delSp add">
        <pc:chgData name="Kayla Blincow" userId="ac6229071bdafc06" providerId="LiveId" clId="{9CE18A4C-68C3-4E97-A0CD-BEA78CB9776D}" dt="2026-10-06T19:22:32.409" v="2162" actId="478"/>
        <pc:sldMkLst>
          <pc:docMk/>
          <pc:sldMk cId="2334048313" sldId="424"/>
        </pc:sldMkLst>
        <pc:picChg chg="del">
          <ac:chgData name="Kayla Blincow" userId="ac6229071bdafc06" providerId="LiveId" clId="{9CE18A4C-68C3-4E97-A0CD-BEA78CB9776D}" dt="2026-10-06T19:22:32.409" v="2162" actId="478"/>
          <ac:picMkLst>
            <pc:docMk/>
            <pc:sldMk cId="2334048313" sldId="424"/>
            <ac:picMk id="4" creationId="{9CD46B52-9F38-F0D6-6685-9FADA9F680C9}"/>
          </ac:picMkLst>
        </pc:picChg>
      </pc:sldChg>
      <pc:sldChg chg="delSp modSp add mod">
        <pc:chgData name="Kayla Blincow" userId="ac6229071bdafc06" providerId="LiveId" clId="{9CE18A4C-68C3-4E97-A0CD-BEA78CB9776D}" dt="2026-10-06T19:22:40.002" v="2165" actId="1076"/>
        <pc:sldMkLst>
          <pc:docMk/>
          <pc:sldMk cId="1188048255" sldId="427"/>
        </pc:sldMkLst>
        <pc:picChg chg="del">
          <ac:chgData name="Kayla Blincow" userId="ac6229071bdafc06" providerId="LiveId" clId="{9CE18A4C-68C3-4E97-A0CD-BEA78CB9776D}" dt="2026-10-06T19:22:35.625" v="2163" actId="478"/>
          <ac:picMkLst>
            <pc:docMk/>
            <pc:sldMk cId="1188048255" sldId="427"/>
            <ac:picMk id="4" creationId="{9CD46B52-9F38-F0D6-6685-9FADA9F680C9}"/>
          </ac:picMkLst>
        </pc:picChg>
        <pc:picChg chg="mod">
          <ac:chgData name="Kayla Blincow" userId="ac6229071bdafc06" providerId="LiveId" clId="{9CE18A4C-68C3-4E97-A0CD-BEA78CB9776D}" dt="2026-10-06T19:22:40.002" v="2165" actId="1076"/>
          <ac:picMkLst>
            <pc:docMk/>
            <pc:sldMk cId="1188048255" sldId="427"/>
            <ac:picMk id="5" creationId="{AF48ABD0-19F0-95C2-AC7C-EB510B8F1E26}"/>
          </ac:picMkLst>
        </pc:picChg>
      </pc:sldChg>
      <pc:sldChg chg="delSp add">
        <pc:chgData name="Kayla Blincow" userId="ac6229071bdafc06" providerId="LiveId" clId="{9CE18A4C-68C3-4E97-A0CD-BEA78CB9776D}" dt="2026-10-06T19:22:42.685" v="2166" actId="478"/>
        <pc:sldMkLst>
          <pc:docMk/>
          <pc:sldMk cId="1928331528" sldId="428"/>
        </pc:sldMkLst>
        <pc:picChg chg="del">
          <ac:chgData name="Kayla Blincow" userId="ac6229071bdafc06" providerId="LiveId" clId="{9CE18A4C-68C3-4E97-A0CD-BEA78CB9776D}" dt="2026-10-06T19:22:42.685" v="2166" actId="478"/>
          <ac:picMkLst>
            <pc:docMk/>
            <pc:sldMk cId="1928331528" sldId="428"/>
            <ac:picMk id="4" creationId="{9CD46B52-9F38-F0D6-6685-9FADA9F680C9}"/>
          </ac:picMkLst>
        </pc:picChg>
      </pc:sldChg>
      <pc:sldChg chg="del">
        <pc:chgData name="Kayla Blincow" userId="ac6229071bdafc06" providerId="LiveId" clId="{9CE18A4C-68C3-4E97-A0CD-BEA78CB9776D}" dt="2026-10-06T18:41:20.033" v="61" actId="47"/>
        <pc:sldMkLst>
          <pc:docMk/>
          <pc:sldMk cId="778961214" sldId="493"/>
        </pc:sldMkLst>
      </pc:sldChg>
      <pc:sldChg chg="del">
        <pc:chgData name="Kayla Blincow" userId="ac6229071bdafc06" providerId="LiveId" clId="{9CE18A4C-68C3-4E97-A0CD-BEA78CB9776D}" dt="2026-10-06T18:41:20.033" v="61" actId="47"/>
        <pc:sldMkLst>
          <pc:docMk/>
          <pc:sldMk cId="527634590" sldId="504"/>
        </pc:sldMkLst>
      </pc:sldChg>
      <pc:sldChg chg="del">
        <pc:chgData name="Kayla Blincow" userId="ac6229071bdafc06" providerId="LiveId" clId="{9CE18A4C-68C3-4E97-A0CD-BEA78CB9776D}" dt="2026-10-06T18:41:20.033" v="61" actId="47"/>
        <pc:sldMkLst>
          <pc:docMk/>
          <pc:sldMk cId="2631572507" sldId="507"/>
        </pc:sldMkLst>
      </pc:sldChg>
      <pc:sldChg chg="del">
        <pc:chgData name="Kayla Blincow" userId="ac6229071bdafc06" providerId="LiveId" clId="{9CE18A4C-68C3-4E97-A0CD-BEA78CB9776D}" dt="2026-10-06T18:41:20.033" v="61" actId="47"/>
        <pc:sldMkLst>
          <pc:docMk/>
          <pc:sldMk cId="2217292611" sldId="510"/>
        </pc:sldMkLst>
      </pc:sldChg>
      <pc:sldChg chg="del">
        <pc:chgData name="Kayla Blincow" userId="ac6229071bdafc06" providerId="LiveId" clId="{9CE18A4C-68C3-4E97-A0CD-BEA78CB9776D}" dt="2026-10-06T18:41:15.105" v="60" actId="47"/>
        <pc:sldMkLst>
          <pc:docMk/>
          <pc:sldMk cId="964817506" sldId="511"/>
        </pc:sldMkLst>
      </pc:sldChg>
      <pc:sldChg chg="del">
        <pc:chgData name="Kayla Blincow" userId="ac6229071bdafc06" providerId="LiveId" clId="{9CE18A4C-68C3-4E97-A0CD-BEA78CB9776D}" dt="2026-10-06T18:41:15.105" v="60" actId="47"/>
        <pc:sldMkLst>
          <pc:docMk/>
          <pc:sldMk cId="794520293" sldId="512"/>
        </pc:sldMkLst>
      </pc:sldChg>
      <pc:sldChg chg="del">
        <pc:chgData name="Kayla Blincow" userId="ac6229071bdafc06" providerId="LiveId" clId="{9CE18A4C-68C3-4E97-A0CD-BEA78CB9776D}" dt="2026-10-06T18:41:15.105" v="60" actId="47"/>
        <pc:sldMkLst>
          <pc:docMk/>
          <pc:sldMk cId="3927114866" sldId="513"/>
        </pc:sldMkLst>
      </pc:sldChg>
      <pc:sldChg chg="del ord">
        <pc:chgData name="Kayla Blincow" userId="ac6229071bdafc06" providerId="LiveId" clId="{9CE18A4C-68C3-4E97-A0CD-BEA78CB9776D}" dt="2026-10-06T18:41:15.105" v="60" actId="47"/>
        <pc:sldMkLst>
          <pc:docMk/>
          <pc:sldMk cId="817473852" sldId="514"/>
        </pc:sldMkLst>
      </pc:sldChg>
      <pc:sldChg chg="add">
        <pc:chgData name="Kayla Blincow" userId="ac6229071bdafc06" providerId="LiveId" clId="{9CE18A4C-68C3-4E97-A0CD-BEA78CB9776D}" dt="2026-10-06T18:41:59.783" v="62"/>
        <pc:sldMkLst>
          <pc:docMk/>
          <pc:sldMk cId="1544960390" sldId="527"/>
        </pc:sldMkLst>
      </pc:sldChg>
      <pc:sldChg chg="add">
        <pc:chgData name="Kayla Blincow" userId="ac6229071bdafc06" providerId="LiveId" clId="{9CE18A4C-68C3-4E97-A0CD-BEA78CB9776D}" dt="2026-10-06T18:41:59.783" v="62"/>
        <pc:sldMkLst>
          <pc:docMk/>
          <pc:sldMk cId="3660276910" sldId="528"/>
        </pc:sldMkLst>
      </pc:sldChg>
      <pc:sldChg chg="modSp new mod ord modAnim">
        <pc:chgData name="Kayla Blincow" userId="ac6229071bdafc06" providerId="LiveId" clId="{9CE18A4C-68C3-4E97-A0CD-BEA78CB9776D}" dt="2026-10-06T19:23:11.731" v="2169" actId="20577"/>
        <pc:sldMkLst>
          <pc:docMk/>
          <pc:sldMk cId="1011881888" sldId="529"/>
        </pc:sldMkLst>
        <pc:spChg chg="mod">
          <ac:chgData name="Kayla Blincow" userId="ac6229071bdafc06" providerId="LiveId" clId="{9CE18A4C-68C3-4E97-A0CD-BEA78CB9776D}" dt="2026-10-06T19:09:03.710" v="931" actId="20577"/>
          <ac:spMkLst>
            <pc:docMk/>
            <pc:sldMk cId="1011881888" sldId="529"/>
            <ac:spMk id="2" creationId="{73C11EBA-F47E-FDFA-DB0A-B33DA8BEF361}"/>
          </ac:spMkLst>
        </pc:spChg>
        <pc:spChg chg="mod">
          <ac:chgData name="Kayla Blincow" userId="ac6229071bdafc06" providerId="LiveId" clId="{9CE18A4C-68C3-4E97-A0CD-BEA78CB9776D}" dt="2026-10-06T19:23:11.731" v="2169" actId="20577"/>
          <ac:spMkLst>
            <pc:docMk/>
            <pc:sldMk cId="1011881888" sldId="529"/>
            <ac:spMk id="3" creationId="{8B343F3A-8180-9B11-9D93-4FB7C5F314C8}"/>
          </ac:spMkLst>
        </pc:spChg>
      </pc:sldChg>
      <pc:sldChg chg="modSp add mod ord modAnim">
        <pc:chgData name="Kayla Blincow" userId="ac6229071bdafc06" providerId="LiveId" clId="{9CE18A4C-68C3-4E97-A0CD-BEA78CB9776D}" dt="2026-10-06T19:22:48.760" v="2168"/>
        <pc:sldMkLst>
          <pc:docMk/>
          <pc:sldMk cId="573296714" sldId="530"/>
        </pc:sldMkLst>
        <pc:spChg chg="mod">
          <ac:chgData name="Kayla Blincow" userId="ac6229071bdafc06" providerId="LiveId" clId="{9CE18A4C-68C3-4E97-A0CD-BEA78CB9776D}" dt="2026-10-06T19:10:20.372" v="1241" actId="20577"/>
          <ac:spMkLst>
            <pc:docMk/>
            <pc:sldMk cId="573296714" sldId="530"/>
            <ac:spMk id="2" creationId="{4EA86E5A-30C0-736B-8BF0-AB60B50818AE}"/>
          </ac:spMkLst>
        </pc:spChg>
        <pc:spChg chg="mod">
          <ac:chgData name="Kayla Blincow" userId="ac6229071bdafc06" providerId="LiveId" clId="{9CE18A4C-68C3-4E97-A0CD-BEA78CB9776D}" dt="2026-10-06T19:11:02.734" v="1245" actId="1076"/>
          <ac:spMkLst>
            <pc:docMk/>
            <pc:sldMk cId="573296714" sldId="530"/>
            <ac:spMk id="3" creationId="{6ADE333E-1726-32D7-ED28-1E482EFFC9DB}"/>
          </ac:spMkLst>
        </pc:spChg>
      </pc:sldChg>
      <pc:sldChg chg="new del">
        <pc:chgData name="Kayla Blincow" userId="ac6229071bdafc06" providerId="LiveId" clId="{9CE18A4C-68C3-4E97-A0CD-BEA78CB9776D}" dt="2026-10-06T19:08:52.231" v="916" actId="47"/>
        <pc:sldMkLst>
          <pc:docMk/>
          <pc:sldMk cId="1010207397" sldId="530"/>
        </pc:sldMkLst>
      </pc:sldChg>
      <pc:sldChg chg="delSp modSp new mod">
        <pc:chgData name="Kayla Blincow" userId="ac6229071bdafc06" providerId="LiveId" clId="{9CE18A4C-68C3-4E97-A0CD-BEA78CB9776D}" dt="2026-10-06T19:17:51.859" v="2157" actId="20577"/>
        <pc:sldMkLst>
          <pc:docMk/>
          <pc:sldMk cId="580876865" sldId="531"/>
        </pc:sldMkLst>
        <pc:spChg chg="mod">
          <ac:chgData name="Kayla Blincow" userId="ac6229071bdafc06" providerId="LiveId" clId="{9CE18A4C-68C3-4E97-A0CD-BEA78CB9776D}" dt="2026-10-06T19:17:51.859" v="2157" actId="20577"/>
          <ac:spMkLst>
            <pc:docMk/>
            <pc:sldMk cId="580876865" sldId="531"/>
            <ac:spMk id="2" creationId="{065282BD-785A-4779-EA88-5510F3B636C1}"/>
          </ac:spMkLst>
        </pc:spChg>
        <pc:spChg chg="del">
          <ac:chgData name="Kayla Blincow" userId="ac6229071bdafc06" providerId="LiveId" clId="{9CE18A4C-68C3-4E97-A0CD-BEA78CB9776D}" dt="2026-10-06T19:16:35.582" v="1993" actId="478"/>
          <ac:spMkLst>
            <pc:docMk/>
            <pc:sldMk cId="580876865" sldId="531"/>
            <ac:spMk id="3" creationId="{B8E77841-5F7A-EB53-CA73-5CDCB84A15BC}"/>
          </ac:spMkLst>
        </pc:spChg>
      </pc:sldChg>
      <pc:sldChg chg="modSp add mod modAnim">
        <pc:chgData name="Kayla Blincow" userId="ac6229071bdafc06" providerId="LiveId" clId="{9CE18A4C-68C3-4E97-A0CD-BEA78CB9776D}" dt="2026-10-06T19:17:28.657" v="2156" actId="20577"/>
        <pc:sldMkLst>
          <pc:docMk/>
          <pc:sldMk cId="4107674476" sldId="532"/>
        </pc:sldMkLst>
        <pc:spChg chg="mod">
          <ac:chgData name="Kayla Blincow" userId="ac6229071bdafc06" providerId="LiveId" clId="{9CE18A4C-68C3-4E97-A0CD-BEA78CB9776D}" dt="2026-10-06T19:17:28.657" v="2156" actId="20577"/>
          <ac:spMkLst>
            <pc:docMk/>
            <pc:sldMk cId="4107674476" sldId="532"/>
            <ac:spMk id="3" creationId="{6205CDD7-A913-103F-C2DA-5137A276B99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AC65F-9207-41AE-8C53-46E5EA7B4DDF}"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2F4B8-4792-4BBE-9010-0D4D9882B9B9}" type="slidenum">
              <a:rPr lang="en-US" smtClean="0"/>
              <a:t>‹#›</a:t>
            </a:fld>
            <a:endParaRPr lang="en-US"/>
          </a:p>
        </p:txBody>
      </p:sp>
    </p:spTree>
    <p:extLst>
      <p:ext uri="{BB962C8B-B14F-4D97-AF65-F5344CB8AC3E}">
        <p14:creationId xmlns:p14="http://schemas.microsoft.com/office/powerpoint/2010/main" val="150663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1</a:t>
            </a:fld>
            <a:endParaRPr lang="en-US"/>
          </a:p>
        </p:txBody>
      </p:sp>
    </p:spTree>
    <p:extLst>
      <p:ext uri="{BB962C8B-B14F-4D97-AF65-F5344CB8AC3E}">
        <p14:creationId xmlns:p14="http://schemas.microsoft.com/office/powerpoint/2010/main" val="3643247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8028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735777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A2DA7E-11E7-48AB-82F5-7068197A42C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81338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A2DA7E-11E7-48AB-82F5-7068197A42C9}"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7812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A2DA7E-11E7-48AB-82F5-7068197A42C9}"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3029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A2DA7E-11E7-48AB-82F5-7068197A42C9}"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2054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A2DA7E-11E7-48AB-82F5-7068197A42C9}"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96574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829849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4025386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12330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2327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5A2DA7E-11E7-48AB-82F5-7068197A42C9}"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CAC4879-753F-46D0-95EC-9736450DC13A}" type="slidenum">
              <a:rPr lang="en-US" smtClean="0"/>
              <a:t>‹#›</a:t>
            </a:fld>
            <a:endParaRPr lang="en-US"/>
          </a:p>
        </p:txBody>
      </p:sp>
    </p:spTree>
    <p:extLst>
      <p:ext uri="{BB962C8B-B14F-4D97-AF65-F5344CB8AC3E}">
        <p14:creationId xmlns:p14="http://schemas.microsoft.com/office/powerpoint/2010/main" val="38014444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8A19-FA22-C682-4310-EEAA4459904E}"/>
              </a:ext>
            </a:extLst>
          </p:cNvPr>
          <p:cNvSpPr>
            <a:spLocks noGrp="1"/>
          </p:cNvSpPr>
          <p:nvPr>
            <p:ph type="ctrTitle"/>
          </p:nvPr>
        </p:nvSpPr>
        <p:spPr>
          <a:xfrm>
            <a:off x="4812630" y="1600200"/>
            <a:ext cx="5855368" cy="1801311"/>
          </a:xfrm>
        </p:spPr>
        <p:txBody>
          <a:bodyPr/>
          <a:lstStyle/>
          <a:p>
            <a:r>
              <a:rPr lang="en-US" dirty="0"/>
              <a:t>MES 503 Lab 8</a:t>
            </a:r>
          </a:p>
        </p:txBody>
      </p:sp>
      <p:sp>
        <p:nvSpPr>
          <p:cNvPr id="3" name="Subtitle 2">
            <a:extLst>
              <a:ext uri="{FF2B5EF4-FFF2-40B4-BE49-F238E27FC236}">
                <a16:creationId xmlns:a16="http://schemas.microsoft.com/office/drawing/2014/main" id="{F07B767E-3D5A-B7E7-2441-4EBD66E2A63F}"/>
              </a:ext>
            </a:extLst>
          </p:cNvPr>
          <p:cNvSpPr>
            <a:spLocks noGrp="1"/>
          </p:cNvSpPr>
          <p:nvPr>
            <p:ph type="subTitle" idx="1"/>
          </p:nvPr>
        </p:nvSpPr>
        <p:spPr>
          <a:xfrm>
            <a:off x="4812630" y="3602038"/>
            <a:ext cx="5855369" cy="1655762"/>
          </a:xfrm>
        </p:spPr>
        <p:txBody>
          <a:bodyPr/>
          <a:lstStyle/>
          <a:p>
            <a:r>
              <a:rPr lang="en-US" dirty="0"/>
              <a:t>Kayla Blincow, PhD</a:t>
            </a:r>
          </a:p>
        </p:txBody>
      </p:sp>
      <p:pic>
        <p:nvPicPr>
          <p:cNvPr id="4" name="Picture 2" descr="R Memes for Statistical Fiends on Twitter: &quot;More R memes created directly  in R with @thosjleeper package &quot;memes&quot; https://t.co/R6MNt7sSzV #rstats… &quot;">
            <a:extLst>
              <a:ext uri="{FF2B5EF4-FFF2-40B4-BE49-F238E27FC236}">
                <a16:creationId xmlns:a16="http://schemas.microsoft.com/office/drawing/2014/main" id="{4E2F905E-C631-73E1-AB39-F358E6C87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0443" y="1250651"/>
            <a:ext cx="3449053" cy="4356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68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9A48-B850-58D5-1576-8EEEB414F3D4}"/>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5EC916F8-2617-0B7F-D699-7AE508E9AD38}"/>
              </a:ext>
            </a:extLst>
          </p:cNvPr>
          <p:cNvSpPr>
            <a:spLocks noGrp="1"/>
          </p:cNvSpPr>
          <p:nvPr>
            <p:ph idx="1"/>
          </p:nvPr>
        </p:nvSpPr>
        <p:spPr>
          <a:xfrm>
            <a:off x="838200" y="1825625"/>
            <a:ext cx="4343400" cy="4351338"/>
          </a:xfrm>
        </p:spPr>
        <p:txBody>
          <a:bodyPr/>
          <a:lstStyle/>
          <a:p>
            <a:r>
              <a:rPr lang="en-US" dirty="0"/>
              <a:t>Lab Assignment 2 graded</a:t>
            </a:r>
          </a:p>
          <a:p>
            <a:r>
              <a:rPr lang="en-US" dirty="0"/>
              <a:t>New lab assignment posted</a:t>
            </a:r>
          </a:p>
          <a:p>
            <a:endParaRPr lang="en-US" dirty="0"/>
          </a:p>
          <a:p>
            <a:endParaRPr lang="en-US" dirty="0"/>
          </a:p>
        </p:txBody>
      </p:sp>
      <p:pic>
        <p:nvPicPr>
          <p:cNvPr id="5" name="Picture 4">
            <a:extLst>
              <a:ext uri="{FF2B5EF4-FFF2-40B4-BE49-F238E27FC236}">
                <a16:creationId xmlns:a16="http://schemas.microsoft.com/office/drawing/2014/main" id="{6665DA08-0A89-1243-C600-2D30A830B216}"/>
              </a:ext>
            </a:extLst>
          </p:cNvPr>
          <p:cNvPicPr>
            <a:picLocks noChangeAspect="1"/>
          </p:cNvPicPr>
          <p:nvPr/>
        </p:nvPicPr>
        <p:blipFill>
          <a:blip r:embed="rId2"/>
          <a:stretch>
            <a:fillRect/>
          </a:stretch>
        </p:blipFill>
        <p:spPr>
          <a:xfrm>
            <a:off x="5428632" y="253837"/>
            <a:ext cx="6407479" cy="6350326"/>
          </a:xfrm>
          <a:prstGeom prst="rect">
            <a:avLst/>
          </a:prstGeom>
        </p:spPr>
      </p:pic>
    </p:spTree>
    <p:extLst>
      <p:ext uri="{BB962C8B-B14F-4D97-AF65-F5344CB8AC3E}">
        <p14:creationId xmlns:p14="http://schemas.microsoft.com/office/powerpoint/2010/main" val="949666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8357-F133-828F-E648-DFD0EBF12B8F}"/>
              </a:ext>
            </a:extLst>
          </p:cNvPr>
          <p:cNvSpPr>
            <a:spLocks noGrp="1"/>
          </p:cNvSpPr>
          <p:nvPr>
            <p:ph type="title"/>
          </p:nvPr>
        </p:nvSpPr>
        <p:spPr/>
        <p:txBody>
          <a:bodyPr/>
          <a:lstStyle/>
          <a:p>
            <a:r>
              <a:rPr lang="en-US" dirty="0"/>
              <a:t>Transforming Data: Why do we do it?</a:t>
            </a:r>
          </a:p>
        </p:txBody>
      </p:sp>
      <p:pic>
        <p:nvPicPr>
          <p:cNvPr id="1026" name="Picture 2" descr="Y Tho | Know Your Meme">
            <a:extLst>
              <a:ext uri="{FF2B5EF4-FFF2-40B4-BE49-F238E27FC236}">
                <a16:creationId xmlns:a16="http://schemas.microsoft.com/office/drawing/2014/main" id="{216CB488-55C7-645F-0CDC-29EF6EFA45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890713"/>
            <a:ext cx="7620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545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8357-F133-828F-E648-DFD0EBF12B8F}"/>
              </a:ext>
            </a:extLst>
          </p:cNvPr>
          <p:cNvSpPr>
            <a:spLocks noGrp="1"/>
          </p:cNvSpPr>
          <p:nvPr>
            <p:ph type="title"/>
          </p:nvPr>
        </p:nvSpPr>
        <p:spPr/>
        <p:txBody>
          <a:bodyPr/>
          <a:lstStyle/>
          <a:p>
            <a:r>
              <a:rPr lang="en-US" dirty="0"/>
              <a:t>Transforming Data: Why do we do it?</a:t>
            </a:r>
          </a:p>
        </p:txBody>
      </p:sp>
      <p:sp>
        <p:nvSpPr>
          <p:cNvPr id="3" name="Content Placeholder 2">
            <a:extLst>
              <a:ext uri="{FF2B5EF4-FFF2-40B4-BE49-F238E27FC236}">
                <a16:creationId xmlns:a16="http://schemas.microsoft.com/office/drawing/2014/main" id="{5910DC43-1DF1-7E22-2817-2D2165C3A576}"/>
              </a:ext>
            </a:extLst>
          </p:cNvPr>
          <p:cNvSpPr>
            <a:spLocks noGrp="1"/>
          </p:cNvSpPr>
          <p:nvPr>
            <p:ph idx="1"/>
          </p:nvPr>
        </p:nvSpPr>
        <p:spPr/>
        <p:txBody>
          <a:bodyPr/>
          <a:lstStyle/>
          <a:p>
            <a:pPr marL="0" indent="0">
              <a:buNone/>
            </a:pPr>
            <a:r>
              <a:rPr lang="en-US" dirty="0"/>
              <a:t>To avoid violating assumptions…</a:t>
            </a:r>
          </a:p>
          <a:p>
            <a:r>
              <a:rPr lang="en-US" dirty="0"/>
              <a:t>To even out the variance if the assumption of homoscedasticity is violated </a:t>
            </a:r>
          </a:p>
          <a:p>
            <a:r>
              <a:rPr lang="en-US" dirty="0"/>
              <a:t>To normalize a variable if the assumption of normality is violated</a:t>
            </a:r>
          </a:p>
          <a:p>
            <a:r>
              <a:rPr lang="en-US" dirty="0"/>
              <a:t>To linearize model if variable looks non-linear</a:t>
            </a:r>
          </a:p>
          <a:p>
            <a:r>
              <a:rPr lang="en-US" dirty="0"/>
              <a:t>Reduce the impact of outliers</a:t>
            </a:r>
          </a:p>
        </p:txBody>
      </p:sp>
    </p:spTree>
    <p:extLst>
      <p:ext uri="{BB962C8B-B14F-4D97-AF65-F5344CB8AC3E}">
        <p14:creationId xmlns:p14="http://schemas.microsoft.com/office/powerpoint/2010/main" val="194698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1EBA-F47E-FDFA-DB0A-B33DA8BEF361}"/>
              </a:ext>
            </a:extLst>
          </p:cNvPr>
          <p:cNvSpPr>
            <a:spLocks noGrp="1"/>
          </p:cNvSpPr>
          <p:nvPr>
            <p:ph type="title"/>
          </p:nvPr>
        </p:nvSpPr>
        <p:spPr/>
        <p:txBody>
          <a:bodyPr/>
          <a:lstStyle/>
          <a:p>
            <a:r>
              <a:rPr lang="en-US" dirty="0"/>
              <a:t>Let’s Talk Transformations</a:t>
            </a:r>
          </a:p>
        </p:txBody>
      </p:sp>
      <p:sp>
        <p:nvSpPr>
          <p:cNvPr id="3" name="Content Placeholder 2">
            <a:extLst>
              <a:ext uri="{FF2B5EF4-FFF2-40B4-BE49-F238E27FC236}">
                <a16:creationId xmlns:a16="http://schemas.microsoft.com/office/drawing/2014/main" id="{8B343F3A-8180-9B11-9D93-4FB7C5F314C8}"/>
              </a:ext>
            </a:extLst>
          </p:cNvPr>
          <p:cNvSpPr>
            <a:spLocks noGrp="1"/>
          </p:cNvSpPr>
          <p:nvPr>
            <p:ph idx="1"/>
          </p:nvPr>
        </p:nvSpPr>
        <p:spPr/>
        <p:txBody>
          <a:bodyPr>
            <a:normAutofit/>
          </a:bodyPr>
          <a:lstStyle/>
          <a:p>
            <a:r>
              <a:rPr lang="en-US" dirty="0"/>
              <a:t>Transformation changes the scale of the data but doesn’t change the relative ordering of observations</a:t>
            </a:r>
          </a:p>
          <a:p>
            <a:pPr lvl="1"/>
            <a:r>
              <a:rPr lang="en-US" dirty="0"/>
              <a:t>E.g. log10() turns values such as 1,10, and 100 into 0, 1, 2 -&gt; the observations are still in the same order, but large values have less influence</a:t>
            </a:r>
          </a:p>
          <a:p>
            <a:r>
              <a:rPr lang="en-US" dirty="0"/>
              <a:t>This is okay because typically we are interested in the underlying pattern, rather than the original measurement </a:t>
            </a:r>
            <a:r>
              <a:rPr lang="en-US"/>
              <a:t>scale itself</a:t>
            </a:r>
            <a:endParaRPr lang="en-US" dirty="0"/>
          </a:p>
        </p:txBody>
      </p:sp>
    </p:spTree>
    <p:extLst>
      <p:ext uri="{BB962C8B-B14F-4D97-AF65-F5344CB8AC3E}">
        <p14:creationId xmlns:p14="http://schemas.microsoft.com/office/powerpoint/2010/main" val="101188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1AA2B-7BFE-332C-4B71-BF93E3BAB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86E5A-30C0-736B-8BF0-AB60B50818AE}"/>
              </a:ext>
            </a:extLst>
          </p:cNvPr>
          <p:cNvSpPr>
            <a:spLocks noGrp="1"/>
          </p:cNvSpPr>
          <p:nvPr>
            <p:ph type="title"/>
          </p:nvPr>
        </p:nvSpPr>
        <p:spPr/>
        <p:txBody>
          <a:bodyPr/>
          <a:lstStyle/>
          <a:p>
            <a:r>
              <a:rPr lang="en-US" dirty="0"/>
              <a:t>Let’s Talk Transformations</a:t>
            </a:r>
          </a:p>
        </p:txBody>
      </p:sp>
      <p:sp>
        <p:nvSpPr>
          <p:cNvPr id="3" name="Content Placeholder 2">
            <a:extLst>
              <a:ext uri="{FF2B5EF4-FFF2-40B4-BE49-F238E27FC236}">
                <a16:creationId xmlns:a16="http://schemas.microsoft.com/office/drawing/2014/main" id="{6ADE333E-1726-32D7-ED28-1E482EFFC9DB}"/>
              </a:ext>
            </a:extLst>
          </p:cNvPr>
          <p:cNvSpPr>
            <a:spLocks noGrp="1"/>
          </p:cNvSpPr>
          <p:nvPr>
            <p:ph idx="1"/>
          </p:nvPr>
        </p:nvSpPr>
        <p:spPr>
          <a:xfrm>
            <a:off x="838200" y="2434589"/>
            <a:ext cx="10515600" cy="3136583"/>
          </a:xfrm>
        </p:spPr>
        <p:txBody>
          <a:bodyPr>
            <a:normAutofit/>
          </a:bodyPr>
          <a:lstStyle/>
          <a:p>
            <a:pPr marL="0" indent="0" algn="ctr">
              <a:buNone/>
            </a:pPr>
            <a:r>
              <a:rPr lang="en-US" b="1" dirty="0"/>
              <a:t>This is NOT changing the data to get the result you want!</a:t>
            </a:r>
          </a:p>
          <a:p>
            <a:pPr marL="0" indent="0" algn="ctr">
              <a:buNone/>
            </a:pPr>
            <a:endParaRPr lang="en-US" dirty="0"/>
          </a:p>
          <a:p>
            <a:pPr marL="0" indent="0" algn="ctr">
              <a:buNone/>
            </a:pPr>
            <a:r>
              <a:rPr lang="en-US" dirty="0"/>
              <a:t>The goal of a transformation is not to make the data look better—it is to make the statistical model better suited to the data.</a:t>
            </a:r>
          </a:p>
          <a:p>
            <a:pPr marL="0" indent="0" algn="ctr">
              <a:buNone/>
            </a:pPr>
            <a:endParaRPr lang="en-US" dirty="0"/>
          </a:p>
        </p:txBody>
      </p:sp>
    </p:spTree>
    <p:extLst>
      <p:ext uri="{BB962C8B-B14F-4D97-AF65-F5344CB8AC3E}">
        <p14:creationId xmlns:p14="http://schemas.microsoft.com/office/powerpoint/2010/main" val="57329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8357-F133-828F-E648-DFD0EBF12B8F}"/>
              </a:ext>
            </a:extLst>
          </p:cNvPr>
          <p:cNvSpPr>
            <a:spLocks noGrp="1"/>
          </p:cNvSpPr>
          <p:nvPr>
            <p:ph type="title"/>
          </p:nvPr>
        </p:nvSpPr>
        <p:spPr/>
        <p:txBody>
          <a:bodyPr/>
          <a:lstStyle/>
          <a:p>
            <a:r>
              <a:rPr lang="en-US" dirty="0"/>
              <a:t>Transforming Data</a:t>
            </a:r>
          </a:p>
        </p:txBody>
      </p:sp>
      <p:pic>
        <p:nvPicPr>
          <p:cNvPr id="8" name="Picture 7">
            <a:extLst>
              <a:ext uri="{FF2B5EF4-FFF2-40B4-BE49-F238E27FC236}">
                <a16:creationId xmlns:a16="http://schemas.microsoft.com/office/drawing/2014/main" id="{99651099-2117-1F93-031C-9034A5E98FD5}"/>
              </a:ext>
            </a:extLst>
          </p:cNvPr>
          <p:cNvPicPr>
            <a:picLocks noChangeAspect="1"/>
          </p:cNvPicPr>
          <p:nvPr/>
        </p:nvPicPr>
        <p:blipFill rotWithShape="1">
          <a:blip r:embed="rId2"/>
          <a:srcRect l="5471"/>
          <a:stretch/>
        </p:blipFill>
        <p:spPr>
          <a:xfrm>
            <a:off x="1898249" y="1690688"/>
            <a:ext cx="7715815" cy="4158206"/>
          </a:xfrm>
          <a:prstGeom prst="rect">
            <a:avLst/>
          </a:prstGeom>
        </p:spPr>
      </p:pic>
      <p:sp>
        <p:nvSpPr>
          <p:cNvPr id="9" name="TextBox 8">
            <a:extLst>
              <a:ext uri="{FF2B5EF4-FFF2-40B4-BE49-F238E27FC236}">
                <a16:creationId xmlns:a16="http://schemas.microsoft.com/office/drawing/2014/main" id="{95B9DFD9-6B7B-1DE1-9FAB-46A4189EA296}"/>
              </a:ext>
            </a:extLst>
          </p:cNvPr>
          <p:cNvSpPr txBox="1"/>
          <p:nvPr/>
        </p:nvSpPr>
        <p:spPr>
          <a:xfrm>
            <a:off x="3229337" y="6154850"/>
            <a:ext cx="1203767" cy="523220"/>
          </a:xfrm>
          <a:prstGeom prst="rect">
            <a:avLst/>
          </a:prstGeom>
          <a:noFill/>
        </p:spPr>
        <p:txBody>
          <a:bodyPr wrap="square" rtlCol="0">
            <a:spAutoFit/>
          </a:bodyPr>
          <a:lstStyle/>
          <a:p>
            <a:r>
              <a:rPr lang="en-US" sz="2800" dirty="0"/>
              <a:t>RIGHT</a:t>
            </a:r>
          </a:p>
        </p:txBody>
      </p:sp>
      <p:sp>
        <p:nvSpPr>
          <p:cNvPr id="10" name="TextBox 9">
            <a:extLst>
              <a:ext uri="{FF2B5EF4-FFF2-40B4-BE49-F238E27FC236}">
                <a16:creationId xmlns:a16="http://schemas.microsoft.com/office/drawing/2014/main" id="{B89C777F-E185-B261-FD44-A1D1F45BD670}"/>
              </a:ext>
            </a:extLst>
          </p:cNvPr>
          <p:cNvSpPr txBox="1"/>
          <p:nvPr/>
        </p:nvSpPr>
        <p:spPr>
          <a:xfrm>
            <a:off x="7444451" y="6154850"/>
            <a:ext cx="1203767" cy="523220"/>
          </a:xfrm>
          <a:prstGeom prst="rect">
            <a:avLst/>
          </a:prstGeom>
          <a:noFill/>
        </p:spPr>
        <p:txBody>
          <a:bodyPr wrap="square" rtlCol="0">
            <a:spAutoFit/>
          </a:bodyPr>
          <a:lstStyle/>
          <a:p>
            <a:r>
              <a:rPr lang="en-US" sz="2800" dirty="0"/>
              <a:t>LEFT</a:t>
            </a:r>
          </a:p>
        </p:txBody>
      </p:sp>
    </p:spTree>
    <p:extLst>
      <p:ext uri="{BB962C8B-B14F-4D97-AF65-F5344CB8AC3E}">
        <p14:creationId xmlns:p14="http://schemas.microsoft.com/office/powerpoint/2010/main" val="233404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8357-F133-828F-E648-DFD0EBF12B8F}"/>
              </a:ext>
            </a:extLst>
          </p:cNvPr>
          <p:cNvSpPr>
            <a:spLocks noGrp="1"/>
          </p:cNvSpPr>
          <p:nvPr>
            <p:ph type="title"/>
          </p:nvPr>
        </p:nvSpPr>
        <p:spPr/>
        <p:txBody>
          <a:bodyPr/>
          <a:lstStyle/>
          <a:p>
            <a:r>
              <a:rPr lang="en-US" dirty="0"/>
              <a:t>Transforming Data</a:t>
            </a:r>
          </a:p>
        </p:txBody>
      </p:sp>
      <p:pic>
        <p:nvPicPr>
          <p:cNvPr id="5" name="Picture 4">
            <a:extLst>
              <a:ext uri="{FF2B5EF4-FFF2-40B4-BE49-F238E27FC236}">
                <a16:creationId xmlns:a16="http://schemas.microsoft.com/office/drawing/2014/main" id="{AF48ABD0-19F0-95C2-AC7C-EB510B8F1E26}"/>
              </a:ext>
            </a:extLst>
          </p:cNvPr>
          <p:cNvPicPr>
            <a:picLocks noChangeAspect="1"/>
          </p:cNvPicPr>
          <p:nvPr/>
        </p:nvPicPr>
        <p:blipFill>
          <a:blip r:embed="rId2"/>
          <a:stretch>
            <a:fillRect/>
          </a:stretch>
        </p:blipFill>
        <p:spPr>
          <a:xfrm>
            <a:off x="1668080" y="1924748"/>
            <a:ext cx="8855839" cy="4295946"/>
          </a:xfrm>
          <a:prstGeom prst="rect">
            <a:avLst/>
          </a:prstGeom>
        </p:spPr>
      </p:pic>
    </p:spTree>
    <p:extLst>
      <p:ext uri="{BB962C8B-B14F-4D97-AF65-F5344CB8AC3E}">
        <p14:creationId xmlns:p14="http://schemas.microsoft.com/office/powerpoint/2010/main" val="118804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ransforming Skewed Data: How to choose the right transformation for your  distribution – Biostatistics &amp; Bioinformatics Services">
            <a:extLst>
              <a:ext uri="{FF2B5EF4-FFF2-40B4-BE49-F238E27FC236}">
                <a16:creationId xmlns:a16="http://schemas.microsoft.com/office/drawing/2014/main" id="{6C47608A-EFE0-1966-E927-B0E03F748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836" y="1690688"/>
            <a:ext cx="8231119" cy="32356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1C78357-F133-828F-E648-DFD0EBF12B8F}"/>
              </a:ext>
            </a:extLst>
          </p:cNvPr>
          <p:cNvSpPr>
            <a:spLocks noGrp="1"/>
          </p:cNvSpPr>
          <p:nvPr>
            <p:ph type="title"/>
          </p:nvPr>
        </p:nvSpPr>
        <p:spPr/>
        <p:txBody>
          <a:bodyPr/>
          <a:lstStyle/>
          <a:p>
            <a:r>
              <a:rPr lang="en-US" dirty="0"/>
              <a:t>Transforming Data: Which one to use?</a:t>
            </a:r>
          </a:p>
        </p:txBody>
      </p:sp>
      <p:sp>
        <p:nvSpPr>
          <p:cNvPr id="6" name="Content Placeholder 5">
            <a:extLst>
              <a:ext uri="{FF2B5EF4-FFF2-40B4-BE49-F238E27FC236}">
                <a16:creationId xmlns:a16="http://schemas.microsoft.com/office/drawing/2014/main" id="{7E4CD51E-8155-B891-F7CC-E4BF37BF7188}"/>
              </a:ext>
            </a:extLst>
          </p:cNvPr>
          <p:cNvSpPr>
            <a:spLocks noGrp="1"/>
          </p:cNvSpPr>
          <p:nvPr>
            <p:ph idx="1"/>
          </p:nvPr>
        </p:nvSpPr>
        <p:spPr>
          <a:xfrm>
            <a:off x="838200" y="5167312"/>
            <a:ext cx="10515600" cy="1463872"/>
          </a:xfrm>
        </p:spPr>
        <p:txBody>
          <a:bodyPr>
            <a:normAutofit fontScale="92500" lnSpcReduction="20000"/>
          </a:bodyPr>
          <a:lstStyle/>
          <a:p>
            <a:r>
              <a:rPr lang="en-US" dirty="0"/>
              <a:t>Reflect: flips the distribution, necessary for left skewed data</a:t>
            </a:r>
          </a:p>
          <a:p>
            <a:pPr lvl="1"/>
            <a:r>
              <a:rPr lang="en-US" dirty="0"/>
              <a:t>(MAX + 1) – X</a:t>
            </a:r>
          </a:p>
          <a:p>
            <a:r>
              <a:rPr lang="en-US" dirty="0"/>
              <a:t>FYI: log() in R is natural log </a:t>
            </a:r>
            <a:r>
              <a:rPr lang="en-US" dirty="0">
                <a:sym typeface="Wingdings" panose="05000000000000000000" pitchFamily="2" charset="2"/>
              </a:rPr>
              <a:t>ln() is the same</a:t>
            </a:r>
          </a:p>
          <a:p>
            <a:pPr lvl="1"/>
            <a:r>
              <a:rPr lang="en-US" dirty="0">
                <a:sym typeface="Wingdings" panose="05000000000000000000" pitchFamily="2" charset="2"/>
              </a:rPr>
              <a:t>log10() gives log base 10</a:t>
            </a:r>
            <a:endParaRPr lang="en-US" dirty="0"/>
          </a:p>
        </p:txBody>
      </p:sp>
    </p:spTree>
    <p:extLst>
      <p:ext uri="{BB962C8B-B14F-4D97-AF65-F5344CB8AC3E}">
        <p14:creationId xmlns:p14="http://schemas.microsoft.com/office/powerpoint/2010/main" val="1928331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336A3-2C74-71AF-069E-DBA464C54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AF549-16E9-9733-61A6-799FF4E40211}"/>
              </a:ext>
            </a:extLst>
          </p:cNvPr>
          <p:cNvSpPr>
            <a:spLocks noGrp="1"/>
          </p:cNvSpPr>
          <p:nvPr>
            <p:ph type="title"/>
          </p:nvPr>
        </p:nvSpPr>
        <p:spPr/>
        <p:txBody>
          <a:bodyPr/>
          <a:lstStyle/>
          <a:p>
            <a:r>
              <a:rPr lang="en-US" dirty="0"/>
              <a:t>Let’s Talk Transformations</a:t>
            </a:r>
          </a:p>
        </p:txBody>
      </p:sp>
      <p:sp>
        <p:nvSpPr>
          <p:cNvPr id="3" name="Content Placeholder 2">
            <a:extLst>
              <a:ext uri="{FF2B5EF4-FFF2-40B4-BE49-F238E27FC236}">
                <a16:creationId xmlns:a16="http://schemas.microsoft.com/office/drawing/2014/main" id="{6205CDD7-A913-103F-C2DA-5137A276B996}"/>
              </a:ext>
            </a:extLst>
          </p:cNvPr>
          <p:cNvSpPr>
            <a:spLocks noGrp="1"/>
          </p:cNvSpPr>
          <p:nvPr>
            <p:ph idx="1"/>
          </p:nvPr>
        </p:nvSpPr>
        <p:spPr>
          <a:xfrm>
            <a:off x="838200" y="1440815"/>
            <a:ext cx="10515600" cy="5052060"/>
          </a:xfrm>
        </p:spPr>
        <p:txBody>
          <a:bodyPr>
            <a:normAutofit fontScale="92500" lnSpcReduction="20000"/>
          </a:bodyPr>
          <a:lstStyle/>
          <a:p>
            <a:pPr marL="0" indent="0">
              <a:buNone/>
            </a:pPr>
            <a:r>
              <a:rPr lang="en-US" dirty="0"/>
              <a:t>When presenting results of a test performed on transformed data:</a:t>
            </a:r>
          </a:p>
          <a:p>
            <a:r>
              <a:rPr lang="en-US" dirty="0"/>
              <a:t>State that the data were transformed</a:t>
            </a:r>
          </a:p>
          <a:p>
            <a:r>
              <a:rPr lang="en-US" dirty="0"/>
              <a:t>Report the results of the statistical test normally, but make sure you are very clear what your response variable is (log transformed?)</a:t>
            </a:r>
          </a:p>
          <a:p>
            <a:pPr lvl="1"/>
            <a:r>
              <a:rPr lang="en-US" dirty="0"/>
              <a:t>Leave no doubt about whether you are talking about raw or transformed data</a:t>
            </a:r>
          </a:p>
          <a:p>
            <a:r>
              <a:rPr lang="en-US" dirty="0"/>
              <a:t>Be careful when interpreting effect size</a:t>
            </a:r>
          </a:p>
          <a:p>
            <a:pPr lvl="1"/>
            <a:r>
              <a:rPr lang="en-US" dirty="0"/>
              <a:t>You might need to back transform.</a:t>
            </a:r>
          </a:p>
          <a:p>
            <a:r>
              <a:rPr lang="en-US" dirty="0"/>
              <a:t>Present figures in a way that helps the reader understand the system (not necessarily the statistics)</a:t>
            </a:r>
          </a:p>
          <a:p>
            <a:pPr lvl="1"/>
            <a:r>
              <a:rPr lang="en-US" dirty="0"/>
              <a:t>You may want to show the raw data in figures because the original units are often more intuitive. However, if the statistical analysis was performed on transformed data, make that clear in the figure caption. Alternatively, you can plot the transformed values if that better represents the analysis, but your axis labels should make that clear.</a:t>
            </a:r>
          </a:p>
          <a:p>
            <a:r>
              <a:rPr lang="en-US" dirty="0"/>
              <a:t>Interpret your results in the context of the original research question</a:t>
            </a:r>
          </a:p>
        </p:txBody>
      </p:sp>
    </p:spTree>
    <p:extLst>
      <p:ext uri="{BB962C8B-B14F-4D97-AF65-F5344CB8AC3E}">
        <p14:creationId xmlns:p14="http://schemas.microsoft.com/office/powerpoint/2010/main" val="410767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82BD-785A-4779-EA88-5510F3B636C1}"/>
              </a:ext>
            </a:extLst>
          </p:cNvPr>
          <p:cNvSpPr>
            <a:spLocks noGrp="1"/>
          </p:cNvSpPr>
          <p:nvPr>
            <p:ph type="title"/>
          </p:nvPr>
        </p:nvSpPr>
        <p:spPr>
          <a:xfrm>
            <a:off x="838200" y="2766218"/>
            <a:ext cx="10515600" cy="1325563"/>
          </a:xfrm>
        </p:spPr>
        <p:txBody>
          <a:bodyPr>
            <a:normAutofit fontScale="90000"/>
          </a:bodyPr>
          <a:lstStyle/>
          <a:p>
            <a:pPr algn="ctr"/>
            <a:r>
              <a:rPr lang="en-US" dirty="0"/>
              <a:t>Analyze on the scale that meets the assumptions but interpret and communicate the result in a biologically meaningful way.</a:t>
            </a:r>
          </a:p>
        </p:txBody>
      </p:sp>
    </p:spTree>
    <p:extLst>
      <p:ext uri="{BB962C8B-B14F-4D97-AF65-F5344CB8AC3E}">
        <p14:creationId xmlns:p14="http://schemas.microsoft.com/office/powerpoint/2010/main" val="580876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7E6D1-344D-F4D0-E79B-F67E73AF09BE}"/>
              </a:ext>
            </a:extLst>
          </p:cNvPr>
          <p:cNvSpPr>
            <a:spLocks noGrp="1"/>
          </p:cNvSpPr>
          <p:nvPr>
            <p:ph type="title"/>
          </p:nvPr>
        </p:nvSpPr>
        <p:spPr/>
        <p:txBody>
          <a:bodyPr/>
          <a:lstStyle/>
          <a:p>
            <a:pPr algn="ctr"/>
            <a:r>
              <a:rPr lang="en-US" dirty="0"/>
              <a:t>Texas Bluebonnets</a:t>
            </a:r>
          </a:p>
        </p:txBody>
      </p:sp>
      <p:sp>
        <p:nvSpPr>
          <p:cNvPr id="3" name="Content Placeholder 2">
            <a:extLst>
              <a:ext uri="{FF2B5EF4-FFF2-40B4-BE49-F238E27FC236}">
                <a16:creationId xmlns:a16="http://schemas.microsoft.com/office/drawing/2014/main" id="{A7F5FE7E-9BD1-98D9-EFC3-F685EEE6A35E}"/>
              </a:ext>
            </a:extLst>
          </p:cNvPr>
          <p:cNvSpPr>
            <a:spLocks noGrp="1"/>
          </p:cNvSpPr>
          <p:nvPr>
            <p:ph idx="1"/>
          </p:nvPr>
        </p:nvSpPr>
        <p:spPr>
          <a:xfrm>
            <a:off x="5470967" y="2141537"/>
            <a:ext cx="6257081" cy="4351338"/>
          </a:xfrm>
        </p:spPr>
        <p:txBody>
          <a:bodyPr>
            <a:normAutofit/>
          </a:bodyPr>
          <a:lstStyle/>
          <a:p>
            <a:r>
              <a:rPr lang="en-US" dirty="0"/>
              <a:t>State flower of Texas</a:t>
            </a:r>
          </a:p>
          <a:p>
            <a:r>
              <a:rPr lang="en-US" dirty="0"/>
              <a:t>Let’s say we own a farm with bluebonnets, and Texan Instagram influencers pay us money to take pictures with our flowers</a:t>
            </a:r>
          </a:p>
          <a:p>
            <a:r>
              <a:rPr lang="en-US" dirty="0"/>
              <a:t>We want to maximize our blooms, so we decide to run an experiment to determine which soil and fertilizer type increases our bloom density</a:t>
            </a:r>
          </a:p>
          <a:p>
            <a:pPr lvl="1"/>
            <a:endParaRPr lang="en-US" dirty="0"/>
          </a:p>
          <a:p>
            <a:endParaRPr lang="en-US" dirty="0"/>
          </a:p>
        </p:txBody>
      </p:sp>
      <p:pic>
        <p:nvPicPr>
          <p:cNvPr id="3074" name="Picture 2" descr="How did the bluebonnet become a symbol of Texas?">
            <a:extLst>
              <a:ext uri="{FF2B5EF4-FFF2-40B4-BE49-F238E27FC236}">
                <a16:creationId xmlns:a16="http://schemas.microsoft.com/office/drawing/2014/main" id="{2C48633E-EFEB-F8AD-F915-54F583A153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766" y="2338086"/>
            <a:ext cx="4748514" cy="316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960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7E6D1-344D-F4D0-E79B-F67E73AF09BE}"/>
              </a:ext>
            </a:extLst>
          </p:cNvPr>
          <p:cNvSpPr>
            <a:spLocks noGrp="1"/>
          </p:cNvSpPr>
          <p:nvPr>
            <p:ph type="title"/>
          </p:nvPr>
        </p:nvSpPr>
        <p:spPr>
          <a:xfrm>
            <a:off x="853633" y="-5790"/>
            <a:ext cx="10515600" cy="1325563"/>
          </a:xfrm>
        </p:spPr>
        <p:txBody>
          <a:bodyPr/>
          <a:lstStyle/>
          <a:p>
            <a:pPr algn="ctr"/>
            <a:r>
              <a:rPr lang="en-US" dirty="0"/>
              <a:t>Texas Bluebonnets</a:t>
            </a:r>
          </a:p>
        </p:txBody>
      </p:sp>
      <p:sp>
        <p:nvSpPr>
          <p:cNvPr id="3" name="Content Placeholder 2">
            <a:extLst>
              <a:ext uri="{FF2B5EF4-FFF2-40B4-BE49-F238E27FC236}">
                <a16:creationId xmlns:a16="http://schemas.microsoft.com/office/drawing/2014/main" id="{A7F5FE7E-9BD1-98D9-EFC3-F685EEE6A35E}"/>
              </a:ext>
            </a:extLst>
          </p:cNvPr>
          <p:cNvSpPr>
            <a:spLocks noGrp="1"/>
          </p:cNvSpPr>
          <p:nvPr>
            <p:ph idx="1"/>
          </p:nvPr>
        </p:nvSpPr>
        <p:spPr>
          <a:xfrm>
            <a:off x="651075" y="1371629"/>
            <a:ext cx="8823766" cy="4419490"/>
          </a:xfrm>
        </p:spPr>
        <p:txBody>
          <a:bodyPr>
            <a:normAutofit/>
          </a:bodyPr>
          <a:lstStyle/>
          <a:p>
            <a:pPr lvl="1"/>
            <a:r>
              <a:rPr lang="en-US" dirty="0"/>
              <a:t>2 soil types (green fill), 3 fertilizer types (outline)</a:t>
            </a:r>
          </a:p>
          <a:p>
            <a:pPr lvl="1"/>
            <a:r>
              <a:rPr lang="en-US" dirty="0"/>
              <a:t>every combination 5 times</a:t>
            </a:r>
          </a:p>
          <a:p>
            <a:pPr lvl="1"/>
            <a:r>
              <a:rPr lang="en-US" dirty="0"/>
              <a:t>randomly distribute treatment plots throughout our field</a:t>
            </a:r>
          </a:p>
          <a:p>
            <a:pPr lvl="1"/>
            <a:endParaRPr lang="en-US" dirty="0"/>
          </a:p>
          <a:p>
            <a:endParaRPr lang="en-US" dirty="0"/>
          </a:p>
        </p:txBody>
      </p:sp>
      <p:sp>
        <p:nvSpPr>
          <p:cNvPr id="4" name="Rectangle 3">
            <a:extLst>
              <a:ext uri="{FF2B5EF4-FFF2-40B4-BE49-F238E27FC236}">
                <a16:creationId xmlns:a16="http://schemas.microsoft.com/office/drawing/2014/main" id="{C44E4AC8-D56F-6CBF-8B12-DF614F7FF072}"/>
              </a:ext>
            </a:extLst>
          </p:cNvPr>
          <p:cNvSpPr/>
          <p:nvPr/>
        </p:nvSpPr>
        <p:spPr>
          <a:xfrm>
            <a:off x="393539" y="2835804"/>
            <a:ext cx="11435788" cy="3911721"/>
          </a:xfrm>
          <a:prstGeom prst="rect">
            <a:avLst/>
          </a:prstGeom>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091F71B-B31B-F8FF-C2EC-D9AC59D6D0F6}"/>
              </a:ext>
            </a:extLst>
          </p:cNvPr>
          <p:cNvSpPr/>
          <p:nvPr/>
        </p:nvSpPr>
        <p:spPr>
          <a:xfrm>
            <a:off x="838200" y="3240918"/>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10" name="Rectangle 9">
            <a:extLst>
              <a:ext uri="{FF2B5EF4-FFF2-40B4-BE49-F238E27FC236}">
                <a16:creationId xmlns:a16="http://schemas.microsoft.com/office/drawing/2014/main" id="{19E76442-997C-C17A-636C-F88D5CDFE6F8}"/>
              </a:ext>
            </a:extLst>
          </p:cNvPr>
          <p:cNvSpPr/>
          <p:nvPr/>
        </p:nvSpPr>
        <p:spPr>
          <a:xfrm>
            <a:off x="770923" y="4575602"/>
            <a:ext cx="851704" cy="729205"/>
          </a:xfrm>
          <a:prstGeom prst="rect">
            <a:avLst/>
          </a:prstGeom>
          <a:solidFill>
            <a:srgbClr val="00B050"/>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F2/S1</a:t>
            </a:r>
          </a:p>
        </p:txBody>
      </p:sp>
      <p:sp>
        <p:nvSpPr>
          <p:cNvPr id="11" name="Rectangle 10">
            <a:extLst>
              <a:ext uri="{FF2B5EF4-FFF2-40B4-BE49-F238E27FC236}">
                <a16:creationId xmlns:a16="http://schemas.microsoft.com/office/drawing/2014/main" id="{BA84BB04-5F65-4F47-0E23-E1FF21E959D2}"/>
              </a:ext>
            </a:extLst>
          </p:cNvPr>
          <p:cNvSpPr/>
          <p:nvPr/>
        </p:nvSpPr>
        <p:spPr>
          <a:xfrm>
            <a:off x="651075" y="5792652"/>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F3/S1</a:t>
            </a:r>
          </a:p>
        </p:txBody>
      </p:sp>
      <p:sp>
        <p:nvSpPr>
          <p:cNvPr id="12" name="Rectangle 11">
            <a:extLst>
              <a:ext uri="{FF2B5EF4-FFF2-40B4-BE49-F238E27FC236}">
                <a16:creationId xmlns:a16="http://schemas.microsoft.com/office/drawing/2014/main" id="{54DFEEDA-52C8-B0B8-7CA6-973C545366BE}"/>
              </a:ext>
            </a:extLst>
          </p:cNvPr>
          <p:cNvSpPr/>
          <p:nvPr/>
        </p:nvSpPr>
        <p:spPr>
          <a:xfrm>
            <a:off x="1947440" y="3240918"/>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13" name="Rectangle 12">
            <a:extLst>
              <a:ext uri="{FF2B5EF4-FFF2-40B4-BE49-F238E27FC236}">
                <a16:creationId xmlns:a16="http://schemas.microsoft.com/office/drawing/2014/main" id="{506D7A49-D0EC-014D-7F89-B2283336BD45}"/>
              </a:ext>
            </a:extLst>
          </p:cNvPr>
          <p:cNvSpPr/>
          <p:nvPr/>
        </p:nvSpPr>
        <p:spPr>
          <a:xfrm>
            <a:off x="8370425" y="3240915"/>
            <a:ext cx="851704" cy="729205"/>
          </a:xfrm>
          <a:prstGeom prst="rect">
            <a:avLst/>
          </a:prstGeom>
          <a:solidFill>
            <a:schemeClr val="accent2"/>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F2/S2</a:t>
            </a:r>
          </a:p>
        </p:txBody>
      </p:sp>
      <p:sp>
        <p:nvSpPr>
          <p:cNvPr id="14" name="Rectangle 13">
            <a:extLst>
              <a:ext uri="{FF2B5EF4-FFF2-40B4-BE49-F238E27FC236}">
                <a16:creationId xmlns:a16="http://schemas.microsoft.com/office/drawing/2014/main" id="{CF1E780E-0AB2-B4C0-62BE-32FA4EDF0A6B}"/>
              </a:ext>
            </a:extLst>
          </p:cNvPr>
          <p:cNvSpPr/>
          <p:nvPr/>
        </p:nvSpPr>
        <p:spPr>
          <a:xfrm>
            <a:off x="1850260" y="5342378"/>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F3/S2</a:t>
            </a:r>
          </a:p>
        </p:txBody>
      </p:sp>
      <p:sp>
        <p:nvSpPr>
          <p:cNvPr id="15" name="Rectangle 14">
            <a:extLst>
              <a:ext uri="{FF2B5EF4-FFF2-40B4-BE49-F238E27FC236}">
                <a16:creationId xmlns:a16="http://schemas.microsoft.com/office/drawing/2014/main" id="{579829C2-EE86-F8A7-5E38-7BAB91DD4C85}"/>
              </a:ext>
            </a:extLst>
          </p:cNvPr>
          <p:cNvSpPr/>
          <p:nvPr/>
        </p:nvSpPr>
        <p:spPr>
          <a:xfrm>
            <a:off x="9678603" y="5086911"/>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16" name="Rectangle 15">
            <a:extLst>
              <a:ext uri="{FF2B5EF4-FFF2-40B4-BE49-F238E27FC236}">
                <a16:creationId xmlns:a16="http://schemas.microsoft.com/office/drawing/2014/main" id="{924DCC94-1AAB-5A6B-6647-F99A5D7027A1}"/>
              </a:ext>
            </a:extLst>
          </p:cNvPr>
          <p:cNvSpPr/>
          <p:nvPr/>
        </p:nvSpPr>
        <p:spPr>
          <a:xfrm>
            <a:off x="6637599" y="5857810"/>
            <a:ext cx="851704" cy="729205"/>
          </a:xfrm>
          <a:prstGeom prst="rect">
            <a:avLst/>
          </a:prstGeom>
          <a:solidFill>
            <a:srgbClr val="00B050"/>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F2/S1</a:t>
            </a:r>
          </a:p>
        </p:txBody>
      </p:sp>
      <p:sp>
        <p:nvSpPr>
          <p:cNvPr id="17" name="Rectangle 16">
            <a:extLst>
              <a:ext uri="{FF2B5EF4-FFF2-40B4-BE49-F238E27FC236}">
                <a16:creationId xmlns:a16="http://schemas.microsoft.com/office/drawing/2014/main" id="{267CFF61-B91A-0463-3908-81D5B4879F3A}"/>
              </a:ext>
            </a:extLst>
          </p:cNvPr>
          <p:cNvSpPr/>
          <p:nvPr/>
        </p:nvSpPr>
        <p:spPr>
          <a:xfrm>
            <a:off x="3178698" y="5608954"/>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F3/S1</a:t>
            </a:r>
          </a:p>
        </p:txBody>
      </p:sp>
      <p:sp>
        <p:nvSpPr>
          <p:cNvPr id="18" name="Rectangle 17">
            <a:extLst>
              <a:ext uri="{FF2B5EF4-FFF2-40B4-BE49-F238E27FC236}">
                <a16:creationId xmlns:a16="http://schemas.microsoft.com/office/drawing/2014/main" id="{A1B9547C-64C6-6FB9-215D-B9CAA6FBA2BF}"/>
              </a:ext>
            </a:extLst>
          </p:cNvPr>
          <p:cNvSpPr/>
          <p:nvPr/>
        </p:nvSpPr>
        <p:spPr>
          <a:xfrm>
            <a:off x="9763245" y="5917218"/>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19" name="Rectangle 18">
            <a:extLst>
              <a:ext uri="{FF2B5EF4-FFF2-40B4-BE49-F238E27FC236}">
                <a16:creationId xmlns:a16="http://schemas.microsoft.com/office/drawing/2014/main" id="{B8A599C8-B45D-1756-0087-42694C3B668A}"/>
              </a:ext>
            </a:extLst>
          </p:cNvPr>
          <p:cNvSpPr/>
          <p:nvPr/>
        </p:nvSpPr>
        <p:spPr>
          <a:xfrm>
            <a:off x="8715977" y="5570680"/>
            <a:ext cx="851704" cy="729205"/>
          </a:xfrm>
          <a:prstGeom prst="rect">
            <a:avLst/>
          </a:prstGeom>
          <a:solidFill>
            <a:schemeClr val="accent2"/>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F2/S2</a:t>
            </a:r>
          </a:p>
        </p:txBody>
      </p:sp>
      <p:sp>
        <p:nvSpPr>
          <p:cNvPr id="20" name="Rectangle 19">
            <a:extLst>
              <a:ext uri="{FF2B5EF4-FFF2-40B4-BE49-F238E27FC236}">
                <a16:creationId xmlns:a16="http://schemas.microsoft.com/office/drawing/2014/main" id="{A28F7A9D-751D-9F16-70CC-286FC006730D}"/>
              </a:ext>
            </a:extLst>
          </p:cNvPr>
          <p:cNvSpPr/>
          <p:nvPr/>
        </p:nvSpPr>
        <p:spPr>
          <a:xfrm>
            <a:off x="3048483" y="3337422"/>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F3/S2</a:t>
            </a:r>
          </a:p>
        </p:txBody>
      </p:sp>
      <p:sp>
        <p:nvSpPr>
          <p:cNvPr id="21" name="Rectangle 20">
            <a:extLst>
              <a:ext uri="{FF2B5EF4-FFF2-40B4-BE49-F238E27FC236}">
                <a16:creationId xmlns:a16="http://schemas.microsoft.com/office/drawing/2014/main" id="{A15CE04D-9E16-D92A-C7F5-712A49C769A3}"/>
              </a:ext>
            </a:extLst>
          </p:cNvPr>
          <p:cNvSpPr/>
          <p:nvPr/>
        </p:nvSpPr>
        <p:spPr>
          <a:xfrm>
            <a:off x="4211256" y="5919892"/>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22" name="Rectangle 21">
            <a:extLst>
              <a:ext uri="{FF2B5EF4-FFF2-40B4-BE49-F238E27FC236}">
                <a16:creationId xmlns:a16="http://schemas.microsoft.com/office/drawing/2014/main" id="{97877462-41EA-07FE-D9D1-DE90B4AC21FC}"/>
              </a:ext>
            </a:extLst>
          </p:cNvPr>
          <p:cNvSpPr/>
          <p:nvPr/>
        </p:nvSpPr>
        <p:spPr>
          <a:xfrm>
            <a:off x="10226232" y="4166892"/>
            <a:ext cx="851704" cy="729205"/>
          </a:xfrm>
          <a:prstGeom prst="rect">
            <a:avLst/>
          </a:prstGeom>
          <a:solidFill>
            <a:srgbClr val="00B050"/>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F2/S1</a:t>
            </a:r>
          </a:p>
        </p:txBody>
      </p:sp>
      <p:sp>
        <p:nvSpPr>
          <p:cNvPr id="23" name="Rectangle 22">
            <a:extLst>
              <a:ext uri="{FF2B5EF4-FFF2-40B4-BE49-F238E27FC236}">
                <a16:creationId xmlns:a16="http://schemas.microsoft.com/office/drawing/2014/main" id="{DAB9DDC5-0F26-449B-143B-21AF23963E3D}"/>
              </a:ext>
            </a:extLst>
          </p:cNvPr>
          <p:cNvSpPr/>
          <p:nvPr/>
        </p:nvSpPr>
        <p:spPr>
          <a:xfrm>
            <a:off x="8075271" y="4648957"/>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F3/S1</a:t>
            </a:r>
          </a:p>
        </p:txBody>
      </p:sp>
      <p:sp>
        <p:nvSpPr>
          <p:cNvPr id="24" name="Rectangle 23">
            <a:extLst>
              <a:ext uri="{FF2B5EF4-FFF2-40B4-BE49-F238E27FC236}">
                <a16:creationId xmlns:a16="http://schemas.microsoft.com/office/drawing/2014/main" id="{CD1BAA2D-0DC0-59A1-E92F-8657B1CE33F0}"/>
              </a:ext>
            </a:extLst>
          </p:cNvPr>
          <p:cNvSpPr/>
          <p:nvPr/>
        </p:nvSpPr>
        <p:spPr>
          <a:xfrm>
            <a:off x="4697393" y="4094993"/>
            <a:ext cx="851704" cy="729205"/>
          </a:xfrm>
          <a:prstGeom prst="rect">
            <a:avLst/>
          </a:prstGeom>
          <a:solidFill>
            <a:schemeClr val="accent2"/>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25" name="Rectangle 24">
            <a:extLst>
              <a:ext uri="{FF2B5EF4-FFF2-40B4-BE49-F238E27FC236}">
                <a16:creationId xmlns:a16="http://schemas.microsoft.com/office/drawing/2014/main" id="{370D0A1C-C46B-0512-1D36-2EA9D436EC33}"/>
              </a:ext>
            </a:extLst>
          </p:cNvPr>
          <p:cNvSpPr/>
          <p:nvPr/>
        </p:nvSpPr>
        <p:spPr>
          <a:xfrm>
            <a:off x="3534620" y="4211000"/>
            <a:ext cx="851704" cy="729205"/>
          </a:xfrm>
          <a:prstGeom prst="rect">
            <a:avLst/>
          </a:prstGeom>
          <a:solidFill>
            <a:schemeClr val="accent2"/>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F2/S2</a:t>
            </a:r>
          </a:p>
        </p:txBody>
      </p:sp>
      <p:sp>
        <p:nvSpPr>
          <p:cNvPr id="26" name="Rectangle 25">
            <a:extLst>
              <a:ext uri="{FF2B5EF4-FFF2-40B4-BE49-F238E27FC236}">
                <a16:creationId xmlns:a16="http://schemas.microsoft.com/office/drawing/2014/main" id="{F08C7AE5-935A-E4C1-FD8E-34DD02E34A08}"/>
              </a:ext>
            </a:extLst>
          </p:cNvPr>
          <p:cNvSpPr/>
          <p:nvPr/>
        </p:nvSpPr>
        <p:spPr>
          <a:xfrm>
            <a:off x="9099388" y="4146865"/>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F3/S2</a:t>
            </a:r>
          </a:p>
        </p:txBody>
      </p:sp>
      <p:sp>
        <p:nvSpPr>
          <p:cNvPr id="27" name="Rectangle 26">
            <a:extLst>
              <a:ext uri="{FF2B5EF4-FFF2-40B4-BE49-F238E27FC236}">
                <a16:creationId xmlns:a16="http://schemas.microsoft.com/office/drawing/2014/main" id="{7C77E2A7-7B59-8C88-1DC3-993CE961ECFB}"/>
              </a:ext>
            </a:extLst>
          </p:cNvPr>
          <p:cNvSpPr/>
          <p:nvPr/>
        </p:nvSpPr>
        <p:spPr>
          <a:xfrm>
            <a:off x="4211256" y="3117193"/>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28" name="Rectangle 27">
            <a:extLst>
              <a:ext uri="{FF2B5EF4-FFF2-40B4-BE49-F238E27FC236}">
                <a16:creationId xmlns:a16="http://schemas.microsoft.com/office/drawing/2014/main" id="{0E6BFC32-B042-D8C1-0948-04E4508EED61}"/>
              </a:ext>
            </a:extLst>
          </p:cNvPr>
          <p:cNvSpPr/>
          <p:nvPr/>
        </p:nvSpPr>
        <p:spPr>
          <a:xfrm>
            <a:off x="7594439" y="5431081"/>
            <a:ext cx="851704" cy="729205"/>
          </a:xfrm>
          <a:prstGeom prst="rect">
            <a:avLst/>
          </a:prstGeom>
          <a:solidFill>
            <a:srgbClr val="00B050"/>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F2/S1</a:t>
            </a:r>
          </a:p>
        </p:txBody>
      </p:sp>
      <p:sp>
        <p:nvSpPr>
          <p:cNvPr id="29" name="Rectangle 28">
            <a:extLst>
              <a:ext uri="{FF2B5EF4-FFF2-40B4-BE49-F238E27FC236}">
                <a16:creationId xmlns:a16="http://schemas.microsoft.com/office/drawing/2014/main" id="{DD081946-6175-A561-DC3E-8976CA5B0F78}"/>
              </a:ext>
            </a:extLst>
          </p:cNvPr>
          <p:cNvSpPr/>
          <p:nvPr/>
        </p:nvSpPr>
        <p:spPr>
          <a:xfrm>
            <a:off x="10794356" y="3029725"/>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F3/S1</a:t>
            </a:r>
          </a:p>
        </p:txBody>
      </p:sp>
      <p:sp>
        <p:nvSpPr>
          <p:cNvPr id="30" name="Rectangle 29">
            <a:extLst>
              <a:ext uri="{FF2B5EF4-FFF2-40B4-BE49-F238E27FC236}">
                <a16:creationId xmlns:a16="http://schemas.microsoft.com/office/drawing/2014/main" id="{56B41B8F-5A1F-1F52-A75A-1E1F3AB04F76}"/>
              </a:ext>
            </a:extLst>
          </p:cNvPr>
          <p:cNvSpPr/>
          <p:nvPr/>
        </p:nvSpPr>
        <p:spPr>
          <a:xfrm>
            <a:off x="4222348" y="5066479"/>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31" name="Rectangle 30">
            <a:extLst>
              <a:ext uri="{FF2B5EF4-FFF2-40B4-BE49-F238E27FC236}">
                <a16:creationId xmlns:a16="http://schemas.microsoft.com/office/drawing/2014/main" id="{54357E39-2173-FABD-E65D-E3260E3A38DC}"/>
              </a:ext>
            </a:extLst>
          </p:cNvPr>
          <p:cNvSpPr/>
          <p:nvPr/>
        </p:nvSpPr>
        <p:spPr>
          <a:xfrm>
            <a:off x="5570316" y="5181304"/>
            <a:ext cx="851704" cy="729205"/>
          </a:xfrm>
          <a:prstGeom prst="rect">
            <a:avLst/>
          </a:prstGeom>
          <a:solidFill>
            <a:schemeClr val="accent2"/>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F2/S2</a:t>
            </a:r>
          </a:p>
        </p:txBody>
      </p:sp>
      <p:sp>
        <p:nvSpPr>
          <p:cNvPr id="32" name="Rectangle 31">
            <a:extLst>
              <a:ext uri="{FF2B5EF4-FFF2-40B4-BE49-F238E27FC236}">
                <a16:creationId xmlns:a16="http://schemas.microsoft.com/office/drawing/2014/main" id="{B6D86F1D-EAEA-E1D5-0F44-878AAB8B8BA1}"/>
              </a:ext>
            </a:extLst>
          </p:cNvPr>
          <p:cNvSpPr/>
          <p:nvPr/>
        </p:nvSpPr>
        <p:spPr>
          <a:xfrm>
            <a:off x="6698366" y="4798382"/>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F3/S2</a:t>
            </a:r>
          </a:p>
        </p:txBody>
      </p:sp>
      <p:sp>
        <p:nvSpPr>
          <p:cNvPr id="33" name="Rectangle 32">
            <a:extLst>
              <a:ext uri="{FF2B5EF4-FFF2-40B4-BE49-F238E27FC236}">
                <a16:creationId xmlns:a16="http://schemas.microsoft.com/office/drawing/2014/main" id="{8BC1E59D-41A5-CE76-9859-F5DE04799876}"/>
              </a:ext>
            </a:extLst>
          </p:cNvPr>
          <p:cNvSpPr/>
          <p:nvPr/>
        </p:nvSpPr>
        <p:spPr>
          <a:xfrm>
            <a:off x="5863542" y="3757920"/>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34" name="Rectangle 33">
            <a:extLst>
              <a:ext uri="{FF2B5EF4-FFF2-40B4-BE49-F238E27FC236}">
                <a16:creationId xmlns:a16="http://schemas.microsoft.com/office/drawing/2014/main" id="{EA5F8C27-9A08-D6FC-0C3F-A9A2429E65D1}"/>
              </a:ext>
            </a:extLst>
          </p:cNvPr>
          <p:cNvSpPr/>
          <p:nvPr/>
        </p:nvSpPr>
        <p:spPr>
          <a:xfrm>
            <a:off x="9392856" y="3319047"/>
            <a:ext cx="851704" cy="729205"/>
          </a:xfrm>
          <a:prstGeom prst="rect">
            <a:avLst/>
          </a:prstGeom>
          <a:solidFill>
            <a:srgbClr val="00B050"/>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F2/S1</a:t>
            </a:r>
          </a:p>
        </p:txBody>
      </p:sp>
      <p:sp>
        <p:nvSpPr>
          <p:cNvPr id="35" name="Rectangle 34">
            <a:extLst>
              <a:ext uri="{FF2B5EF4-FFF2-40B4-BE49-F238E27FC236}">
                <a16:creationId xmlns:a16="http://schemas.microsoft.com/office/drawing/2014/main" id="{2E7C4AA5-D995-09DC-F59A-319D73A5F794}"/>
              </a:ext>
            </a:extLst>
          </p:cNvPr>
          <p:cNvSpPr/>
          <p:nvPr/>
        </p:nvSpPr>
        <p:spPr>
          <a:xfrm>
            <a:off x="2085855" y="4375237"/>
            <a:ext cx="851704" cy="729205"/>
          </a:xfrm>
          <a:prstGeom prst="rect">
            <a:avLst/>
          </a:prstGeom>
          <a:solidFill>
            <a:srgbClr val="00B050"/>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F3/S1</a:t>
            </a:r>
          </a:p>
        </p:txBody>
      </p:sp>
      <p:sp>
        <p:nvSpPr>
          <p:cNvPr id="36" name="Rectangle 35">
            <a:extLst>
              <a:ext uri="{FF2B5EF4-FFF2-40B4-BE49-F238E27FC236}">
                <a16:creationId xmlns:a16="http://schemas.microsoft.com/office/drawing/2014/main" id="{F2BA516F-AA8B-A3F9-0547-0028C74F1273}"/>
              </a:ext>
            </a:extLst>
          </p:cNvPr>
          <p:cNvSpPr/>
          <p:nvPr/>
        </p:nvSpPr>
        <p:spPr>
          <a:xfrm>
            <a:off x="7337385" y="3846398"/>
            <a:ext cx="851704" cy="729205"/>
          </a:xfrm>
          <a:prstGeom prst="rect">
            <a:avLst/>
          </a:prstGeom>
          <a:solidFill>
            <a:schemeClr val="accent2"/>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37" name="Rectangle 36">
            <a:extLst>
              <a:ext uri="{FF2B5EF4-FFF2-40B4-BE49-F238E27FC236}">
                <a16:creationId xmlns:a16="http://schemas.microsoft.com/office/drawing/2014/main" id="{57195ED1-15FE-02D2-84FC-A90B83E2B069}"/>
              </a:ext>
            </a:extLst>
          </p:cNvPr>
          <p:cNvSpPr/>
          <p:nvPr/>
        </p:nvSpPr>
        <p:spPr>
          <a:xfrm>
            <a:off x="10606267" y="5181303"/>
            <a:ext cx="851704" cy="729205"/>
          </a:xfrm>
          <a:prstGeom prst="rect">
            <a:avLst/>
          </a:prstGeom>
          <a:solidFill>
            <a:schemeClr val="accent2"/>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F2/S2</a:t>
            </a:r>
          </a:p>
        </p:txBody>
      </p:sp>
      <p:sp>
        <p:nvSpPr>
          <p:cNvPr id="38" name="Rectangle 37">
            <a:extLst>
              <a:ext uri="{FF2B5EF4-FFF2-40B4-BE49-F238E27FC236}">
                <a16:creationId xmlns:a16="http://schemas.microsoft.com/office/drawing/2014/main" id="{7BAA16D3-12AB-E7B3-445A-8930DDF4F156}"/>
              </a:ext>
            </a:extLst>
          </p:cNvPr>
          <p:cNvSpPr/>
          <p:nvPr/>
        </p:nvSpPr>
        <p:spPr>
          <a:xfrm>
            <a:off x="6359325" y="2951862"/>
            <a:ext cx="851704" cy="729205"/>
          </a:xfrm>
          <a:prstGeom prst="rect">
            <a:avLst/>
          </a:prstGeom>
          <a:solidFill>
            <a:schemeClr val="accent2"/>
          </a:solid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F3/S2</a:t>
            </a:r>
          </a:p>
        </p:txBody>
      </p:sp>
      <p:sp>
        <p:nvSpPr>
          <p:cNvPr id="39" name="Rectangle 38">
            <a:extLst>
              <a:ext uri="{FF2B5EF4-FFF2-40B4-BE49-F238E27FC236}">
                <a16:creationId xmlns:a16="http://schemas.microsoft.com/office/drawing/2014/main" id="{A9C1B42B-0498-5D8E-8098-5240E5956628}"/>
              </a:ext>
            </a:extLst>
          </p:cNvPr>
          <p:cNvSpPr/>
          <p:nvPr/>
        </p:nvSpPr>
        <p:spPr>
          <a:xfrm>
            <a:off x="826625" y="3239385"/>
            <a:ext cx="851704" cy="729205"/>
          </a:xfrm>
          <a:prstGeom prst="rect">
            <a:avLst/>
          </a:prstGeom>
          <a:solidFill>
            <a:srgbClr val="00B050"/>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40" name="Rectangle 39">
            <a:extLst>
              <a:ext uri="{FF2B5EF4-FFF2-40B4-BE49-F238E27FC236}">
                <a16:creationId xmlns:a16="http://schemas.microsoft.com/office/drawing/2014/main" id="{96CD2DC2-0CB5-8F5F-72C5-3FB87D89DF81}"/>
              </a:ext>
            </a:extLst>
          </p:cNvPr>
          <p:cNvSpPr/>
          <p:nvPr/>
        </p:nvSpPr>
        <p:spPr>
          <a:xfrm>
            <a:off x="1935865" y="3239385"/>
            <a:ext cx="851704" cy="729205"/>
          </a:xfrm>
          <a:prstGeom prst="rect">
            <a:avLst/>
          </a:prstGeom>
          <a:solidFill>
            <a:schemeClr val="accent2"/>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41" name="Rectangle 40">
            <a:extLst>
              <a:ext uri="{FF2B5EF4-FFF2-40B4-BE49-F238E27FC236}">
                <a16:creationId xmlns:a16="http://schemas.microsoft.com/office/drawing/2014/main" id="{4A732731-6E1D-3C00-41BB-8436EF24D3A7}"/>
              </a:ext>
            </a:extLst>
          </p:cNvPr>
          <p:cNvSpPr/>
          <p:nvPr/>
        </p:nvSpPr>
        <p:spPr>
          <a:xfrm>
            <a:off x="9667028" y="5085378"/>
            <a:ext cx="851704" cy="729205"/>
          </a:xfrm>
          <a:prstGeom prst="rect">
            <a:avLst/>
          </a:prstGeom>
          <a:solidFill>
            <a:srgbClr val="00B050"/>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42" name="Rectangle 41">
            <a:extLst>
              <a:ext uri="{FF2B5EF4-FFF2-40B4-BE49-F238E27FC236}">
                <a16:creationId xmlns:a16="http://schemas.microsoft.com/office/drawing/2014/main" id="{2FDBF910-FCBC-AB2F-CDAA-E5CF31C77F8A}"/>
              </a:ext>
            </a:extLst>
          </p:cNvPr>
          <p:cNvSpPr/>
          <p:nvPr/>
        </p:nvSpPr>
        <p:spPr>
          <a:xfrm>
            <a:off x="9751670" y="5915685"/>
            <a:ext cx="851704" cy="729205"/>
          </a:xfrm>
          <a:prstGeom prst="rect">
            <a:avLst/>
          </a:prstGeom>
          <a:solidFill>
            <a:schemeClr val="accent2"/>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43" name="Rectangle 42">
            <a:extLst>
              <a:ext uri="{FF2B5EF4-FFF2-40B4-BE49-F238E27FC236}">
                <a16:creationId xmlns:a16="http://schemas.microsoft.com/office/drawing/2014/main" id="{FBABC40F-382A-CCA0-312A-97A1A193D61A}"/>
              </a:ext>
            </a:extLst>
          </p:cNvPr>
          <p:cNvSpPr/>
          <p:nvPr/>
        </p:nvSpPr>
        <p:spPr>
          <a:xfrm>
            <a:off x="4199681" y="5918359"/>
            <a:ext cx="851704" cy="729205"/>
          </a:xfrm>
          <a:prstGeom prst="rect">
            <a:avLst/>
          </a:prstGeom>
          <a:solidFill>
            <a:srgbClr val="00B050"/>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44" name="Rectangle 43">
            <a:extLst>
              <a:ext uri="{FF2B5EF4-FFF2-40B4-BE49-F238E27FC236}">
                <a16:creationId xmlns:a16="http://schemas.microsoft.com/office/drawing/2014/main" id="{59668FF5-3B05-0E61-6470-66599FD2EC73}"/>
              </a:ext>
            </a:extLst>
          </p:cNvPr>
          <p:cNvSpPr/>
          <p:nvPr/>
        </p:nvSpPr>
        <p:spPr>
          <a:xfrm>
            <a:off x="4199681" y="3115660"/>
            <a:ext cx="851704" cy="729205"/>
          </a:xfrm>
          <a:prstGeom prst="rect">
            <a:avLst/>
          </a:prstGeom>
          <a:solidFill>
            <a:srgbClr val="00B050"/>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sp>
        <p:nvSpPr>
          <p:cNvPr id="45" name="Rectangle 44">
            <a:extLst>
              <a:ext uri="{FF2B5EF4-FFF2-40B4-BE49-F238E27FC236}">
                <a16:creationId xmlns:a16="http://schemas.microsoft.com/office/drawing/2014/main" id="{020F566E-EBB0-BFD4-BFEC-0883A5348E5E}"/>
              </a:ext>
            </a:extLst>
          </p:cNvPr>
          <p:cNvSpPr/>
          <p:nvPr/>
        </p:nvSpPr>
        <p:spPr>
          <a:xfrm>
            <a:off x="4210773" y="5064946"/>
            <a:ext cx="851704" cy="729205"/>
          </a:xfrm>
          <a:prstGeom prst="rect">
            <a:avLst/>
          </a:prstGeom>
          <a:solidFill>
            <a:schemeClr val="accent2"/>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F1/S2</a:t>
            </a:r>
          </a:p>
        </p:txBody>
      </p:sp>
      <p:sp>
        <p:nvSpPr>
          <p:cNvPr id="46" name="Rectangle 45">
            <a:extLst>
              <a:ext uri="{FF2B5EF4-FFF2-40B4-BE49-F238E27FC236}">
                <a16:creationId xmlns:a16="http://schemas.microsoft.com/office/drawing/2014/main" id="{39747AEE-EE61-15E1-5660-AF448937C8D6}"/>
              </a:ext>
            </a:extLst>
          </p:cNvPr>
          <p:cNvSpPr/>
          <p:nvPr/>
        </p:nvSpPr>
        <p:spPr>
          <a:xfrm>
            <a:off x="5851967" y="3756387"/>
            <a:ext cx="851704" cy="729205"/>
          </a:xfrm>
          <a:prstGeom prst="rect">
            <a:avLst/>
          </a:prstGeom>
          <a:solidFill>
            <a:srgbClr val="00B050"/>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F1/S1</a:t>
            </a:r>
          </a:p>
        </p:txBody>
      </p:sp>
      <p:pic>
        <p:nvPicPr>
          <p:cNvPr id="47" name="Picture 2" descr="Texas Bluebonnet">
            <a:extLst>
              <a:ext uri="{FF2B5EF4-FFF2-40B4-BE49-F238E27FC236}">
                <a16:creationId xmlns:a16="http://schemas.microsoft.com/office/drawing/2014/main" id="{2D3F63A8-E40C-6E73-6AB2-8F345A163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8603" y="172710"/>
            <a:ext cx="1735756" cy="2576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276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FDFCD-7702-5991-4442-3FD9F8CEEB60}"/>
              </a:ext>
            </a:extLst>
          </p:cNvPr>
          <p:cNvSpPr>
            <a:spLocks noGrp="1"/>
          </p:cNvSpPr>
          <p:nvPr>
            <p:ph type="title"/>
          </p:nvPr>
        </p:nvSpPr>
        <p:spPr/>
        <p:txBody>
          <a:bodyPr/>
          <a:lstStyle/>
          <a:p>
            <a:r>
              <a:rPr lang="en-US" dirty="0"/>
              <a:t>Switch to ze code!</a:t>
            </a:r>
          </a:p>
        </p:txBody>
      </p:sp>
      <p:sp>
        <p:nvSpPr>
          <p:cNvPr id="3" name="Content Placeholder 2">
            <a:extLst>
              <a:ext uri="{FF2B5EF4-FFF2-40B4-BE49-F238E27FC236}">
                <a16:creationId xmlns:a16="http://schemas.microsoft.com/office/drawing/2014/main" id="{63584F97-1053-EF61-7EFF-6DB517AD4D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348440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1668</TotalTime>
  <Words>627</Words>
  <Application>Microsoft Office PowerPoint</Application>
  <PresentationFormat>Widescreen</PresentationFormat>
  <Paragraphs>88</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Wingdings</vt:lpstr>
      <vt:lpstr>Office Theme</vt:lpstr>
      <vt:lpstr>MES 503 Lab 8</vt:lpstr>
      <vt:lpstr>Announcements</vt:lpstr>
      <vt:lpstr>Transforming Data: Why do we do it?</vt:lpstr>
      <vt:lpstr>Transforming Data: Why do we do it?</vt:lpstr>
      <vt:lpstr>Let’s Talk Transformations</vt:lpstr>
      <vt:lpstr>Let’s Talk Transformations</vt:lpstr>
      <vt:lpstr>Transforming Data</vt:lpstr>
      <vt:lpstr>Transforming Data</vt:lpstr>
      <vt:lpstr>Transforming Data: Which one to use?</vt:lpstr>
      <vt:lpstr>Let’s Talk Transformations</vt:lpstr>
      <vt:lpstr>Analyze on the scale that meets the assumptions but interpret and communicate the result in a biologically meaningful way.</vt:lpstr>
      <vt:lpstr>Texas Bluebonnets</vt:lpstr>
      <vt:lpstr>Texas Bluebonnets</vt:lpstr>
      <vt:lpstr>Switch to ze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Kayla Blincow</dc:creator>
  <cp:lastModifiedBy>Kayla Blincow</cp:lastModifiedBy>
  <cp:revision>5</cp:revision>
  <dcterms:created xsi:type="dcterms:W3CDTF">2026-01-08T19:59:11Z</dcterms:created>
  <dcterms:modified xsi:type="dcterms:W3CDTF">2026-10-06T19:23:21Z</dcterms:modified>
</cp:coreProperties>
</file>