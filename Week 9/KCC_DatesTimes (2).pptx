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74" r:id="rId4"/>
    <p:sldId id="276" r:id="rId5"/>
    <p:sldId id="264" r:id="rId6"/>
    <p:sldId id="273" r:id="rId7"/>
    <p:sldId id="279" r:id="rId8"/>
    <p:sldId id="278" r:id="rId9"/>
    <p:sldId id="280" r:id="rId10"/>
    <p:sldId id="281" r:id="rId11"/>
    <p:sldId id="282" r:id="rId12"/>
    <p:sldId id="27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1AB4AB-A935-4145-85BD-FDBE448D0C2A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CB844-2C2F-42A7-8CDB-2810613B0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22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Please ask me questions!! Zoom is weird..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8E6C71-FE6E-4DA3-9026-D1E47FA31F3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8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e.g. Not every year has 365 days</a:t>
            </a:r>
          </a:p>
          <a:p>
            <a:pPr lvl="1"/>
            <a:r>
              <a:rPr lang="en-US" dirty="0"/>
              <a:t>Time is a weird mix of social constructs and the earth spinning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CB844-2C2F-42A7-8CDB-2810613B0A3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67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2AC73-D2A3-4A53-9615-99F4456910A0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F146-0904-43EB-9DB8-263D7368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48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2AC73-D2A3-4A53-9615-99F4456910A0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F146-0904-43EB-9DB8-263D7368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514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2AC73-D2A3-4A53-9615-99F4456910A0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F146-0904-43EB-9DB8-263D7368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042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2AC73-D2A3-4A53-9615-99F4456910A0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F146-0904-43EB-9DB8-263D7368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16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2AC73-D2A3-4A53-9615-99F4456910A0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F146-0904-43EB-9DB8-263D7368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168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2AC73-D2A3-4A53-9615-99F4456910A0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F146-0904-43EB-9DB8-263D7368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0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2AC73-D2A3-4A53-9615-99F4456910A0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F146-0904-43EB-9DB8-263D7368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14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2AC73-D2A3-4A53-9615-99F4456910A0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F146-0904-43EB-9DB8-263D7368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000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2AC73-D2A3-4A53-9615-99F4456910A0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F146-0904-43EB-9DB8-263D7368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14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2AC73-D2A3-4A53-9615-99F4456910A0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F146-0904-43EB-9DB8-263D7368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498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2AC73-D2A3-4A53-9615-99F4456910A0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F146-0904-43EB-9DB8-263D7368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262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2AC73-D2A3-4A53-9615-99F4456910A0}" type="datetimeFigureOut">
              <a:rPr lang="en-US" smtClean="0"/>
              <a:t>1/18/2022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48F146-0904-43EB-9DB8-263D73685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324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r4ds.had.co.nz/dates-and-times.html" TargetMode="External"/><Relationship Id="rId2" Type="http://schemas.openxmlformats.org/officeDocument/2006/relationships/hyperlink" Target="https://www.r-bloggers.com/2020/04/a-comprehensive-introduction-to-handling-date-time-in-r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2CB78-64AB-4C39-8AB0-E9669560F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79451"/>
            <a:ext cx="9144000" cy="104774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Kayla’s Coding Corner</a:t>
            </a:r>
            <a:br>
              <a:rPr lang="en-US" dirty="0"/>
            </a:br>
            <a:r>
              <a:rPr lang="en-US" sz="4000" dirty="0"/>
              <a:t>(where Master’s students become magicians!)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CD559B-2383-4F80-8369-EBC8DDC04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67045"/>
            <a:ext cx="9144000" cy="885824"/>
          </a:xfrm>
        </p:spPr>
        <p:txBody>
          <a:bodyPr>
            <a:normAutofit/>
          </a:bodyPr>
          <a:lstStyle/>
          <a:p>
            <a:r>
              <a:rPr lang="en-US" dirty="0"/>
              <a:t>Workshop #1: Overview &amp; Dates/Times</a:t>
            </a:r>
          </a:p>
          <a:p>
            <a:r>
              <a:rPr lang="en-US" dirty="0"/>
              <a:t>01/25/2022</a:t>
            </a:r>
          </a:p>
        </p:txBody>
      </p:sp>
      <p:pic>
        <p:nvPicPr>
          <p:cNvPr id="1026" name="Picture 2" descr="Programming Memes For Frustrated Coders - Memebase - Funny Memes">
            <a:extLst>
              <a:ext uri="{FF2B5EF4-FFF2-40B4-BE49-F238E27FC236}">
                <a16:creationId xmlns:a16="http://schemas.microsoft.com/office/drawing/2014/main" id="{DD24D578-5056-40DA-8F15-ED75F20B8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120" y="2073553"/>
            <a:ext cx="3159760" cy="3159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9356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B1F17-DBFF-49E5-A33A-D2ED36249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A couple things before we get started…</a:t>
            </a:r>
          </a:p>
        </p:txBody>
      </p:sp>
    </p:spTree>
    <p:extLst>
      <p:ext uri="{BB962C8B-B14F-4D97-AF65-F5344CB8AC3E}">
        <p14:creationId xmlns:p14="http://schemas.microsoft.com/office/powerpoint/2010/main" val="3179129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623371"/>
            <a:ext cx="10515600" cy="19174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Have you used R before? </a:t>
            </a:r>
          </a:p>
          <a:p>
            <a:pPr marL="0" indent="0">
              <a:buNone/>
            </a:pPr>
            <a:r>
              <a:rPr lang="en-US" dirty="0"/>
              <a:t>What would you like to use R for?</a:t>
            </a:r>
          </a:p>
          <a:p>
            <a:pPr marL="0" indent="0">
              <a:buNone/>
            </a:pPr>
            <a:r>
              <a:rPr lang="en-US" dirty="0"/>
              <a:t>What do you see your relationship with R being in 5 years?</a:t>
            </a:r>
          </a:p>
        </p:txBody>
      </p:sp>
      <p:pic>
        <p:nvPicPr>
          <p:cNvPr id="2050" name="Picture 2" descr="Whats Your Deal Colin Jost GIF - WhatsYourDeal ColinJost SaturdayNightLive  - Discover &amp; Share GIFs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516" y="387145"/>
            <a:ext cx="3694968" cy="3694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9163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vs. Other Point-And-Click-y Programs</a:t>
            </a:r>
          </a:p>
        </p:txBody>
      </p:sp>
      <p:pic>
        <p:nvPicPr>
          <p:cNvPr id="4104" name="Picture 8" descr="upload.wikimedia.org/wikipedia/commons/thumb/7/..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4343" y="4274592"/>
            <a:ext cx="1604713" cy="1604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rcGIS » SPELIA | Boston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8928" y="2329886"/>
            <a:ext cx="2307771" cy="128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File:Microsoft Excel 2013 logo.svg - Wikimedia Common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7292" y="4300320"/>
            <a:ext cx="1581732" cy="1553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6" name="Picture 20" descr="Parallel Programming with R | Yale Center for Research Computi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104" y="2329886"/>
            <a:ext cx="3100296" cy="3580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0" name="Picture 24" descr="Face/Off - Wikipedia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80" b="26058"/>
          <a:stretch/>
        </p:blipFill>
        <p:spPr bwMode="auto">
          <a:xfrm>
            <a:off x="4630419" y="2329886"/>
            <a:ext cx="3239712" cy="369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3696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 is the coolest…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4995"/>
            <a:ext cx="10515600" cy="4351338"/>
          </a:xfrm>
        </p:spPr>
        <p:txBody>
          <a:bodyPr/>
          <a:lstStyle/>
          <a:p>
            <a:pPr fontAlgn="base"/>
            <a:r>
              <a:rPr lang="en-US" dirty="0"/>
              <a:t>R is for free!</a:t>
            </a:r>
          </a:p>
          <a:p>
            <a:pPr fontAlgn="base"/>
            <a:r>
              <a:rPr lang="en-US" dirty="0"/>
              <a:t>You can do everything in one program</a:t>
            </a:r>
          </a:p>
          <a:p>
            <a:pPr fontAlgn="base"/>
            <a:r>
              <a:rPr lang="en-US" dirty="0"/>
              <a:t>Transparent, easily shareable, and reproducible analyses</a:t>
            </a:r>
          </a:p>
          <a:p>
            <a:pPr fontAlgn="base"/>
            <a:r>
              <a:rPr lang="en-US" dirty="0"/>
              <a:t>Awesome community of folks who want to help you succeed!</a:t>
            </a:r>
          </a:p>
          <a:p>
            <a:pPr lvl="1" fontAlgn="base"/>
            <a:r>
              <a:rPr lang="en-US" dirty="0"/>
              <a:t>R Users Group</a:t>
            </a:r>
          </a:p>
          <a:p>
            <a:pPr lvl="1" fontAlgn="base"/>
            <a:r>
              <a:rPr lang="en-US" dirty="0"/>
              <a:t>#</a:t>
            </a:r>
            <a:r>
              <a:rPr lang="en-US" dirty="0" err="1"/>
              <a:t>rstats</a:t>
            </a:r>
            <a:endParaRPr lang="en-US" dirty="0"/>
          </a:p>
        </p:txBody>
      </p:sp>
      <p:pic>
        <p:nvPicPr>
          <p:cNvPr id="1028" name="Picture 4" descr="https://lh3.googleusercontent.com/6pRf5sNPieUXHTEb-wl0MjZRnmgcEPzEhjb70YOLechs2j_bjiOeyVxE9QtbCO5gl2-Nzf2mF1LNH6iKYYQy0F5MVCIPwzqs-YmsdOaQLzydJoNJWIfrn8I1aqdWZ9p5E4RgLoWi_L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5649" y="239880"/>
            <a:ext cx="3219450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s://lh4.googleusercontent.com/mPQQgVhlfYck-ZHFn0SbuHSuItDmUI7-pnJzAl77eQLFzxPT14uNXNucl0mofqfBVx3s70lcTR9kFNTxl_0RkCF7UJj7kvK4Y32dhJrXf_5rm4F81m_K-MYaOBUY7y48mSC4UFSAL6Q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2162" y="4574757"/>
            <a:ext cx="321945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168" y="4696071"/>
            <a:ext cx="5999163" cy="190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841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R requires patience. And practice.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43339"/>
            <a:ext cx="10515600" cy="4351338"/>
          </a:xfrm>
        </p:spPr>
        <p:txBody>
          <a:bodyPr/>
          <a:lstStyle/>
          <a:p>
            <a:r>
              <a:rPr lang="en-US" dirty="0"/>
              <a:t>R is a </a:t>
            </a:r>
            <a:r>
              <a:rPr lang="en-US" i="1" dirty="0"/>
              <a:t>language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There’s some vocabulary you’re going to have to learn</a:t>
            </a:r>
          </a:p>
          <a:p>
            <a:pPr lvl="1"/>
            <a:r>
              <a:rPr lang="en-US" dirty="0"/>
              <a:t>There’s a (semi) steep learning curve</a:t>
            </a:r>
          </a:p>
          <a:p>
            <a:pPr lvl="1"/>
            <a:r>
              <a:rPr lang="en-US" dirty="0"/>
              <a:t>The best way to learn is to do it</a:t>
            </a:r>
          </a:p>
          <a:p>
            <a:pPr lvl="1"/>
            <a:r>
              <a:rPr lang="en-US" dirty="0"/>
              <a:t>Practice, practice, practice</a:t>
            </a:r>
          </a:p>
          <a:p>
            <a:r>
              <a:rPr lang="en-US" dirty="0"/>
              <a:t>You will get better! I promise!</a:t>
            </a:r>
          </a:p>
        </p:txBody>
      </p:sp>
      <p:pic>
        <p:nvPicPr>
          <p:cNvPr id="1026" name="Picture 2" descr="R-Programming – Giles Dickenson-Jon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5057" y="3131264"/>
            <a:ext cx="4125685" cy="3518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2643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D4A29-05EF-4B1F-A246-D5629C2A3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0505"/>
            <a:ext cx="10515600" cy="1325563"/>
          </a:xfrm>
        </p:spPr>
        <p:txBody>
          <a:bodyPr/>
          <a:lstStyle/>
          <a:p>
            <a:r>
              <a:rPr lang="en-US" dirty="0"/>
              <a:t>Dates and Times in 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436757-49A0-4F60-8CEC-DD0587E6F5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86" b="10862"/>
          <a:stretch/>
        </p:blipFill>
        <p:spPr bwMode="auto">
          <a:xfrm>
            <a:off x="7267121" y="100172"/>
            <a:ext cx="4801591" cy="6637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7641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3234-65A1-4E09-AFB4-D089FA060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dates/times are so gosh darned annoying…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D69AA-2E1F-4603-92D8-7226AAC2B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imperfect systems for tracking time</a:t>
            </a:r>
          </a:p>
          <a:p>
            <a:r>
              <a:rPr lang="en-US" dirty="0"/>
              <a:t>Writing dates/times is often ambiguous which is hard for computers</a:t>
            </a:r>
          </a:p>
          <a:p>
            <a:r>
              <a:rPr lang="en-US" dirty="0"/>
              <a:t>Yet, time is super important for almost all ecological questions! Especially telemetry!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4098" name="Picture 2" descr="Seven Daylight Saving Memes and TikToks Everyone Can Relate To | Hey BU  Blog | Boston University">
            <a:extLst>
              <a:ext uri="{FF2B5EF4-FFF2-40B4-BE49-F238E27FC236}">
                <a16:creationId xmlns:a16="http://schemas.microsoft.com/office/drawing/2014/main" id="{B59DC408-E81D-4FAC-9F9D-850255A97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2987" y="3938525"/>
            <a:ext cx="3906026" cy="255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0228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4523-4ED0-462F-BEB0-1504AD770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3754"/>
            <a:ext cx="10515600" cy="1325563"/>
          </a:xfrm>
        </p:spPr>
        <p:txBody>
          <a:bodyPr/>
          <a:lstStyle/>
          <a:p>
            <a:r>
              <a:rPr lang="en-US" dirty="0"/>
              <a:t>How R handles dates/time.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31650-3488-41C2-AE8D-CA0F67069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790" y="1921669"/>
            <a:ext cx="6564138" cy="4936331"/>
          </a:xfrm>
        </p:spPr>
        <p:txBody>
          <a:bodyPr>
            <a:normAutofit/>
          </a:bodyPr>
          <a:lstStyle/>
          <a:p>
            <a:r>
              <a:rPr lang="en-US" dirty="0"/>
              <a:t>R will not automatically classify something as a date/time unless you tell it to</a:t>
            </a:r>
          </a:p>
          <a:p>
            <a:pPr lvl="1"/>
            <a:r>
              <a:rPr lang="en-US" dirty="0"/>
              <a:t>Thank goodness! 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Most common date/time classifying functions</a:t>
            </a:r>
          </a:p>
          <a:p>
            <a:pPr lvl="1"/>
            <a:r>
              <a:rPr lang="en-US" dirty="0" err="1"/>
              <a:t>as.Date</a:t>
            </a:r>
            <a:r>
              <a:rPr lang="en-US" dirty="0"/>
              <a:t>() – for dates only </a:t>
            </a:r>
          </a:p>
          <a:p>
            <a:pPr lvl="1"/>
            <a:r>
              <a:rPr lang="en-US" dirty="0" err="1"/>
              <a:t>as.POSIXct</a:t>
            </a:r>
            <a:r>
              <a:rPr lang="en-US" dirty="0"/>
              <a:t>() – for dates and times</a:t>
            </a:r>
          </a:p>
          <a:p>
            <a:pPr lvl="1"/>
            <a:r>
              <a:rPr lang="en-US" dirty="0" err="1"/>
              <a:t>lubridate</a:t>
            </a:r>
            <a:r>
              <a:rPr lang="en-US" dirty="0"/>
              <a:t> package – </a:t>
            </a:r>
            <a:r>
              <a:rPr lang="en-US" dirty="0" err="1"/>
              <a:t>tidyverse’s</a:t>
            </a:r>
            <a:r>
              <a:rPr lang="en-US" dirty="0"/>
              <a:t> answer to date/time issues</a:t>
            </a:r>
          </a:p>
          <a:p>
            <a:endParaRPr lang="en-US" dirty="0"/>
          </a:p>
        </p:txBody>
      </p:sp>
      <p:pic>
        <p:nvPicPr>
          <p:cNvPr id="6146" name="Picture 2" descr="Slate excel: is that a date? me: 57.39 is very much not a date excel:  strong date vibes to me me: h-how excel: fixed it me: excel: you&amp;#39;re welcome  - )">
            <a:extLst>
              <a:ext uri="{FF2B5EF4-FFF2-40B4-BE49-F238E27FC236}">
                <a16:creationId xmlns:a16="http://schemas.microsoft.com/office/drawing/2014/main" id="{0A784EFE-87C3-46CE-9EAB-7C9B179FF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9188" y="1797997"/>
            <a:ext cx="4358146" cy="427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6546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D1A16-3874-4C89-9F2F-5B325BE01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to code!</a:t>
            </a:r>
          </a:p>
        </p:txBody>
      </p:sp>
      <p:pic>
        <p:nvPicPr>
          <p:cNvPr id="7172" name="Picture 4" descr="Coding GIFs | Tenor">
            <a:extLst>
              <a:ext uri="{FF2B5EF4-FFF2-40B4-BE49-F238E27FC236}">
                <a16:creationId xmlns:a16="http://schemas.microsoft.com/office/drawing/2014/main" id="{6AF61F1F-E66D-4264-88E0-6F954CB5DFC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0712" y="2082442"/>
            <a:ext cx="3870575" cy="387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6525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D6B40-7CEA-4EEF-B433-3C32641AD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4F1D8-3874-42B3-991F-D4CB98BEA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 R dates/times</a:t>
            </a:r>
          </a:p>
          <a:p>
            <a:pPr lvl="1"/>
            <a:r>
              <a:rPr lang="en-US" dirty="0">
                <a:hlinkClick r:id="rId2"/>
              </a:rPr>
              <a:t>A Comprehensive Introduction to Handling Date &amp; Time in R | R-bloggers</a:t>
            </a:r>
            <a:endParaRPr lang="en-US" dirty="0"/>
          </a:p>
          <a:p>
            <a:r>
              <a:rPr lang="en-US" dirty="0" err="1"/>
              <a:t>lubridate</a:t>
            </a:r>
            <a:r>
              <a:rPr lang="en-US" dirty="0"/>
              <a:t> package</a:t>
            </a:r>
          </a:p>
          <a:p>
            <a:pPr lvl="1"/>
            <a:r>
              <a:rPr lang="en-US" dirty="0">
                <a:hlinkClick r:id="rId3"/>
              </a:rPr>
              <a:t>16 Dates and times | R for Data Science (had.co.nz)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29348-DD4D-4080-9A27-29552232A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Open Question Time</a:t>
            </a:r>
          </a:p>
        </p:txBody>
      </p:sp>
      <p:pic>
        <p:nvPicPr>
          <p:cNvPr id="2050" name="Picture 2" descr="YARN | Go ahead, ask me anything. | Star Trek (1966) - S02E12 The Deadly  Years | Video gifs by quotes | aad50bd0 | 紗">
            <a:extLst>
              <a:ext uri="{FF2B5EF4-FFF2-40B4-BE49-F238E27FC236}">
                <a16:creationId xmlns:a16="http://schemas.microsoft.com/office/drawing/2014/main" id="{E75EC100-7495-471D-A10C-A73C3E0232D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010" y="2082442"/>
            <a:ext cx="4589980" cy="3442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1476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</TotalTime>
  <Words>343</Words>
  <Application>Microsoft Office PowerPoint</Application>
  <PresentationFormat>Widescreen</PresentationFormat>
  <Paragraphs>47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Kayla’s Coding Corner (where Master’s students become magicians!)</vt:lpstr>
      <vt:lpstr>A couple things before we get started…</vt:lpstr>
      <vt:lpstr>PowerPoint Presentation</vt:lpstr>
      <vt:lpstr>R vs. Other Point-And-Click-y Programs</vt:lpstr>
      <vt:lpstr>Why R is the coolest…</vt:lpstr>
      <vt:lpstr>Learning R requires patience. And practice.</vt:lpstr>
      <vt:lpstr>Dates and Times in R</vt:lpstr>
      <vt:lpstr>Why dates/times are so gosh darned annoying…</vt:lpstr>
      <vt:lpstr>How R handles dates/time.</vt:lpstr>
      <vt:lpstr>Switch to code!</vt:lpstr>
      <vt:lpstr>Useful Links</vt:lpstr>
      <vt:lpstr>Open Question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Kayla’s Coding Corner (where Master’s students become magicians!)</dc:title>
  <dc:creator>Kayla</dc:creator>
  <cp:lastModifiedBy>Kayla</cp:lastModifiedBy>
  <cp:revision>1</cp:revision>
  <dcterms:created xsi:type="dcterms:W3CDTF">2022-01-18T16:00:39Z</dcterms:created>
  <dcterms:modified xsi:type="dcterms:W3CDTF">2022-01-18T18:13:55Z</dcterms:modified>
</cp:coreProperties>
</file>