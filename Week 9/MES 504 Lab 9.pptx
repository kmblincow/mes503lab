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84" r:id="rId3"/>
    <p:sldId id="332" r:id="rId4"/>
    <p:sldId id="333" r:id="rId5"/>
    <p:sldId id="334" r:id="rId6"/>
    <p:sldId id="432" r:id="rId7"/>
    <p:sldId id="279" r:id="rId8"/>
    <p:sldId id="278" r:id="rId9"/>
    <p:sldId id="280" r:id="rId10"/>
    <p:sldId id="433" r:id="rId11"/>
    <p:sldId id="28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F7586D-14CE-487A-908D-D4142671E85E}" v="4" dt="2026-10-09T15:44:11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889" autoAdjust="0"/>
    <p:restoredTop sz="90313" autoAdjust="0"/>
  </p:normalViewPr>
  <p:slideViewPr>
    <p:cSldViewPr snapToGrid="0">
      <p:cViewPr varScale="1">
        <p:scale>
          <a:sx n="63" d="100"/>
          <a:sy n="63" d="100"/>
        </p:scale>
        <p:origin x="107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yla Blincow" userId="ac6229071bdafc06" providerId="LiveId" clId="{9CE18A4C-68C3-4E97-A0CD-BEA78CB9776D}"/>
    <pc:docChg chg="custSel addSld delSld modSld sldOrd">
      <pc:chgData name="Kayla Blincow" userId="ac6229071bdafc06" providerId="LiveId" clId="{9CE18A4C-68C3-4E97-A0CD-BEA78CB9776D}" dt="2026-10-14T18:02:54.672" v="2287" actId="20577"/>
      <pc:docMkLst>
        <pc:docMk/>
      </pc:docMkLst>
      <pc:sldChg chg="modSp mod">
        <pc:chgData name="Kayla Blincow" userId="ac6229071bdafc06" providerId="LiveId" clId="{9CE18A4C-68C3-4E97-A0CD-BEA78CB9776D}" dt="2026-10-09T15:41:35.203" v="2173" actId="20577"/>
        <pc:sldMkLst>
          <pc:docMk/>
          <pc:sldMk cId="2948685846" sldId="256"/>
        </pc:sldMkLst>
        <pc:spChg chg="mod">
          <ac:chgData name="Kayla Blincow" userId="ac6229071bdafc06" providerId="LiveId" clId="{9CE18A4C-68C3-4E97-A0CD-BEA78CB9776D}" dt="2026-10-09T15:41:35.203" v="2173" actId="20577"/>
          <ac:spMkLst>
            <pc:docMk/>
            <pc:sldMk cId="2948685846" sldId="256"/>
            <ac:spMk id="2" creationId="{D24B8A19-FA22-C682-4310-EEAA4459904E}"/>
          </ac:spMkLst>
        </pc:spChg>
      </pc:sldChg>
      <pc:sldChg chg="modSp add mod">
        <pc:chgData name="Kayla Blincow" userId="ac6229071bdafc06" providerId="LiveId" clId="{9CE18A4C-68C3-4E97-A0CD-BEA78CB9776D}" dt="2026-10-09T15:44:11.454" v="2199" actId="1076"/>
        <pc:sldMkLst>
          <pc:docMk/>
          <pc:sldMk cId="3050228298" sldId="278"/>
        </pc:sldMkLst>
        <pc:spChg chg="mod">
          <ac:chgData name="Kayla Blincow" userId="ac6229071bdafc06" providerId="LiveId" clId="{9CE18A4C-68C3-4E97-A0CD-BEA78CB9776D}" dt="2026-10-09T15:44:02.722" v="2198" actId="20577"/>
          <ac:spMkLst>
            <pc:docMk/>
            <pc:sldMk cId="3050228298" sldId="278"/>
            <ac:spMk id="3" creationId="{D41D69AA-2E1F-4603-92D8-7226AAC2BD24}"/>
          </ac:spMkLst>
        </pc:spChg>
        <pc:picChg chg="mod">
          <ac:chgData name="Kayla Blincow" userId="ac6229071bdafc06" providerId="LiveId" clId="{9CE18A4C-68C3-4E97-A0CD-BEA78CB9776D}" dt="2026-10-09T15:44:11.454" v="2199" actId="1076"/>
          <ac:picMkLst>
            <pc:docMk/>
            <pc:sldMk cId="3050228298" sldId="278"/>
            <ac:picMk id="4098" creationId="{B59DC408-E81D-4FAC-9F9D-850255A97BA7}"/>
          </ac:picMkLst>
        </pc:picChg>
      </pc:sldChg>
      <pc:sldChg chg="add">
        <pc:chgData name="Kayla Blincow" userId="ac6229071bdafc06" providerId="LiveId" clId="{9CE18A4C-68C3-4E97-A0CD-BEA78CB9776D}" dt="2026-10-09T15:43:42.007" v="2196"/>
        <pc:sldMkLst>
          <pc:docMk/>
          <pc:sldMk cId="2507641408" sldId="279"/>
        </pc:sldMkLst>
      </pc:sldChg>
      <pc:sldChg chg="add">
        <pc:chgData name="Kayla Blincow" userId="ac6229071bdafc06" providerId="LiveId" clId="{9CE18A4C-68C3-4E97-A0CD-BEA78CB9776D}" dt="2026-10-09T15:43:42.007" v="2196"/>
        <pc:sldMkLst>
          <pc:docMk/>
          <pc:sldMk cId="3566546447" sldId="280"/>
        </pc:sldMkLst>
      </pc:sldChg>
      <pc:sldChg chg="add">
        <pc:chgData name="Kayla Blincow" userId="ac6229071bdafc06" providerId="LiveId" clId="{9CE18A4C-68C3-4E97-A0CD-BEA78CB9776D}" dt="2026-10-09T15:43:42.007" v="2196"/>
        <pc:sldMkLst>
          <pc:docMk/>
          <pc:sldMk cId="1676525155" sldId="281"/>
        </pc:sldMkLst>
      </pc:sldChg>
      <pc:sldChg chg="modSp mod">
        <pc:chgData name="Kayla Blincow" userId="ac6229071bdafc06" providerId="LiveId" clId="{9CE18A4C-68C3-4E97-A0CD-BEA78CB9776D}" dt="2026-10-14T18:02:54.672" v="2287" actId="20577"/>
        <pc:sldMkLst>
          <pc:docMk/>
          <pc:sldMk cId="949666939" sldId="284"/>
        </pc:sldMkLst>
        <pc:spChg chg="mod">
          <ac:chgData name="Kayla Blincow" userId="ac6229071bdafc06" providerId="LiveId" clId="{9CE18A4C-68C3-4E97-A0CD-BEA78CB9776D}" dt="2026-10-14T18:02:54.672" v="2287" actId="20577"/>
          <ac:spMkLst>
            <pc:docMk/>
            <pc:sldMk cId="949666939" sldId="284"/>
            <ac:spMk id="3" creationId="{5EC916F8-2617-0B7F-D699-7AE508E9AD38}"/>
          </ac:spMkLst>
        </pc:spChg>
      </pc:sldChg>
      <pc:sldChg chg="add">
        <pc:chgData name="Kayla Blincow" userId="ac6229071bdafc06" providerId="LiveId" clId="{9CE18A4C-68C3-4E97-A0CD-BEA78CB9776D}" dt="2026-10-09T15:42:38.218" v="2195"/>
        <pc:sldMkLst>
          <pc:docMk/>
          <pc:sldMk cId="514007579" sldId="332"/>
        </pc:sldMkLst>
      </pc:sldChg>
      <pc:sldChg chg="add">
        <pc:chgData name="Kayla Blincow" userId="ac6229071bdafc06" providerId="LiveId" clId="{9CE18A4C-68C3-4E97-A0CD-BEA78CB9776D}" dt="2026-10-09T15:42:38.218" v="2195"/>
        <pc:sldMkLst>
          <pc:docMk/>
          <pc:sldMk cId="4089442511" sldId="333"/>
        </pc:sldMkLst>
      </pc:sldChg>
      <pc:sldChg chg="add">
        <pc:chgData name="Kayla Blincow" userId="ac6229071bdafc06" providerId="LiveId" clId="{9CE18A4C-68C3-4E97-A0CD-BEA78CB9776D}" dt="2026-10-09T15:42:38.218" v="2195"/>
        <pc:sldMkLst>
          <pc:docMk/>
          <pc:sldMk cId="823057693" sldId="334"/>
        </pc:sldMkLst>
      </pc:sldChg>
      <pc:sldChg chg="addSp delSp modSp new mod">
        <pc:chgData name="Kayla Blincow" userId="ac6229071bdafc06" providerId="LiveId" clId="{9CE18A4C-68C3-4E97-A0CD-BEA78CB9776D}" dt="2026-10-13T16:36:26.944" v="2278" actId="478"/>
        <pc:sldMkLst>
          <pc:docMk/>
          <pc:sldMk cId="1258566840" sldId="433"/>
        </pc:sldMkLst>
        <pc:spChg chg="del">
          <ac:chgData name="Kayla Blincow" userId="ac6229071bdafc06" providerId="LiveId" clId="{9CE18A4C-68C3-4E97-A0CD-BEA78CB9776D}" dt="2026-10-13T16:36:25.843" v="2277" actId="478"/>
          <ac:spMkLst>
            <pc:docMk/>
            <pc:sldMk cId="1258566840" sldId="433"/>
            <ac:spMk id="2" creationId="{1F8400F5-D561-68A3-1A9A-9333438D546A}"/>
          </ac:spMkLst>
        </pc:spChg>
        <pc:spChg chg="del">
          <ac:chgData name="Kayla Blincow" userId="ac6229071bdafc06" providerId="LiveId" clId="{9CE18A4C-68C3-4E97-A0CD-BEA78CB9776D}" dt="2026-10-13T16:36:26.944" v="2278" actId="478"/>
          <ac:spMkLst>
            <pc:docMk/>
            <pc:sldMk cId="1258566840" sldId="433"/>
            <ac:spMk id="3" creationId="{091C18A8-6022-22BC-D43B-522D85962B26}"/>
          </ac:spMkLst>
        </pc:spChg>
        <pc:picChg chg="add mod">
          <ac:chgData name="Kayla Blincow" userId="ac6229071bdafc06" providerId="LiveId" clId="{9CE18A4C-68C3-4E97-A0CD-BEA78CB9776D}" dt="2026-10-13T16:36:22.365" v="2276" actId="1076"/>
          <ac:picMkLst>
            <pc:docMk/>
            <pc:sldMk cId="1258566840" sldId="433"/>
            <ac:picMk id="4" creationId="{E122A65D-1C09-6262-772B-1E7C831F92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AC65F-9207-41AE-8C53-46E5EA7B4DDF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2F4B8-4792-4BBE-9010-0D4D9882B9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34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32F4B8-4792-4BBE-9010-0D4D9882B9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47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e.g. Not every year has 365 days</a:t>
            </a:r>
          </a:p>
          <a:p>
            <a:pPr lvl="1"/>
            <a:r>
              <a:rPr lang="en-US" dirty="0"/>
              <a:t>Time is a weird mix of social constructs and the earth spinning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CB844-2C2F-42A7-8CDB-2810613B0A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7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89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77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387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29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7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43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49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386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306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274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5A2DA7E-11E7-48AB-82F5-7068197A42C9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CAC4879-753F-46D0-95EC-9736450DC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4444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B8A19-FA22-C682-4310-EEAA44599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630" y="1600200"/>
            <a:ext cx="5855368" cy="1801311"/>
          </a:xfrm>
        </p:spPr>
        <p:txBody>
          <a:bodyPr/>
          <a:lstStyle/>
          <a:p>
            <a:r>
              <a:rPr lang="en-US" dirty="0"/>
              <a:t>MES 503 Lab 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B767E-3D5A-B7E7-2441-4EBD66E2A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630" y="3602038"/>
            <a:ext cx="5855369" cy="1655762"/>
          </a:xfrm>
        </p:spPr>
        <p:txBody>
          <a:bodyPr/>
          <a:lstStyle/>
          <a:p>
            <a:r>
              <a:rPr lang="en-US" dirty="0"/>
              <a:t>Kayla Blincow, PhD</a:t>
            </a:r>
          </a:p>
        </p:txBody>
      </p:sp>
      <p:pic>
        <p:nvPicPr>
          <p:cNvPr id="4" name="Picture 2" descr="R Memes for Statistical Fiends on Twitter: &quot;More R memes created directly  in R with @thosjleeper package &quot;memes&quot; https://t.co/R6MNt7sSzV #rstats… &quot;">
            <a:extLst>
              <a:ext uri="{FF2B5EF4-FFF2-40B4-BE49-F238E27FC236}">
                <a16:creationId xmlns:a16="http://schemas.microsoft.com/office/drawing/2014/main" id="{4E2F905E-C631-73E1-AB39-F358E6C87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443" y="1250651"/>
            <a:ext cx="3449053" cy="4356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8685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E9A48-B850-58D5-1576-8EEEB414F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916F8-2617-0B7F-D699-7AE508E9A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43400" cy="4351338"/>
          </a:xfrm>
        </p:spPr>
        <p:txBody>
          <a:bodyPr/>
          <a:lstStyle/>
          <a:p>
            <a:r>
              <a:rPr lang="en-US" dirty="0"/>
              <a:t>Lab Assignment 2 due tomorrow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r>
              <a:rPr lang="en-US" dirty="0">
                <a:sym typeface="Wingdings" panose="05000000000000000000" pitchFamily="2" charset="2"/>
              </a:rPr>
              <a:t>Quiz on Wednesday!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Two-Way ANOVAs + Multiple Linear Regression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65DA08-0A89-1243-C600-2D30A830B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8632" y="253837"/>
            <a:ext cx="6407479" cy="635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666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Sea Cucumbers: Silent Superheroes of the Seas | RoundGlass Sustain">
            <a:extLst>
              <a:ext uri="{FF2B5EF4-FFF2-40B4-BE49-F238E27FC236}">
                <a16:creationId xmlns:a16="http://schemas.microsoft.com/office/drawing/2014/main" id="{2924DC09-D8F2-BE08-D29F-A1BB8C4EE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2731" y="1014036"/>
            <a:ext cx="8586537" cy="4829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007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Why Sea Cucumbers Are so Expensive">
            <a:extLst>
              <a:ext uri="{FF2B5EF4-FFF2-40B4-BE49-F238E27FC236}">
                <a16:creationId xmlns:a16="http://schemas.microsoft.com/office/drawing/2014/main" id="{33185C66-9C73-39B2-EAA7-6854170498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589" y="898358"/>
            <a:ext cx="4168857" cy="2087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5B1E13-28A0-9941-D88F-1D0A7B30C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Sea Cucumbers!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67F7B-2312-1667-8D71-CF607866D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7006389" cy="4486274"/>
          </a:xfrm>
        </p:spPr>
        <p:txBody>
          <a:bodyPr/>
          <a:lstStyle/>
          <a:p>
            <a:r>
              <a:rPr lang="en-US" dirty="0"/>
              <a:t>Sea cucumbers are overharvested across the globe</a:t>
            </a:r>
          </a:p>
          <a:p>
            <a:r>
              <a:rPr lang="en-US" dirty="0"/>
              <a:t>They are highly susceptible to overfishing, because they are essentially defenseless to human exploitation and have density dependent reproduction</a:t>
            </a:r>
          </a:p>
          <a:p>
            <a:r>
              <a:rPr lang="en-US" dirty="0"/>
              <a:t>Highly valuable in Asian markets</a:t>
            </a:r>
          </a:p>
          <a:p>
            <a:r>
              <a:rPr lang="en-US" dirty="0"/>
              <a:t>One of the most highly trafficked animal products across US-Mexico border</a:t>
            </a:r>
          </a:p>
        </p:txBody>
      </p:sp>
      <p:pic>
        <p:nvPicPr>
          <p:cNvPr id="14342" name="Picture 6" descr="RBS Seafood Harvesting Ltd. – Pacific Sea Cucumber Harvesters Association">
            <a:extLst>
              <a:ext uri="{FF2B5EF4-FFF2-40B4-BE49-F238E27FC236}">
                <a16:creationId xmlns:a16="http://schemas.microsoft.com/office/drawing/2014/main" id="{D45D9321-B624-6CC1-4A0D-EB8B90AE7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588" y="3362221"/>
            <a:ext cx="4168857" cy="312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44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C3B58-BEFE-F080-9D5E-80621678E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AF603-6202-6BC2-AA75-EA14F2C5C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182853" cy="47331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We are fisheries biologists that are interested in learning more about the sea cucumber fishery in Indonesia, the world’s top producer of cukes. In particular, we are interested in testing how a suite of variables influence catch per unit effort in cuke fisheries. We survey cucumber fishers and get records of the CPUE across their main fishing grounds.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Our variables of interest are: depth, length of time fisher has been engaged in the fishery, fisher experience metric, region</a:t>
            </a:r>
          </a:p>
        </p:txBody>
      </p:sp>
      <p:pic>
        <p:nvPicPr>
          <p:cNvPr id="15362" name="Picture 2" descr="Sustainable Sea Cucumbers: Saving the “Gold Bars” of the Ocean">
            <a:extLst>
              <a:ext uri="{FF2B5EF4-FFF2-40B4-BE49-F238E27FC236}">
                <a16:creationId xmlns:a16="http://schemas.microsoft.com/office/drawing/2014/main" id="{71D65341-AB2C-45B9-5761-D05DB2FBD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1053" y="2711116"/>
            <a:ext cx="3966597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057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DFCD-7702-5991-4442-3FD9F8CEE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to ze code!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84F97-1053-EF61-7EFF-6DB517AD4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44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4A29-05EF-4B1F-A246-D5629C2A3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0505"/>
            <a:ext cx="10515600" cy="1325563"/>
          </a:xfrm>
        </p:spPr>
        <p:txBody>
          <a:bodyPr/>
          <a:lstStyle/>
          <a:p>
            <a:r>
              <a:rPr lang="en-US" dirty="0"/>
              <a:t>Dates and Times in 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436757-49A0-4F60-8CEC-DD0587E6F5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86" b="10862"/>
          <a:stretch/>
        </p:blipFill>
        <p:spPr bwMode="auto">
          <a:xfrm>
            <a:off x="7267121" y="100172"/>
            <a:ext cx="4801591" cy="6637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641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53234-65A1-4E09-AFB4-D089FA06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dates/times are so gosh darned annoying…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D69AA-2E1F-4603-92D8-7226AAC2B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imperfect systems for tracking time</a:t>
            </a:r>
          </a:p>
          <a:p>
            <a:r>
              <a:rPr lang="en-US" dirty="0"/>
              <a:t>Writing dates/times is often ambiguous which is hard for computers</a:t>
            </a:r>
          </a:p>
          <a:p>
            <a:r>
              <a:rPr lang="en-US" dirty="0"/>
              <a:t>Yet, time is super important for almost all ecological questions! </a:t>
            </a:r>
          </a:p>
          <a:p>
            <a:pPr lvl="1"/>
            <a:endParaRPr lang="en-US" dirty="0"/>
          </a:p>
        </p:txBody>
      </p:sp>
      <p:pic>
        <p:nvPicPr>
          <p:cNvPr id="4098" name="Picture 2" descr="Seven Daylight Saving Memes and TikToks Everyone Can Relate To | Hey BU  Blog | Boston University">
            <a:extLst>
              <a:ext uri="{FF2B5EF4-FFF2-40B4-BE49-F238E27FC236}">
                <a16:creationId xmlns:a16="http://schemas.microsoft.com/office/drawing/2014/main" id="{B59DC408-E81D-4FAC-9F9D-850255A97B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609" y="4050143"/>
            <a:ext cx="3906026" cy="255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0228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4523-4ED0-462F-BEB0-1504AD77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754"/>
            <a:ext cx="10515600" cy="1325563"/>
          </a:xfrm>
        </p:spPr>
        <p:txBody>
          <a:bodyPr/>
          <a:lstStyle/>
          <a:p>
            <a:r>
              <a:rPr lang="en-US" dirty="0"/>
              <a:t>How R handles dates/time.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31650-3488-41C2-AE8D-CA0F67069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790" y="1921669"/>
            <a:ext cx="6564138" cy="4936331"/>
          </a:xfrm>
        </p:spPr>
        <p:txBody>
          <a:bodyPr>
            <a:normAutofit/>
          </a:bodyPr>
          <a:lstStyle/>
          <a:p>
            <a:r>
              <a:rPr lang="en-US" dirty="0"/>
              <a:t>R will not automatically classify something as a date/time unless you tell it to</a:t>
            </a:r>
          </a:p>
          <a:p>
            <a:pPr lvl="1"/>
            <a:r>
              <a:rPr lang="en-US" dirty="0"/>
              <a:t>Thank goodness!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Most common date/time classifying functions</a:t>
            </a:r>
          </a:p>
          <a:p>
            <a:pPr lvl="1"/>
            <a:r>
              <a:rPr lang="en-US" dirty="0" err="1"/>
              <a:t>as.Date</a:t>
            </a:r>
            <a:r>
              <a:rPr lang="en-US" dirty="0"/>
              <a:t>() – for dates only </a:t>
            </a:r>
          </a:p>
          <a:p>
            <a:pPr lvl="1"/>
            <a:r>
              <a:rPr lang="en-US" dirty="0" err="1"/>
              <a:t>as.POSIXct</a:t>
            </a:r>
            <a:r>
              <a:rPr lang="en-US" dirty="0"/>
              <a:t>() – for dates and times</a:t>
            </a:r>
          </a:p>
          <a:p>
            <a:pPr lvl="1"/>
            <a:r>
              <a:rPr lang="en-US" dirty="0" err="1"/>
              <a:t>lubridate</a:t>
            </a:r>
            <a:r>
              <a:rPr lang="en-US" dirty="0"/>
              <a:t> package – </a:t>
            </a:r>
            <a:r>
              <a:rPr lang="en-US" dirty="0" err="1"/>
              <a:t>tidyverse’s</a:t>
            </a:r>
            <a:r>
              <a:rPr lang="en-US" dirty="0"/>
              <a:t> answer to date/time issues</a:t>
            </a:r>
          </a:p>
          <a:p>
            <a:endParaRPr lang="en-US" dirty="0"/>
          </a:p>
        </p:txBody>
      </p:sp>
      <p:pic>
        <p:nvPicPr>
          <p:cNvPr id="6146" name="Picture 2" descr="Slate excel: is that a date? me: 57.39 is very much not a date excel:  strong date vibes to me me: h-how excel: fixed it me: excel: you&amp;#39;re welcome  - )">
            <a:extLst>
              <a:ext uri="{FF2B5EF4-FFF2-40B4-BE49-F238E27FC236}">
                <a16:creationId xmlns:a16="http://schemas.microsoft.com/office/drawing/2014/main" id="{0A784EFE-87C3-46CE-9EAB-7C9B179FF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9188" y="1797997"/>
            <a:ext cx="4358146" cy="4276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546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Ultimate Opinionated Guide to Base R Date Format Functions">
            <a:extLst>
              <a:ext uri="{FF2B5EF4-FFF2-40B4-BE49-F238E27FC236}">
                <a16:creationId xmlns:a16="http://schemas.microsoft.com/office/drawing/2014/main" id="{E122A65D-1C09-6262-772B-1E7C831F9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928" y="722382"/>
            <a:ext cx="8044144" cy="541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66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D1A16-3874-4C89-9F2F-5B325BE01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Switch to code!</a:t>
            </a:r>
          </a:p>
        </p:txBody>
      </p:sp>
      <p:pic>
        <p:nvPicPr>
          <p:cNvPr id="7172" name="Picture 4" descr="Coding GIFs | Tenor">
            <a:extLst>
              <a:ext uri="{FF2B5EF4-FFF2-40B4-BE49-F238E27FC236}">
                <a16:creationId xmlns:a16="http://schemas.microsoft.com/office/drawing/2014/main" id="{6AF61F1F-E66D-4264-88E0-6F954CB5DFC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0712" y="2082442"/>
            <a:ext cx="3870575" cy="387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6525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1705</TotalTime>
  <Words>298</Words>
  <Application>Microsoft Office PowerPoint</Application>
  <PresentationFormat>Widescreen</PresentationFormat>
  <Paragraphs>34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MES 503 Lab 9</vt:lpstr>
      <vt:lpstr>Announcements</vt:lpstr>
      <vt:lpstr>PowerPoint Presentation</vt:lpstr>
      <vt:lpstr>Sea Cucumbers!</vt:lpstr>
      <vt:lpstr>Scenario</vt:lpstr>
      <vt:lpstr>Switch to ze code!</vt:lpstr>
      <vt:lpstr>Dates and Times in R</vt:lpstr>
      <vt:lpstr>Why dates/times are so gosh darned annoying…</vt:lpstr>
      <vt:lpstr>How R handles dates/time.</vt:lpstr>
      <vt:lpstr>PowerPoint Presentation</vt:lpstr>
      <vt:lpstr>Switch to code!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Blincow</dc:creator>
  <cp:lastModifiedBy>Kayla Blincow</cp:lastModifiedBy>
  <cp:revision>5</cp:revision>
  <dcterms:created xsi:type="dcterms:W3CDTF">2026-01-08T19:59:11Z</dcterms:created>
  <dcterms:modified xsi:type="dcterms:W3CDTF">2026-10-14T18:03:03Z</dcterms:modified>
</cp:coreProperties>
</file>