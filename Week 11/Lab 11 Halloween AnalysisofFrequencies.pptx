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3"/>
  </p:notesMasterIdLst>
  <p:sldIdLst>
    <p:sldId id="327" r:id="rId2"/>
    <p:sldId id="284" r:id="rId3"/>
    <p:sldId id="318" r:id="rId4"/>
    <p:sldId id="319" r:id="rId5"/>
    <p:sldId id="320" r:id="rId6"/>
    <p:sldId id="321" r:id="rId7"/>
    <p:sldId id="326" r:id="rId8"/>
    <p:sldId id="324" r:id="rId9"/>
    <p:sldId id="256" r:id="rId10"/>
    <p:sldId id="257" r:id="rId11"/>
    <p:sldId id="25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E668BF0-029F-4430-A815-4E469E2A1ECB}">
          <p14:sldIdLst>
            <p14:sldId id="327"/>
            <p14:sldId id="284"/>
            <p14:sldId id="318"/>
            <p14:sldId id="319"/>
            <p14:sldId id="320"/>
            <p14:sldId id="321"/>
            <p14:sldId id="326"/>
            <p14:sldId id="324"/>
            <p14:sldId id="256"/>
            <p14:sldId id="257"/>
            <p14:sldId id="258"/>
          </p14:sldIdLst>
        </p14:section>
        <p14:section name="Untitled Section" id="{AE92FAA3-940F-4852-A04F-3F7D3FF656C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DC3BE7-34FB-4A0C-8804-7888C6EE9A4A}" v="10" dt="2026-10-28T14:21:59.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6524" autoAdjust="0"/>
  </p:normalViewPr>
  <p:slideViewPr>
    <p:cSldViewPr snapToGrid="0">
      <p:cViewPr varScale="1">
        <p:scale>
          <a:sx n="42" d="100"/>
          <a:sy n="42" d="100"/>
        </p:scale>
        <p:origin x="16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la Blincow" userId="ac6229071bdafc06" providerId="LiveId" clId="{9CE18A4C-68C3-4E97-A0CD-BEA78CB9776D}"/>
    <pc:docChg chg="addSld delSld modSld sldOrd modSection">
      <pc:chgData name="Kayla Blincow" userId="ac6229071bdafc06" providerId="LiveId" clId="{9CE18A4C-68C3-4E97-A0CD-BEA78CB9776D}" dt="2026-10-28T14:23:05.969" v="1085" actId="20577"/>
      <pc:docMkLst>
        <pc:docMk/>
      </pc:docMkLst>
      <pc:sldChg chg="addSp modSp mod modNotesTx">
        <pc:chgData name="Kayla Blincow" userId="ac6229071bdafc06" providerId="LiveId" clId="{9CE18A4C-68C3-4E97-A0CD-BEA78CB9776D}" dt="2026-10-28T14:23:05.969" v="1085" actId="20577"/>
        <pc:sldMkLst>
          <pc:docMk/>
          <pc:sldMk cId="2678818095" sldId="256"/>
        </pc:sldMkLst>
        <pc:spChg chg="mod">
          <ac:chgData name="Kayla Blincow" userId="ac6229071bdafc06" providerId="LiveId" clId="{9CE18A4C-68C3-4E97-A0CD-BEA78CB9776D}" dt="2026-10-28T13:15:44.451" v="929" actId="14100"/>
          <ac:spMkLst>
            <pc:docMk/>
            <pc:sldMk cId="2678818095" sldId="256"/>
            <ac:spMk id="2" creationId="{90C8D978-FD48-DCA3-7823-51CCDA0D4E92}"/>
          </ac:spMkLst>
        </pc:spChg>
        <pc:picChg chg="add mod">
          <ac:chgData name="Kayla Blincow" userId="ac6229071bdafc06" providerId="LiveId" clId="{9CE18A4C-68C3-4E97-A0CD-BEA78CB9776D}" dt="2026-10-28T13:16:24.833" v="932" actId="1076"/>
          <ac:picMkLst>
            <pc:docMk/>
            <pc:sldMk cId="2678818095" sldId="256"/>
            <ac:picMk id="3" creationId="{9D539A70-F955-4444-1127-141A959DDBCF}"/>
          </ac:picMkLst>
        </pc:picChg>
      </pc:sldChg>
      <pc:sldChg chg="modNotesTx">
        <pc:chgData name="Kayla Blincow" userId="ac6229071bdafc06" providerId="LiveId" clId="{9CE18A4C-68C3-4E97-A0CD-BEA78CB9776D}" dt="2026-10-28T14:20:39.861" v="933" actId="20577"/>
        <pc:sldMkLst>
          <pc:docMk/>
          <pc:sldMk cId="157032003" sldId="257"/>
        </pc:sldMkLst>
      </pc:sldChg>
      <pc:sldChg chg="del">
        <pc:chgData name="Kayla Blincow" userId="ac6229071bdafc06" providerId="LiveId" clId="{9CE18A4C-68C3-4E97-A0CD-BEA78CB9776D}" dt="2026-10-27T20:33:25.323" v="764" actId="47"/>
        <pc:sldMkLst>
          <pc:docMk/>
          <pc:sldMk cId="2600757249" sldId="259"/>
        </pc:sldMkLst>
      </pc:sldChg>
      <pc:sldChg chg="modSp add mod ord">
        <pc:chgData name="Kayla Blincow" userId="ac6229071bdafc06" providerId="LiveId" clId="{9CE18A4C-68C3-4E97-A0CD-BEA78CB9776D}" dt="2026-10-27T20:40:59.934" v="928" actId="20577"/>
        <pc:sldMkLst>
          <pc:docMk/>
          <pc:sldMk cId="949666939" sldId="284"/>
        </pc:sldMkLst>
        <pc:spChg chg="mod">
          <ac:chgData name="Kayla Blincow" userId="ac6229071bdafc06" providerId="LiveId" clId="{9CE18A4C-68C3-4E97-A0CD-BEA78CB9776D}" dt="2026-10-27T20:40:59.934" v="928" actId="20577"/>
          <ac:spMkLst>
            <pc:docMk/>
            <pc:sldMk cId="949666939" sldId="284"/>
            <ac:spMk id="3" creationId="{5EC916F8-2617-0B7F-D699-7AE508E9AD38}"/>
          </ac:spMkLst>
        </pc:spChg>
      </pc:sldChg>
      <pc:sldChg chg="add">
        <pc:chgData name="Kayla Blincow" userId="ac6229071bdafc06" providerId="LiveId" clId="{9CE18A4C-68C3-4E97-A0CD-BEA78CB9776D}" dt="2026-10-27T20:32:23.307" v="762"/>
        <pc:sldMkLst>
          <pc:docMk/>
          <pc:sldMk cId="3207386173" sldId="318"/>
        </pc:sldMkLst>
      </pc:sldChg>
      <pc:sldChg chg="add">
        <pc:chgData name="Kayla Blincow" userId="ac6229071bdafc06" providerId="LiveId" clId="{9CE18A4C-68C3-4E97-A0CD-BEA78CB9776D}" dt="2026-10-27T20:32:38.482" v="763"/>
        <pc:sldMkLst>
          <pc:docMk/>
          <pc:sldMk cId="1938947169" sldId="319"/>
        </pc:sldMkLst>
      </pc:sldChg>
      <pc:sldChg chg="add">
        <pc:chgData name="Kayla Blincow" userId="ac6229071bdafc06" providerId="LiveId" clId="{9CE18A4C-68C3-4E97-A0CD-BEA78CB9776D}" dt="2026-10-27T20:32:38.482" v="763"/>
        <pc:sldMkLst>
          <pc:docMk/>
          <pc:sldMk cId="285636063" sldId="320"/>
        </pc:sldMkLst>
      </pc:sldChg>
      <pc:sldChg chg="add">
        <pc:chgData name="Kayla Blincow" userId="ac6229071bdafc06" providerId="LiveId" clId="{9CE18A4C-68C3-4E97-A0CD-BEA78CB9776D}" dt="2026-10-27T20:31:34.929" v="756"/>
        <pc:sldMkLst>
          <pc:docMk/>
          <pc:sldMk cId="2160442981" sldId="321"/>
        </pc:sldMkLst>
      </pc:sldChg>
      <pc:sldChg chg="add ord">
        <pc:chgData name="Kayla Blincow" userId="ac6229071bdafc06" providerId="LiveId" clId="{9CE18A4C-68C3-4E97-A0CD-BEA78CB9776D}" dt="2026-10-27T20:31:56.273" v="759"/>
        <pc:sldMkLst>
          <pc:docMk/>
          <pc:sldMk cId="2578597199" sldId="324"/>
        </pc:sldMkLst>
      </pc:sldChg>
      <pc:sldChg chg="add ord">
        <pc:chgData name="Kayla Blincow" userId="ac6229071bdafc06" providerId="LiveId" clId="{9CE18A4C-68C3-4E97-A0CD-BEA78CB9776D}" dt="2026-10-27T20:31:59.121" v="761"/>
        <pc:sldMkLst>
          <pc:docMk/>
          <pc:sldMk cId="4170928680" sldId="326"/>
        </pc:sldMkLst>
      </pc:sldChg>
      <pc:sldChg chg="modSp add mod ord">
        <pc:chgData name="Kayla Blincow" userId="ac6229071bdafc06" providerId="LiveId" clId="{9CE18A4C-68C3-4E97-A0CD-BEA78CB9776D}" dt="2026-10-27T20:33:55.616" v="771" actId="20577"/>
        <pc:sldMkLst>
          <pc:docMk/>
          <pc:sldMk cId="2948685846" sldId="327"/>
        </pc:sldMkLst>
        <pc:spChg chg="mod">
          <ac:chgData name="Kayla Blincow" userId="ac6229071bdafc06" providerId="LiveId" clId="{9CE18A4C-68C3-4E97-A0CD-BEA78CB9776D}" dt="2026-10-27T20:33:55.616" v="771" actId="20577"/>
          <ac:spMkLst>
            <pc:docMk/>
            <pc:sldMk cId="2948685846" sldId="327"/>
            <ac:spMk id="2" creationId="{D24B8A19-FA22-C682-4310-EEAA4459904E}"/>
          </ac:spMkLst>
        </pc:spChg>
      </pc:sldChg>
      <pc:sldChg chg="add del">
        <pc:chgData name="Kayla Blincow" userId="ac6229071bdafc06" providerId="LiveId" clId="{9CE18A4C-68C3-4E97-A0CD-BEA78CB9776D}" dt="2026-10-27T20:33:29.026" v="766"/>
        <pc:sldMkLst>
          <pc:docMk/>
          <pc:sldMk cId="3678275170" sldId="327"/>
        </pc:sldMkLst>
      </pc:sldChg>
      <pc:sldChg chg="add del">
        <pc:chgData name="Kayla Blincow" userId="ac6229071bdafc06" providerId="LiveId" clId="{9CE18A4C-68C3-4E97-A0CD-BEA78CB9776D}" dt="2026-10-27T20:33:29.026" v="766"/>
        <pc:sldMkLst>
          <pc:docMk/>
          <pc:sldMk cId="973742649" sldId="32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D0E126-B8FB-4F38-87FC-E63FB4BDDE51}"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0AB6E2-3D28-450E-9825-49CD3769091C}" type="slidenum">
              <a:rPr lang="en-US" smtClean="0"/>
              <a:t>‹#›</a:t>
            </a:fld>
            <a:endParaRPr lang="en-US"/>
          </a:p>
        </p:txBody>
      </p:sp>
    </p:spTree>
    <p:extLst>
      <p:ext uri="{BB962C8B-B14F-4D97-AF65-F5344CB8AC3E}">
        <p14:creationId xmlns:p14="http://schemas.microsoft.com/office/powerpoint/2010/main" val="3369194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32F4B8-4792-4BBE-9010-0D4D9882B9B9}" type="slidenum">
              <a:rPr lang="en-US" smtClean="0"/>
              <a:t>1</a:t>
            </a:fld>
            <a:endParaRPr lang="en-US"/>
          </a:p>
        </p:txBody>
      </p:sp>
    </p:spTree>
    <p:extLst>
      <p:ext uri="{BB962C8B-B14F-4D97-AF65-F5344CB8AC3E}">
        <p14:creationId xmlns:p14="http://schemas.microsoft.com/office/powerpoint/2010/main" val="3643247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activity, you need to solve a series of scientific puzzles using your data science skills in R. Start by navigating to the website provided and working your way through the clues, using the datasets and instructions available in each room. You'll need to open your own R/RStudio environment to explore the data, write and run code, analyze results, and determine the correct answers to progress. You </a:t>
            </a:r>
            <a:r>
              <a:rPr lang="en-US"/>
              <a:t>are encouraged to </a:t>
            </a:r>
            <a:r>
              <a:rPr lang="en-US" dirty="0"/>
              <a:t>work in groups. </a:t>
            </a:r>
          </a:p>
          <a:p>
            <a:r>
              <a:rPr lang="en-US" dirty="0"/>
              <a:t>Work together, discuss your approaches, and use evidence from your analyses to guide your decisions. Each solved puzzle will unlock the next stage of the activity. Your goal is to solve all the clues, complete the investigation, and discover where the data lead you!</a:t>
            </a:r>
          </a:p>
          <a:p>
            <a:r>
              <a:rPr lang="en-US" dirty="0"/>
              <a:t>Good luck, and remember: </a:t>
            </a:r>
            <a:r>
              <a:rPr lang="en-US" b="1" dirty="0"/>
              <a:t>think critically, trust the data, and show your work!</a:t>
            </a:r>
            <a:endParaRPr lang="en-US" dirty="0"/>
          </a:p>
          <a:p>
            <a:endParaRPr lang="en-US" dirty="0"/>
          </a:p>
        </p:txBody>
      </p:sp>
      <p:sp>
        <p:nvSpPr>
          <p:cNvPr id="4" name="Slide Number Placeholder 3"/>
          <p:cNvSpPr>
            <a:spLocks noGrp="1"/>
          </p:cNvSpPr>
          <p:nvPr>
            <p:ph type="sldNum" sz="quarter" idx="5"/>
          </p:nvPr>
        </p:nvSpPr>
        <p:spPr/>
        <p:txBody>
          <a:bodyPr/>
          <a:lstStyle/>
          <a:p>
            <a:fld id="{350AB6E2-3D28-450E-9825-49CD3769091C}" type="slidenum">
              <a:rPr lang="en-US" smtClean="0"/>
              <a:t>9</a:t>
            </a:fld>
            <a:endParaRPr lang="en-US"/>
          </a:p>
        </p:txBody>
      </p:sp>
    </p:spTree>
    <p:extLst>
      <p:ext uri="{BB962C8B-B14F-4D97-AF65-F5344CB8AC3E}">
        <p14:creationId xmlns:p14="http://schemas.microsoft.com/office/powerpoint/2010/main" val="3985232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0AB6E2-3D28-450E-9825-49CD3769091C}" type="slidenum">
              <a:rPr lang="en-US" smtClean="0"/>
              <a:t>10</a:t>
            </a:fld>
            <a:endParaRPr lang="en-US"/>
          </a:p>
        </p:txBody>
      </p:sp>
    </p:spTree>
    <p:extLst>
      <p:ext uri="{BB962C8B-B14F-4D97-AF65-F5344CB8AC3E}">
        <p14:creationId xmlns:p14="http://schemas.microsoft.com/office/powerpoint/2010/main" val="117855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1411F-CE67-44F6-E637-97F4B3C1DE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940E0D-F23C-F5B4-F7A6-778F6A12C6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335370-06F5-E03D-B5C1-A1AA4EA296C1}"/>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5" name="Footer Placeholder 4">
            <a:extLst>
              <a:ext uri="{FF2B5EF4-FFF2-40B4-BE49-F238E27FC236}">
                <a16:creationId xmlns:a16="http://schemas.microsoft.com/office/drawing/2014/main" id="{CF081CBD-0239-2DB7-9F34-1DC5054672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FC23A8-D617-30EE-6079-30F19715B5A5}"/>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155264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F63B8-7E8B-3742-9F7D-A5C5F1451B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5FDE0E-B6E3-9BD5-A229-D715DE4521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052457-8AB0-1114-B7E1-58FE17DFDF7B}"/>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5" name="Footer Placeholder 4">
            <a:extLst>
              <a:ext uri="{FF2B5EF4-FFF2-40B4-BE49-F238E27FC236}">
                <a16:creationId xmlns:a16="http://schemas.microsoft.com/office/drawing/2014/main" id="{412F96AF-A51E-CA89-25ED-4084AA0E3E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22CD61-B32F-F242-F294-535FBBE300AA}"/>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3127599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EC626-341C-BDC9-60F0-D2525893FF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E964AB-B702-A9C5-6BEE-83D61D7F23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0CA793-E644-62E0-641F-6CD689FBD977}"/>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5" name="Footer Placeholder 4">
            <a:extLst>
              <a:ext uri="{FF2B5EF4-FFF2-40B4-BE49-F238E27FC236}">
                <a16:creationId xmlns:a16="http://schemas.microsoft.com/office/drawing/2014/main" id="{2FB2194B-EB4D-9CD5-2EAE-8D78248B0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44361-558B-68A4-9C38-CC427F4809C8}"/>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1134612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54D3C-BCCE-8886-156F-CAD671EE59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10C7EA-4804-5971-B849-9D020F0A3D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E1E8BA-BF48-8128-22CD-1B2FA88A8D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26F61E-0F94-EA44-C728-443ABEC15B1D}"/>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6" name="Footer Placeholder 5">
            <a:extLst>
              <a:ext uri="{FF2B5EF4-FFF2-40B4-BE49-F238E27FC236}">
                <a16:creationId xmlns:a16="http://schemas.microsoft.com/office/drawing/2014/main" id="{033D4752-C9E8-C081-B7BB-4D3A200690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FCFF6F-1674-4A12-ED8F-B9BA86895E02}"/>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2972133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629C3-FDB7-08DB-FFC6-ABAC0CE148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1D315C-5C41-E296-CF96-014F00264D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E20CA6-2139-5F48-6051-F2C1B52019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FBF5-3F08-9C3E-7405-34BA7CF36E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4EA13C-BE7E-3736-2F92-FC2A73DC6B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E38C1-FA3D-0998-38BA-7AD16FEAE8BB}"/>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8" name="Footer Placeholder 7">
            <a:extLst>
              <a:ext uri="{FF2B5EF4-FFF2-40B4-BE49-F238E27FC236}">
                <a16:creationId xmlns:a16="http://schemas.microsoft.com/office/drawing/2014/main" id="{E75852A3-F3B7-1EE7-FF1C-9EC477745E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567EB1-65FF-B974-E231-8DECD47D1826}"/>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900617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B416-8FE6-9D31-4845-C90AACAA8B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ABFB11-4119-D915-B991-F29027EEB87B}"/>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4" name="Footer Placeholder 3">
            <a:extLst>
              <a:ext uri="{FF2B5EF4-FFF2-40B4-BE49-F238E27FC236}">
                <a16:creationId xmlns:a16="http://schemas.microsoft.com/office/drawing/2014/main" id="{9BE85F78-B7A5-6152-4603-3A89C4A789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1F9BC9-0C3A-6526-B32F-CE8349718DA1}"/>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4062462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EE46E5-48BD-3733-7E05-167034CC6B11}"/>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3" name="Footer Placeholder 2">
            <a:extLst>
              <a:ext uri="{FF2B5EF4-FFF2-40B4-BE49-F238E27FC236}">
                <a16:creationId xmlns:a16="http://schemas.microsoft.com/office/drawing/2014/main" id="{6D14B46E-7665-DCFE-59FE-E2B209632D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489093-6EC7-ED06-0F50-7B3DF537DE14}"/>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2154214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2592B-91ED-0C43-F056-BC651C5EE2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AA4338-56F7-AE8F-1F30-FAF24516C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1D7A7A-6A9F-2486-C407-A95F58296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EDD7F-DEA8-C883-DA9C-D77969802690}"/>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6" name="Footer Placeholder 5">
            <a:extLst>
              <a:ext uri="{FF2B5EF4-FFF2-40B4-BE49-F238E27FC236}">
                <a16:creationId xmlns:a16="http://schemas.microsoft.com/office/drawing/2014/main" id="{9DC38029-EF18-1289-92FA-A28A833A07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419F03-8ABA-EB9E-D1F0-52E669C4A557}"/>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1537177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871EA-6E43-9010-6C1F-2A19767397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FDEB36-CFA5-FCAD-632B-F2F338C6653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C5A038-0F5E-E2EB-D9F3-134C3C2CC1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9CD445-6DC2-A361-23BE-46296AE7CB5E}"/>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6" name="Footer Placeholder 5">
            <a:extLst>
              <a:ext uri="{FF2B5EF4-FFF2-40B4-BE49-F238E27FC236}">
                <a16:creationId xmlns:a16="http://schemas.microsoft.com/office/drawing/2014/main" id="{40E9F350-E787-F950-FBBD-1A6C32D75B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F4A037-748A-73F4-660A-8008C2812AB3}"/>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3800842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00DB4-6F70-154B-BCA9-B5C846FFDF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5FF0E9-E70D-F309-863A-A3D22C74F4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E8B4E5-12DE-4597-BE4B-0B3BA7841655}"/>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5" name="Footer Placeholder 4">
            <a:extLst>
              <a:ext uri="{FF2B5EF4-FFF2-40B4-BE49-F238E27FC236}">
                <a16:creationId xmlns:a16="http://schemas.microsoft.com/office/drawing/2014/main" id="{22F81121-AEAF-AAED-1FE6-BDAC62B9F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15A391-7F77-FC17-368A-E6986417485D}"/>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3545118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4781ED-254E-319B-D139-E76A7DF749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0FAF40-B51A-C588-8905-216D07DEE3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7EDC6D-E629-DFC8-2820-48137E6FCCCF}"/>
              </a:ext>
            </a:extLst>
          </p:cNvPr>
          <p:cNvSpPr>
            <a:spLocks noGrp="1"/>
          </p:cNvSpPr>
          <p:nvPr>
            <p:ph type="dt" sz="half" idx="10"/>
          </p:nvPr>
        </p:nvSpPr>
        <p:spPr/>
        <p:txBody>
          <a:bodyPr/>
          <a:lstStyle/>
          <a:p>
            <a:fld id="{DA87AFB8-85A0-4FD7-9BD2-70E05EEE3F03}" type="datetimeFigureOut">
              <a:rPr lang="en-US" smtClean="0"/>
              <a:t>10/28/2026</a:t>
            </a:fld>
            <a:endParaRPr lang="en-US"/>
          </a:p>
        </p:txBody>
      </p:sp>
      <p:sp>
        <p:nvSpPr>
          <p:cNvPr id="5" name="Footer Placeholder 4">
            <a:extLst>
              <a:ext uri="{FF2B5EF4-FFF2-40B4-BE49-F238E27FC236}">
                <a16:creationId xmlns:a16="http://schemas.microsoft.com/office/drawing/2014/main" id="{56002507-D061-C5FD-15B7-9251CF983D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BF415-E260-31FC-8A79-9DEDF6BA7CC7}"/>
              </a:ext>
            </a:extLst>
          </p:cNvPr>
          <p:cNvSpPr>
            <a:spLocks noGrp="1"/>
          </p:cNvSpPr>
          <p:nvPr>
            <p:ph type="sldNum" sz="quarter" idx="12"/>
          </p:nvPr>
        </p:nvSpPr>
        <p:spPr/>
        <p:txBody>
          <a:bodyPr/>
          <a:lstStyle/>
          <a:p>
            <a:fld id="{44C7801B-2072-4C3E-B38E-956A1325F176}" type="slidenum">
              <a:rPr lang="en-US" smtClean="0"/>
              <a:t>‹#›</a:t>
            </a:fld>
            <a:endParaRPr lang="en-US"/>
          </a:p>
        </p:txBody>
      </p:sp>
    </p:spTree>
    <p:extLst>
      <p:ext uri="{BB962C8B-B14F-4D97-AF65-F5344CB8AC3E}">
        <p14:creationId xmlns:p14="http://schemas.microsoft.com/office/powerpoint/2010/main" val="228528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78E2FE-E60F-F8EF-5497-1CED2EA7B1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196994-1966-6FF1-D292-2F8545C887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D234B-1430-FC91-82CF-367B76FDF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87AFB8-85A0-4FD7-9BD2-70E05EEE3F03}" type="datetimeFigureOut">
              <a:rPr lang="en-US" smtClean="0"/>
              <a:t>10/28/2026</a:t>
            </a:fld>
            <a:endParaRPr lang="en-US"/>
          </a:p>
        </p:txBody>
      </p:sp>
      <p:sp>
        <p:nvSpPr>
          <p:cNvPr id="5" name="Footer Placeholder 4">
            <a:extLst>
              <a:ext uri="{FF2B5EF4-FFF2-40B4-BE49-F238E27FC236}">
                <a16:creationId xmlns:a16="http://schemas.microsoft.com/office/drawing/2014/main" id="{9F691FBD-FCE3-AFD2-1303-912D09CD42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34E3782-2C1E-E601-AB8A-AF9292F97E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C7801B-2072-4C3E-B38E-956A1325F176}" type="slidenum">
              <a:rPr lang="en-US" smtClean="0"/>
              <a:t>‹#›</a:t>
            </a:fld>
            <a:endParaRPr lang="en-US"/>
          </a:p>
        </p:txBody>
      </p:sp>
    </p:spTree>
    <p:extLst>
      <p:ext uri="{BB962C8B-B14F-4D97-AF65-F5344CB8AC3E}">
        <p14:creationId xmlns:p14="http://schemas.microsoft.com/office/powerpoint/2010/main" val="196318949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2.jpeg"/><Relationship Id="rId5" Type="http://schemas.microsoft.com/office/2007/relationships/hdphoto" Target="../media/hdphoto1.wdp"/><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kmblincow-the-blackwater-manor-incident.share.connect.posit.clou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8A19-FA22-C682-4310-EEAA4459904E}"/>
              </a:ext>
            </a:extLst>
          </p:cNvPr>
          <p:cNvSpPr>
            <a:spLocks noGrp="1"/>
          </p:cNvSpPr>
          <p:nvPr>
            <p:ph type="ctrTitle"/>
          </p:nvPr>
        </p:nvSpPr>
        <p:spPr>
          <a:xfrm>
            <a:off x="4812630" y="1600200"/>
            <a:ext cx="5855368" cy="1801311"/>
          </a:xfrm>
        </p:spPr>
        <p:txBody>
          <a:bodyPr/>
          <a:lstStyle/>
          <a:p>
            <a:r>
              <a:rPr lang="en-US" dirty="0"/>
              <a:t>MES 503 Lab 11</a:t>
            </a:r>
          </a:p>
        </p:txBody>
      </p:sp>
      <p:sp>
        <p:nvSpPr>
          <p:cNvPr id="3" name="Subtitle 2">
            <a:extLst>
              <a:ext uri="{FF2B5EF4-FFF2-40B4-BE49-F238E27FC236}">
                <a16:creationId xmlns:a16="http://schemas.microsoft.com/office/drawing/2014/main" id="{F07B767E-3D5A-B7E7-2441-4EBD66E2A63F}"/>
              </a:ext>
            </a:extLst>
          </p:cNvPr>
          <p:cNvSpPr>
            <a:spLocks noGrp="1"/>
          </p:cNvSpPr>
          <p:nvPr>
            <p:ph type="subTitle" idx="1"/>
          </p:nvPr>
        </p:nvSpPr>
        <p:spPr>
          <a:xfrm>
            <a:off x="4812630" y="3602038"/>
            <a:ext cx="5855369" cy="1655762"/>
          </a:xfrm>
        </p:spPr>
        <p:txBody>
          <a:bodyPr/>
          <a:lstStyle/>
          <a:p>
            <a:r>
              <a:rPr lang="en-US" dirty="0"/>
              <a:t>Kayla Blincow, PhD</a:t>
            </a:r>
          </a:p>
        </p:txBody>
      </p:sp>
      <p:pic>
        <p:nvPicPr>
          <p:cNvPr id="4" name="Picture 2" descr="R Memes for Statistical Fiends on Twitter: &quot;More R memes created directly  in R with @thosjleeper package &quot;memes&quot; https://t.co/R6MNt7sSzV #rstats… &quot;">
            <a:extLst>
              <a:ext uri="{FF2B5EF4-FFF2-40B4-BE49-F238E27FC236}">
                <a16:creationId xmlns:a16="http://schemas.microsoft.com/office/drawing/2014/main" id="{4E2F905E-C631-73E1-AB39-F358E6C87B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0443" y="1250651"/>
            <a:ext cx="3449053" cy="4356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68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E9A48-B850-58D5-1576-8EEEB414F3D4}"/>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5EC916F8-2617-0B7F-D699-7AE508E9AD38}"/>
              </a:ext>
            </a:extLst>
          </p:cNvPr>
          <p:cNvSpPr>
            <a:spLocks noGrp="1"/>
          </p:cNvSpPr>
          <p:nvPr>
            <p:ph idx="1"/>
          </p:nvPr>
        </p:nvSpPr>
        <p:spPr>
          <a:xfrm>
            <a:off x="838200" y="1825625"/>
            <a:ext cx="4343400" cy="4351338"/>
          </a:xfrm>
        </p:spPr>
        <p:txBody>
          <a:bodyPr/>
          <a:lstStyle/>
          <a:p>
            <a:r>
              <a:rPr lang="en-US" dirty="0"/>
              <a:t>No class on Monday!</a:t>
            </a:r>
          </a:p>
          <a:p>
            <a:r>
              <a:rPr lang="en-US" dirty="0"/>
              <a:t>Quiz next Wednesday!</a:t>
            </a:r>
          </a:p>
          <a:p>
            <a:r>
              <a:rPr lang="en-US" dirty="0"/>
              <a:t>Lab 4 due tomorrow!</a:t>
            </a:r>
          </a:p>
          <a:p>
            <a:r>
              <a:rPr lang="en-US" dirty="0"/>
              <a:t>Next week bring your own dataset to work with</a:t>
            </a:r>
          </a:p>
          <a:p>
            <a:endParaRPr lang="en-US" dirty="0"/>
          </a:p>
          <a:p>
            <a:r>
              <a:rPr lang="en-US" dirty="0"/>
              <a:t>Happy </a:t>
            </a:r>
            <a:r>
              <a:rPr lang="en-US" dirty="0" err="1"/>
              <a:t>Halloweeeeennn</a:t>
            </a:r>
            <a:r>
              <a:rPr lang="en-US" dirty="0"/>
              <a:t>!</a:t>
            </a:r>
          </a:p>
          <a:p>
            <a:endParaRPr lang="en-US" dirty="0"/>
          </a:p>
        </p:txBody>
      </p:sp>
      <p:pic>
        <p:nvPicPr>
          <p:cNvPr id="5" name="Picture 4">
            <a:extLst>
              <a:ext uri="{FF2B5EF4-FFF2-40B4-BE49-F238E27FC236}">
                <a16:creationId xmlns:a16="http://schemas.microsoft.com/office/drawing/2014/main" id="{6665DA08-0A89-1243-C600-2D30A830B216}"/>
              </a:ext>
            </a:extLst>
          </p:cNvPr>
          <p:cNvPicPr>
            <a:picLocks noChangeAspect="1"/>
          </p:cNvPicPr>
          <p:nvPr/>
        </p:nvPicPr>
        <p:blipFill>
          <a:blip r:embed="rId2"/>
          <a:stretch>
            <a:fillRect/>
          </a:stretch>
        </p:blipFill>
        <p:spPr>
          <a:xfrm>
            <a:off x="5428632" y="253837"/>
            <a:ext cx="6407479" cy="6350326"/>
          </a:xfrm>
          <a:prstGeom prst="rect">
            <a:avLst/>
          </a:prstGeom>
        </p:spPr>
      </p:pic>
    </p:spTree>
    <p:extLst>
      <p:ext uri="{BB962C8B-B14F-4D97-AF65-F5344CB8AC3E}">
        <p14:creationId xmlns:p14="http://schemas.microsoft.com/office/powerpoint/2010/main" val="949666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EA0337E-FB53-7813-C75A-028B4BEE19CC}"/>
              </a:ext>
            </a:extLst>
          </p:cNvPr>
          <p:cNvSpPr>
            <a:spLocks noGrp="1"/>
          </p:cNvSpPr>
          <p:nvPr>
            <p:ph type="title"/>
          </p:nvPr>
        </p:nvSpPr>
        <p:spPr>
          <a:xfrm>
            <a:off x="590550" y="1897062"/>
            <a:ext cx="6762750" cy="3063875"/>
          </a:xfrm>
        </p:spPr>
        <p:txBody>
          <a:bodyPr>
            <a:normAutofit fontScale="90000"/>
          </a:bodyPr>
          <a:lstStyle/>
          <a:p>
            <a:pPr algn="ctr"/>
            <a:r>
              <a:rPr lang="en-US" dirty="0"/>
              <a:t>What type of test would you use with a </a:t>
            </a:r>
            <a:br>
              <a:rPr lang="en-US" dirty="0"/>
            </a:br>
            <a:r>
              <a:rPr lang="en-US" b="1" dirty="0">
                <a:solidFill>
                  <a:schemeClr val="accent3">
                    <a:lumMod val="60000"/>
                    <a:lumOff val="40000"/>
                  </a:schemeClr>
                </a:solidFill>
              </a:rPr>
              <a:t>categorical explanatory variable </a:t>
            </a:r>
            <a:r>
              <a:rPr lang="en-US" dirty="0"/>
              <a:t>and a </a:t>
            </a:r>
            <a:br>
              <a:rPr lang="en-US" dirty="0"/>
            </a:br>
            <a:r>
              <a:rPr lang="en-US" b="1" dirty="0">
                <a:solidFill>
                  <a:schemeClr val="accent4">
                    <a:lumMod val="40000"/>
                    <a:lumOff val="60000"/>
                  </a:schemeClr>
                </a:solidFill>
              </a:rPr>
              <a:t>categorical response variable</a:t>
            </a:r>
            <a:r>
              <a:rPr lang="en-US" dirty="0"/>
              <a:t>?</a:t>
            </a:r>
          </a:p>
        </p:txBody>
      </p:sp>
      <p:pic>
        <p:nvPicPr>
          <p:cNvPr id="2050" name="Picture 2" descr="Whaaat Meme GIFs | Tenor">
            <a:extLst>
              <a:ext uri="{FF2B5EF4-FFF2-40B4-BE49-F238E27FC236}">
                <a16:creationId xmlns:a16="http://schemas.microsoft.com/office/drawing/2014/main" id="{F3B678A3-D5CE-FD78-B001-A206F5DBA9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1425" y="1423986"/>
            <a:ext cx="4010025"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386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B4E2C-F5FD-4734-FF01-CB2ECAF9E59C}"/>
              </a:ext>
            </a:extLst>
          </p:cNvPr>
          <p:cNvSpPr>
            <a:spLocks noGrp="1"/>
          </p:cNvSpPr>
          <p:nvPr>
            <p:ph type="title"/>
          </p:nvPr>
        </p:nvSpPr>
        <p:spPr/>
        <p:txBody>
          <a:bodyPr/>
          <a:lstStyle/>
          <a:p>
            <a:pPr algn="ctr"/>
            <a:r>
              <a:rPr lang="en-US" b="1" dirty="0"/>
              <a:t>Enter Analysis of Frequencies!</a:t>
            </a:r>
          </a:p>
        </p:txBody>
      </p:sp>
      <p:pic>
        <p:nvPicPr>
          <p:cNvPr id="3076" name="Picture 4" descr="Grand Entrance Kuzco GIF - Grand Entrance Kuzco The Emperors New Groove -  Discover &amp; Share GIFs">
            <a:extLst>
              <a:ext uri="{FF2B5EF4-FFF2-40B4-BE49-F238E27FC236}">
                <a16:creationId xmlns:a16="http://schemas.microsoft.com/office/drawing/2014/main" id="{69DB34B3-2FC5-BD64-37D3-DD392D856B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0774" y="2381250"/>
            <a:ext cx="6270451" cy="3676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947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B17D6-6F66-19BD-2429-C3FC9E39EE75}"/>
              </a:ext>
            </a:extLst>
          </p:cNvPr>
          <p:cNvSpPr>
            <a:spLocks noGrp="1"/>
          </p:cNvSpPr>
          <p:nvPr>
            <p:ph type="title"/>
          </p:nvPr>
        </p:nvSpPr>
        <p:spPr/>
        <p:txBody>
          <a:bodyPr/>
          <a:lstStyle/>
          <a:p>
            <a:r>
              <a:rPr lang="en-US" dirty="0"/>
              <a:t>What is a frequency?</a:t>
            </a:r>
          </a:p>
        </p:txBody>
      </p:sp>
      <p:sp>
        <p:nvSpPr>
          <p:cNvPr id="3" name="Content Placeholder 2">
            <a:extLst>
              <a:ext uri="{FF2B5EF4-FFF2-40B4-BE49-F238E27FC236}">
                <a16:creationId xmlns:a16="http://schemas.microsoft.com/office/drawing/2014/main" id="{A5D8D2CC-3ABA-592D-343B-8D940243FE31}"/>
              </a:ext>
            </a:extLst>
          </p:cNvPr>
          <p:cNvSpPr>
            <a:spLocks noGrp="1"/>
          </p:cNvSpPr>
          <p:nvPr>
            <p:ph idx="1"/>
          </p:nvPr>
        </p:nvSpPr>
        <p:spPr/>
        <p:txBody>
          <a:bodyPr/>
          <a:lstStyle/>
          <a:p>
            <a:r>
              <a:rPr lang="en-US" dirty="0"/>
              <a:t>counts of observations that fall into categories</a:t>
            </a:r>
          </a:p>
        </p:txBody>
      </p:sp>
      <p:pic>
        <p:nvPicPr>
          <p:cNvPr id="4" name="Picture 4" descr="Oh, you like to use big words? you must be so smart - Condescending Wonka -  quickmeme">
            <a:extLst>
              <a:ext uri="{FF2B5EF4-FFF2-40B4-BE49-F238E27FC236}">
                <a16:creationId xmlns:a16="http://schemas.microsoft.com/office/drawing/2014/main" id="{CC85493E-78DE-63E2-792D-33EEC3FBEE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0688" y="955436"/>
            <a:ext cx="1605442" cy="16054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New Sesame Street Count Memes | Ah Ah Ah Memes">
            <a:extLst>
              <a:ext uri="{FF2B5EF4-FFF2-40B4-BE49-F238E27FC236}">
                <a16:creationId xmlns:a16="http://schemas.microsoft.com/office/drawing/2014/main" id="{8843FDD0-5EE1-C67F-F585-2C0DD8F329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1" y="3429000"/>
            <a:ext cx="3836352" cy="2557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636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9A232-4A52-E324-DEB8-6DDECD16CDFC}"/>
              </a:ext>
            </a:extLst>
          </p:cNvPr>
          <p:cNvSpPr>
            <a:spLocks noGrp="1"/>
          </p:cNvSpPr>
          <p:nvPr>
            <p:ph type="title"/>
          </p:nvPr>
        </p:nvSpPr>
        <p:spPr/>
        <p:txBody>
          <a:bodyPr/>
          <a:lstStyle/>
          <a:p>
            <a:r>
              <a:rPr lang="en-US" dirty="0"/>
              <a:t>Types of Questions</a:t>
            </a:r>
          </a:p>
        </p:txBody>
      </p:sp>
      <p:sp>
        <p:nvSpPr>
          <p:cNvPr id="3" name="Content Placeholder 2">
            <a:extLst>
              <a:ext uri="{FF2B5EF4-FFF2-40B4-BE49-F238E27FC236}">
                <a16:creationId xmlns:a16="http://schemas.microsoft.com/office/drawing/2014/main" id="{8F934F3B-8A74-4801-C343-D82DB6228A84}"/>
              </a:ext>
            </a:extLst>
          </p:cNvPr>
          <p:cNvSpPr>
            <a:spLocks noGrp="1"/>
          </p:cNvSpPr>
          <p:nvPr>
            <p:ph idx="1"/>
          </p:nvPr>
        </p:nvSpPr>
        <p:spPr/>
        <p:txBody>
          <a:bodyPr/>
          <a:lstStyle/>
          <a:p>
            <a:r>
              <a:rPr lang="en-US" dirty="0"/>
              <a:t>Does my distribution of frequencies across each category match the expected distribution across categories?</a:t>
            </a:r>
          </a:p>
          <a:p>
            <a:r>
              <a:rPr lang="en-US" dirty="0"/>
              <a:t>Does the distribution of frequencies across one categorical variable affect the distribution of frequencies across another categorial variable?</a:t>
            </a:r>
          </a:p>
          <a:p>
            <a:r>
              <a:rPr lang="en-US" dirty="0"/>
              <a:t>What is the likelihood that two distributions of frequencies come from the same population?</a:t>
            </a:r>
          </a:p>
        </p:txBody>
      </p:sp>
    </p:spTree>
    <p:extLst>
      <p:ext uri="{BB962C8B-B14F-4D97-AF65-F5344CB8AC3E}">
        <p14:creationId xmlns:p14="http://schemas.microsoft.com/office/powerpoint/2010/main" val="2160442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B30AD-366C-048F-D8D6-334435C5C861}"/>
              </a:ext>
            </a:extLst>
          </p:cNvPr>
          <p:cNvSpPr>
            <a:spLocks noGrp="1"/>
          </p:cNvSpPr>
          <p:nvPr>
            <p:ph type="title"/>
          </p:nvPr>
        </p:nvSpPr>
        <p:spPr/>
        <p:txBody>
          <a:bodyPr/>
          <a:lstStyle/>
          <a:p>
            <a:r>
              <a:rPr lang="en-US" dirty="0"/>
              <a:t>Research Scenario!</a:t>
            </a:r>
          </a:p>
        </p:txBody>
      </p:sp>
      <p:sp>
        <p:nvSpPr>
          <p:cNvPr id="3" name="Content Placeholder 2">
            <a:extLst>
              <a:ext uri="{FF2B5EF4-FFF2-40B4-BE49-F238E27FC236}">
                <a16:creationId xmlns:a16="http://schemas.microsoft.com/office/drawing/2014/main" id="{FB16D2AC-E871-E6D6-6740-103FD877998D}"/>
              </a:ext>
            </a:extLst>
          </p:cNvPr>
          <p:cNvSpPr>
            <a:spLocks noGrp="1"/>
          </p:cNvSpPr>
          <p:nvPr>
            <p:ph idx="1"/>
          </p:nvPr>
        </p:nvSpPr>
        <p:spPr>
          <a:xfrm>
            <a:off x="838200" y="1690688"/>
            <a:ext cx="10515600" cy="4486275"/>
          </a:xfrm>
        </p:spPr>
        <p:txBody>
          <a:bodyPr/>
          <a:lstStyle/>
          <a:p>
            <a:r>
              <a:rPr lang="en-US" dirty="0"/>
              <a:t>We are doing some big ship science!</a:t>
            </a:r>
          </a:p>
          <a:p>
            <a:r>
              <a:rPr lang="en-US" dirty="0"/>
              <a:t>Sample copepods during an El Nino year</a:t>
            </a:r>
          </a:p>
          <a:p>
            <a:r>
              <a:rPr lang="en-US" dirty="0"/>
              <a:t>Count the number of each group</a:t>
            </a:r>
          </a:p>
          <a:p>
            <a:pPr marL="0" indent="0">
              <a:buNone/>
            </a:pPr>
            <a:endParaRPr lang="en-US" dirty="0"/>
          </a:p>
          <a:p>
            <a:endParaRPr lang="en-US" dirty="0"/>
          </a:p>
        </p:txBody>
      </p:sp>
      <p:pic>
        <p:nvPicPr>
          <p:cNvPr id="6146" name="Picture 2" descr="Photograph of a researcher retrieving a plankton net from the ocean.">
            <a:extLst>
              <a:ext uri="{FF2B5EF4-FFF2-40B4-BE49-F238E27FC236}">
                <a16:creationId xmlns:a16="http://schemas.microsoft.com/office/drawing/2014/main" id="{BA357081-18B1-C743-D192-AF96B0055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012" y="3429000"/>
            <a:ext cx="4567988" cy="304532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uxiliary General Oceanographic Research Vessel built by Dakota Creek">
            <a:extLst>
              <a:ext uri="{FF2B5EF4-FFF2-40B4-BE49-F238E27FC236}">
                <a16:creationId xmlns:a16="http://schemas.microsoft.com/office/drawing/2014/main" id="{ED5B0BE9-28DC-A659-1035-84445DBBA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3475" y="2804159"/>
            <a:ext cx="4893554" cy="367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928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64160-E275-C014-69CA-19A258CC70B0}"/>
              </a:ext>
            </a:extLst>
          </p:cNvPr>
          <p:cNvSpPr>
            <a:spLocks noGrp="1"/>
          </p:cNvSpPr>
          <p:nvPr>
            <p:ph type="title"/>
          </p:nvPr>
        </p:nvSpPr>
        <p:spPr/>
        <p:txBody>
          <a:bodyPr/>
          <a:lstStyle/>
          <a:p>
            <a:pPr algn="ctr"/>
            <a:r>
              <a:rPr lang="en-US" dirty="0"/>
              <a:t>Meet the Copepods!</a:t>
            </a:r>
          </a:p>
        </p:txBody>
      </p:sp>
      <p:sp>
        <p:nvSpPr>
          <p:cNvPr id="4" name="Rectangle: Rounded Corners 3">
            <a:extLst>
              <a:ext uri="{FF2B5EF4-FFF2-40B4-BE49-F238E27FC236}">
                <a16:creationId xmlns:a16="http://schemas.microsoft.com/office/drawing/2014/main" id="{CEBE1AFE-2CC1-8CC3-C7AB-014FCC3418F5}"/>
              </a:ext>
            </a:extLst>
          </p:cNvPr>
          <p:cNvSpPr/>
          <p:nvPr/>
        </p:nvSpPr>
        <p:spPr>
          <a:xfrm>
            <a:off x="552450" y="1690688"/>
            <a:ext cx="268605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Calanoid</a:t>
            </a:r>
          </a:p>
        </p:txBody>
      </p:sp>
      <p:sp>
        <p:nvSpPr>
          <p:cNvPr id="5" name="Rectangle: Rounded Corners 4">
            <a:extLst>
              <a:ext uri="{FF2B5EF4-FFF2-40B4-BE49-F238E27FC236}">
                <a16:creationId xmlns:a16="http://schemas.microsoft.com/office/drawing/2014/main" id="{CD789EFC-D495-EDF1-F8BE-D6FA2B30D4B0}"/>
              </a:ext>
            </a:extLst>
          </p:cNvPr>
          <p:cNvSpPr/>
          <p:nvPr/>
        </p:nvSpPr>
        <p:spPr>
          <a:xfrm>
            <a:off x="3390900" y="1690688"/>
            <a:ext cx="2686050" cy="533400"/>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Harpacticoid</a:t>
            </a:r>
          </a:p>
        </p:txBody>
      </p:sp>
      <p:sp>
        <p:nvSpPr>
          <p:cNvPr id="6" name="Rectangle: Rounded Corners 5">
            <a:extLst>
              <a:ext uri="{FF2B5EF4-FFF2-40B4-BE49-F238E27FC236}">
                <a16:creationId xmlns:a16="http://schemas.microsoft.com/office/drawing/2014/main" id="{13563D59-37B3-9A0D-3FA5-F735270A97F4}"/>
              </a:ext>
            </a:extLst>
          </p:cNvPr>
          <p:cNvSpPr/>
          <p:nvPr/>
        </p:nvSpPr>
        <p:spPr>
          <a:xfrm>
            <a:off x="6229350" y="1690688"/>
            <a:ext cx="2686050" cy="533400"/>
          </a:xfrm>
          <a:prstGeom prst="round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Cyclopoid</a:t>
            </a:r>
          </a:p>
        </p:txBody>
      </p:sp>
      <p:sp>
        <p:nvSpPr>
          <p:cNvPr id="7" name="Rectangle: Rounded Corners 6">
            <a:extLst>
              <a:ext uri="{FF2B5EF4-FFF2-40B4-BE49-F238E27FC236}">
                <a16:creationId xmlns:a16="http://schemas.microsoft.com/office/drawing/2014/main" id="{BC952CC2-91AD-8C6F-E787-ADF8BEF6B501}"/>
              </a:ext>
            </a:extLst>
          </p:cNvPr>
          <p:cNvSpPr/>
          <p:nvPr/>
        </p:nvSpPr>
        <p:spPr>
          <a:xfrm>
            <a:off x="9067800" y="1690688"/>
            <a:ext cx="2686050" cy="533400"/>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Poecilostomatoid</a:t>
            </a:r>
          </a:p>
        </p:txBody>
      </p:sp>
      <p:pic>
        <p:nvPicPr>
          <p:cNvPr id="5122" name="Picture 2" descr="Calanoida - Wikipedia">
            <a:extLst>
              <a:ext uri="{FF2B5EF4-FFF2-40B4-BE49-F238E27FC236}">
                <a16:creationId xmlns:a16="http://schemas.microsoft.com/office/drawing/2014/main" id="{277048F1-F572-806F-BFFF-28A6419BCC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58" r="12083"/>
          <a:stretch/>
        </p:blipFill>
        <p:spPr bwMode="auto">
          <a:xfrm>
            <a:off x="276225" y="2359453"/>
            <a:ext cx="3238500" cy="307614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arpacticoid Copepod">
            <a:extLst>
              <a:ext uri="{FF2B5EF4-FFF2-40B4-BE49-F238E27FC236}">
                <a16:creationId xmlns:a16="http://schemas.microsoft.com/office/drawing/2014/main" id="{748F2D24-99B2-780A-591B-701C527E92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7541249">
            <a:off x="3172194" y="3014612"/>
            <a:ext cx="3253523" cy="2324913"/>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OITHONA SIMILIS (COPEPODA: CYCLOPOIDA) - A COSMOPOLITAN SPECIES?">
            <a:extLst>
              <a:ext uri="{FF2B5EF4-FFF2-40B4-BE49-F238E27FC236}">
                <a16:creationId xmlns:a16="http://schemas.microsoft.com/office/drawing/2014/main" id="{242C968E-B88F-8DE0-00FD-25A2C2C9DA8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5155" b="96907" l="9653" r="89575">
                        <a14:foregroundMark x1="67181" y1="32990" x2="85328" y2="49485"/>
                        <a14:foregroundMark x1="85328" y1="49485" x2="88803" y2="55155"/>
                        <a14:foregroundMark x1="61776" y1="29381" x2="47104" y2="11340"/>
                        <a14:foregroundMark x1="47104" y1="11340" x2="38224" y2="5670"/>
                        <a14:foregroundMark x1="25097" y1="82474" x2="13900" y2="81959"/>
                        <a14:foregroundMark x1="33977" y1="85567" x2="34363" y2="96907"/>
                        <a14:backgroundMark x1="60618" y1="56701" x2="66409" y2="87113"/>
                        <a14:backgroundMark x1="66409" y1="87113" x2="66409" y2="87629"/>
                        <a14:backgroundMark x1="52896" y1="63402" x2="40154" y2="81959"/>
                        <a14:backgroundMark x1="40154" y1="81959" x2="67181" y2="96392"/>
                        <a14:backgroundMark x1="67181" y1="96392" x2="73359" y2="96392"/>
                      </a14:backgroundRemoval>
                    </a14:imgEffect>
                  </a14:imgLayer>
                </a14:imgProps>
              </a:ext>
              <a:ext uri="{28A0092B-C50C-407E-A947-70E740481C1C}">
                <a14:useLocalDpi xmlns:a14="http://schemas.microsoft.com/office/drawing/2010/main" val="0"/>
              </a:ext>
            </a:extLst>
          </a:blip>
          <a:srcRect/>
          <a:stretch>
            <a:fillRect/>
          </a:stretch>
        </p:blipFill>
        <p:spPr bwMode="auto">
          <a:xfrm rot="19260509">
            <a:off x="5869572" y="2450278"/>
            <a:ext cx="3405606" cy="2550918"/>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CalPhotos: Order Poecilostomatoida">
            <a:extLst>
              <a:ext uri="{FF2B5EF4-FFF2-40B4-BE49-F238E27FC236}">
                <a16:creationId xmlns:a16="http://schemas.microsoft.com/office/drawing/2014/main" id="{BC0638FF-23DF-9579-6598-9FEF7C2EA1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9700115">
            <a:off x="9849796" y="2655754"/>
            <a:ext cx="1747391" cy="218108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A74089E-13DB-49FB-29C4-D9056CF17BE3}"/>
              </a:ext>
            </a:extLst>
          </p:cNvPr>
          <p:cNvSpPr txBox="1"/>
          <p:nvPr/>
        </p:nvSpPr>
        <p:spPr>
          <a:xfrm>
            <a:off x="2715347" y="6172018"/>
            <a:ext cx="7554830" cy="646331"/>
          </a:xfrm>
          <a:prstGeom prst="rect">
            <a:avLst/>
          </a:prstGeom>
          <a:noFill/>
        </p:spPr>
        <p:txBody>
          <a:bodyPr wrap="square" rtlCol="0">
            <a:spAutoFit/>
          </a:bodyPr>
          <a:lstStyle/>
          <a:p>
            <a:pPr algn="ctr"/>
            <a:r>
              <a:rPr lang="en-US" dirty="0"/>
              <a:t>*note: apparently </a:t>
            </a:r>
            <a:r>
              <a:rPr lang="en-US" dirty="0" err="1"/>
              <a:t>poecilotomes</a:t>
            </a:r>
            <a:r>
              <a:rPr lang="en-US" dirty="0"/>
              <a:t> are now a suborder of cyclopoids, but we are ignoring that for the purposes of this lecture</a:t>
            </a:r>
          </a:p>
        </p:txBody>
      </p:sp>
    </p:spTree>
    <p:extLst>
      <p:ext uri="{BB962C8B-B14F-4D97-AF65-F5344CB8AC3E}">
        <p14:creationId xmlns:p14="http://schemas.microsoft.com/office/powerpoint/2010/main" val="2578597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D978-FD48-DCA3-7823-51CCDA0D4E92}"/>
              </a:ext>
            </a:extLst>
          </p:cNvPr>
          <p:cNvSpPr>
            <a:spLocks noGrp="1"/>
          </p:cNvSpPr>
          <p:nvPr>
            <p:ph type="ctrTitle"/>
          </p:nvPr>
        </p:nvSpPr>
        <p:spPr>
          <a:xfrm>
            <a:off x="1524000" y="3830320"/>
            <a:ext cx="9144000" cy="1986280"/>
          </a:xfrm>
        </p:spPr>
        <p:txBody>
          <a:bodyPr/>
          <a:lstStyle/>
          <a:p>
            <a:r>
              <a:rPr lang="en-US" dirty="0"/>
              <a:t>Blackwater Manor </a:t>
            </a:r>
            <a:br>
              <a:rPr lang="en-US" dirty="0"/>
            </a:br>
            <a:r>
              <a:rPr lang="en-US" dirty="0"/>
              <a:t>Coding Escape Room</a:t>
            </a:r>
          </a:p>
        </p:txBody>
      </p:sp>
      <p:pic>
        <p:nvPicPr>
          <p:cNvPr id="3" name="Picture 2" descr="Spooky Scary Halloween Gifs">
            <a:extLst>
              <a:ext uri="{FF2B5EF4-FFF2-40B4-BE49-F238E27FC236}">
                <a16:creationId xmlns:a16="http://schemas.microsoft.com/office/drawing/2014/main" id="{9D539A70-F955-4444-1127-141A959DDBCF}"/>
              </a:ext>
            </a:extLst>
          </p:cNvPr>
          <p:cNvPicPr>
            <a:picLocks noChangeAspect="1"/>
          </p:cNvPicPr>
          <p:nvPr/>
        </p:nvPicPr>
        <p:blipFill>
          <a:blip r:embed="rId3"/>
          <a:stretch>
            <a:fillRect/>
          </a:stretch>
        </p:blipFill>
        <p:spPr>
          <a:xfrm>
            <a:off x="4323080" y="571500"/>
            <a:ext cx="3810000" cy="2857500"/>
          </a:xfrm>
          <a:prstGeom prst="rect">
            <a:avLst/>
          </a:prstGeom>
        </p:spPr>
      </p:pic>
    </p:spTree>
    <p:extLst>
      <p:ext uri="{BB962C8B-B14F-4D97-AF65-F5344CB8AC3E}">
        <p14:creationId xmlns:p14="http://schemas.microsoft.com/office/powerpoint/2010/main" val="2678818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Haunting of Crimson Manor (Horror Romance) - LifeShouts.com">
            <a:extLst>
              <a:ext uri="{FF2B5EF4-FFF2-40B4-BE49-F238E27FC236}">
                <a16:creationId xmlns:a16="http://schemas.microsoft.com/office/drawing/2014/main" id="{60621E70-F632-66D5-EFA9-0A8CE0F7E53A}"/>
              </a:ext>
            </a:extLst>
          </p:cNvPr>
          <p:cNvPicPr>
            <a:picLocks noChangeAspect="1"/>
          </p:cNvPicPr>
          <p:nvPr/>
        </p:nvPicPr>
        <p:blipFill>
          <a:blip r:embed="rId3"/>
          <a:stretch>
            <a:fillRect/>
          </a:stretch>
        </p:blipFill>
        <p:spPr>
          <a:xfrm>
            <a:off x="892628" y="459609"/>
            <a:ext cx="10406743" cy="5938782"/>
          </a:xfrm>
          <a:prstGeom prst="rect">
            <a:avLst/>
          </a:prstGeom>
        </p:spPr>
      </p:pic>
      <p:sp>
        <p:nvSpPr>
          <p:cNvPr id="5" name="Content Placeholder 2">
            <a:extLst>
              <a:ext uri="{FF2B5EF4-FFF2-40B4-BE49-F238E27FC236}">
                <a16:creationId xmlns:a16="http://schemas.microsoft.com/office/drawing/2014/main" id="{CFFF9CA3-3824-81D0-5D75-5B50DC9CB6A0}"/>
              </a:ext>
            </a:extLst>
          </p:cNvPr>
          <p:cNvSpPr txBox="1">
            <a:spLocks/>
          </p:cNvSpPr>
          <p:nvPr/>
        </p:nvSpPr>
        <p:spPr>
          <a:xfrm>
            <a:off x="-745672" y="6539139"/>
            <a:ext cx="13683342" cy="318861"/>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hlinkClick r:id="rId4">
                  <a:extLst>
                    <a:ext uri="{A12FA001-AC4F-418D-AE19-62706E023703}">
                      <ahyp:hlinkClr xmlns:ahyp="http://schemas.microsoft.com/office/drawing/2018/hyperlinkcolor" val="tx"/>
                    </a:ext>
                  </a:extLst>
                </a:hlinkClick>
              </a:rPr>
              <a:t>https://kmblincow-the-blackwater-manor-incident.share.connect.posit.cloud/</a:t>
            </a:r>
            <a:r>
              <a:rPr lang="en-US" dirty="0"/>
              <a:t> </a:t>
            </a:r>
          </a:p>
        </p:txBody>
      </p:sp>
    </p:spTree>
    <p:extLst>
      <p:ext uri="{BB962C8B-B14F-4D97-AF65-F5344CB8AC3E}">
        <p14:creationId xmlns:p14="http://schemas.microsoft.com/office/powerpoint/2010/main" val="157032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4400D-801D-55F5-D2BB-237C15C3BE05}"/>
              </a:ext>
            </a:extLst>
          </p:cNvPr>
          <p:cNvSpPr>
            <a:spLocks noGrp="1"/>
          </p:cNvSpPr>
          <p:nvPr>
            <p:ph type="title"/>
          </p:nvPr>
        </p:nvSpPr>
        <p:spPr/>
        <p:txBody>
          <a:bodyPr/>
          <a:lstStyle/>
          <a:p>
            <a:endParaRPr lang="en-US" dirty="0"/>
          </a:p>
        </p:txBody>
      </p:sp>
      <p:sp>
        <p:nvSpPr>
          <p:cNvPr id="5" name="Content Placeholder 4">
            <a:extLst>
              <a:ext uri="{FF2B5EF4-FFF2-40B4-BE49-F238E27FC236}">
                <a16:creationId xmlns:a16="http://schemas.microsoft.com/office/drawing/2014/main" id="{D0170FCA-CA42-4394-418A-F0C78792291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6430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405</TotalTime>
  <Words>354</Words>
  <Application>Microsoft Office PowerPoint</Application>
  <PresentationFormat>Widescreen</PresentationFormat>
  <Paragraphs>35</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MES 503 Lab 11</vt:lpstr>
      <vt:lpstr>Announcements</vt:lpstr>
      <vt:lpstr>What type of test would you use with a  categorical explanatory variable and a  categorical response variable?</vt:lpstr>
      <vt:lpstr>Enter Analysis of Frequencies!</vt:lpstr>
      <vt:lpstr>What is a frequency?</vt:lpstr>
      <vt:lpstr>Types of Questions</vt:lpstr>
      <vt:lpstr>Research Scenario!</vt:lpstr>
      <vt:lpstr>Meet the Copepods!</vt:lpstr>
      <vt:lpstr>Blackwater Manor  Coding Escape Room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Kayla Blincow</dc:creator>
  <cp:lastModifiedBy>Kayla Blincow</cp:lastModifiedBy>
  <cp:revision>2</cp:revision>
  <dcterms:created xsi:type="dcterms:W3CDTF">2026-10-27T14:25:56Z</dcterms:created>
  <dcterms:modified xsi:type="dcterms:W3CDTF">2026-10-28T14:23:07Z</dcterms:modified>
</cp:coreProperties>
</file>